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13"/>
  </p:notesMasterIdLst>
  <p:sldIdLst>
    <p:sldId id="384" r:id="rId2"/>
    <p:sldId id="260" r:id="rId3"/>
    <p:sldId id="385" r:id="rId4"/>
    <p:sldId id="261" r:id="rId5"/>
    <p:sldId id="355" r:id="rId6"/>
    <p:sldId id="356" r:id="rId7"/>
    <p:sldId id="357" r:id="rId8"/>
    <p:sldId id="358" r:id="rId9"/>
    <p:sldId id="386" r:id="rId10"/>
    <p:sldId id="387" r:id="rId11"/>
    <p:sldId id="38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0" autoAdjust="0"/>
    <p:restoredTop sz="92069" autoAdjust="0"/>
  </p:normalViewPr>
  <p:slideViewPr>
    <p:cSldViewPr snapToGrid="0" showGuides="1">
      <p:cViewPr varScale="1">
        <p:scale>
          <a:sx n="104" d="100"/>
          <a:sy n="104" d="100"/>
        </p:scale>
        <p:origin x="150" y="126"/>
      </p:cViewPr>
      <p:guideLst>
        <p:guide orient="horz" pos="2183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9AABB-9640-4CBC-ADB5-714819212BCC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B06740-76A8-48EA-9359-2EF0B825C5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2087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068472A-9099-4046-B8C5-12F49B742225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37F4ABB-7CF0-435B-A5AB-8F417EECC7E2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512077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8472A-9099-4046-B8C5-12F49B742225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F4ABB-7CF0-435B-A5AB-8F417EECC7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70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68472A-9099-4046-B8C5-12F49B742225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7F4ABB-7CF0-435B-A5AB-8F417EECC7E2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40632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8472A-9099-4046-B8C5-12F49B742225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F4ABB-7CF0-435B-A5AB-8F417EECC7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217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8472A-9099-4046-B8C5-12F49B742225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F4ABB-7CF0-435B-A5AB-8F417EECC7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299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8472A-9099-4046-B8C5-12F49B742225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F4ABB-7CF0-435B-A5AB-8F417EECC7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5696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8472A-9099-4046-B8C5-12F49B742225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F4ABB-7CF0-435B-A5AB-8F417EECC7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533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68472A-9099-4046-B8C5-12F49B742225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7F4ABB-7CF0-435B-A5AB-8F417EECC7E2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12916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68472A-9099-4046-B8C5-12F49B742225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7F4ABB-7CF0-435B-A5AB-8F417EECC7E2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58275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8472A-9099-4046-B8C5-12F49B742225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F4ABB-7CF0-435B-A5AB-8F417EECC7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9840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8472A-9099-4046-B8C5-12F49B742225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F4ABB-7CF0-435B-A5AB-8F417EECC7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465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C068472A-9099-4046-B8C5-12F49B742225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837F4ABB-7CF0-435B-A5AB-8F417EECC7E2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33189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vkvideo.ru/video-186565710_456242227" TargetMode="Externa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02692" y="2124365"/>
            <a:ext cx="9279344" cy="2177952"/>
          </a:xfrm>
        </p:spPr>
        <p:txBody>
          <a:bodyPr/>
          <a:lstStyle/>
          <a:p>
            <a:pPr algn="just"/>
            <a:r>
              <a:rPr lang="ru-RU" sz="5400" dirty="0" smtClean="0"/>
              <a:t>Основные </a:t>
            </a:r>
            <a:r>
              <a:rPr lang="ru-RU" sz="5400" dirty="0"/>
              <a:t>понятия экономической теории </a:t>
            </a:r>
          </a:p>
        </p:txBody>
      </p:sp>
    </p:spTree>
    <p:extLst>
      <p:ext uri="{BB962C8B-B14F-4D97-AF65-F5344CB8AC3E}">
        <p14:creationId xmlns:p14="http://schemas.microsoft.com/office/powerpoint/2010/main" val="3162028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A49DC9-B69D-462F-8DEC-A04B85E38018}"/>
              </a:ext>
            </a:extLst>
          </p:cNvPr>
          <p:cNvSpPr txBox="1"/>
          <p:nvPr/>
        </p:nvSpPr>
        <p:spPr>
          <a:xfrm>
            <a:off x="861645" y="457200"/>
            <a:ext cx="1100588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b="1" dirty="0">
                <a:solidFill>
                  <a:srgbClr val="333333"/>
                </a:solidFill>
                <a:latin typeface="Circe"/>
              </a:rPr>
              <a:t>Потребность — </a:t>
            </a:r>
            <a:r>
              <a:rPr lang="ru-RU" sz="2000" dirty="0">
                <a:solidFill>
                  <a:srgbClr val="333333"/>
                </a:solidFill>
                <a:latin typeface="Circe"/>
              </a:rPr>
              <a:t>это необходимость в чём-либо для поддержания и развития жизнедеятельности человека и общества в целом.  </a:t>
            </a:r>
            <a:r>
              <a:rPr lang="ru-RU" sz="2800" b="0" i="0" dirty="0">
                <a:solidFill>
                  <a:srgbClr val="333333"/>
                </a:solidFill>
                <a:effectLst/>
                <a:latin typeface="Circe"/>
              </a:rPr>
              <a:t> </a:t>
            </a:r>
          </a:p>
          <a:p>
            <a:pPr algn="l"/>
            <a:endParaRPr lang="ru-RU" sz="2000" b="0" i="0" dirty="0">
              <a:solidFill>
                <a:srgbClr val="333333"/>
              </a:solidFill>
              <a:effectLst/>
              <a:latin typeface="Circe"/>
            </a:endParaRPr>
          </a:p>
          <a:p>
            <a:pPr algn="l"/>
            <a:r>
              <a:rPr lang="ru-RU" sz="2000" b="0" i="0" dirty="0">
                <a:solidFill>
                  <a:srgbClr val="333333"/>
                </a:solidFill>
                <a:effectLst/>
                <a:latin typeface="Circe"/>
              </a:rPr>
              <a:t>Потребности могут возникать и изменяться как под влиянием внутренних побудительных мотивов, так и под внешним воздействием. Удовлетворение потребностей в свою очередь становится мотивом для осуществления экономической деятельности.</a:t>
            </a:r>
          </a:p>
          <a:p>
            <a:pPr algn="l"/>
            <a:endParaRPr lang="ru-RU" sz="2000" b="0" i="0" dirty="0">
              <a:solidFill>
                <a:srgbClr val="333333"/>
              </a:solidFill>
              <a:effectLst/>
              <a:latin typeface="Circe"/>
            </a:endParaRPr>
          </a:p>
          <a:p>
            <a:pPr algn="l"/>
            <a:r>
              <a:rPr lang="ru-RU" sz="2000" b="0" i="0" dirty="0">
                <a:solidFill>
                  <a:srgbClr val="333333"/>
                </a:solidFill>
                <a:effectLst/>
                <a:latin typeface="Circe"/>
              </a:rPr>
              <a:t>Средства, с помощью которых удовлетворяются потребности, называются </a:t>
            </a:r>
            <a:r>
              <a:rPr lang="ru-RU" sz="2000" b="1" i="0" dirty="0">
                <a:solidFill>
                  <a:srgbClr val="333333"/>
                </a:solidFill>
                <a:effectLst/>
                <a:latin typeface="Circe"/>
              </a:rPr>
              <a:t>благами.</a:t>
            </a:r>
            <a:r>
              <a:rPr lang="ru-RU" sz="2800" b="1" i="0" dirty="0">
                <a:solidFill>
                  <a:srgbClr val="333333"/>
                </a:solidFill>
                <a:effectLst/>
                <a:latin typeface="Circe"/>
              </a:rPr>
              <a:t> </a:t>
            </a:r>
            <a:endParaRPr lang="ru-RU" sz="2800" b="0" i="0" dirty="0">
              <a:solidFill>
                <a:srgbClr val="333333"/>
              </a:solidFill>
              <a:effectLst/>
              <a:latin typeface="Circe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861645" y="3565236"/>
            <a:ext cx="11480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Экономические потребности – потребности в конкретных товарах и услугах. </a:t>
            </a:r>
          </a:p>
          <a:p>
            <a:r>
              <a:rPr lang="ru-RU" dirty="0"/>
              <a:t>В частности, потребности, представленные в пирамиде </a:t>
            </a:r>
            <a:r>
              <a:rPr lang="ru-RU" dirty="0" err="1"/>
              <a:t>Маслоу</a:t>
            </a:r>
            <a:r>
              <a:rPr lang="ru-RU" dirty="0"/>
              <a:t>, могут быть конкретизированы в </a:t>
            </a:r>
            <a:r>
              <a:rPr lang="ru-RU" dirty="0" smtClean="0"/>
              <a:t>экономические </a:t>
            </a:r>
            <a:r>
              <a:rPr lang="ru-RU" dirty="0"/>
              <a:t>потребности, т. е. можно назвать такие товары и услуги, которые необходимы человеку, чтобы </a:t>
            </a:r>
            <a:r>
              <a:rPr lang="ru-RU" dirty="0" smtClean="0"/>
              <a:t> удовлетворять </a:t>
            </a:r>
            <a:r>
              <a:rPr lang="ru-RU" dirty="0"/>
              <a:t>его потребности.  </a:t>
            </a:r>
          </a:p>
          <a:p>
            <a:r>
              <a:rPr lang="ru-RU" dirty="0"/>
              <a:t>Например, физиологические потребности </a:t>
            </a:r>
            <a:r>
              <a:rPr lang="ru-RU" dirty="0" smtClean="0"/>
              <a:t>- </a:t>
            </a:r>
            <a:r>
              <a:rPr lang="ru-RU" dirty="0"/>
              <a:t>хлеб, потребность в безопасности </a:t>
            </a:r>
            <a:r>
              <a:rPr lang="ru-RU" dirty="0" smtClean="0"/>
              <a:t>-замок</a:t>
            </a:r>
            <a:r>
              <a:rPr lang="ru-RU" dirty="0"/>
              <a:t>, социальные </a:t>
            </a:r>
            <a:r>
              <a:rPr lang="ru-RU" dirty="0" smtClean="0"/>
              <a:t>потребности - </a:t>
            </a:r>
            <a:r>
              <a:rPr lang="ru-RU" dirty="0"/>
              <a:t>телефон, потребность в уважении </a:t>
            </a:r>
            <a:r>
              <a:rPr lang="ru-RU" dirty="0" smtClean="0"/>
              <a:t>-коллекция </a:t>
            </a:r>
            <a:r>
              <a:rPr lang="ru-RU" dirty="0"/>
              <a:t>картин, потребность в самореализации </a:t>
            </a:r>
            <a:r>
              <a:rPr lang="ru-RU" dirty="0" smtClean="0"/>
              <a:t>-</a:t>
            </a:r>
            <a:endParaRPr lang="ru-RU" dirty="0"/>
          </a:p>
          <a:p>
            <a:r>
              <a:rPr lang="ru-RU" dirty="0"/>
              <a:t>холст и краски. </a:t>
            </a:r>
          </a:p>
        </p:txBody>
      </p:sp>
    </p:spTree>
    <p:extLst>
      <p:ext uri="{BB962C8B-B14F-4D97-AF65-F5344CB8AC3E}">
        <p14:creationId xmlns:p14="http://schemas.microsoft.com/office/powerpoint/2010/main" val="1907570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642" y="0"/>
            <a:ext cx="10287084" cy="2607279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738909" y="3491345"/>
            <a:ext cx="114530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Конечные экономические потребности </a:t>
            </a:r>
            <a:r>
              <a:rPr lang="ru-RU" dirty="0"/>
              <a:t>– это потребности в товарах и услугах для </a:t>
            </a:r>
            <a:r>
              <a:rPr lang="ru-RU" dirty="0" smtClean="0"/>
              <a:t>удовлетворения </a:t>
            </a:r>
            <a:r>
              <a:rPr lang="ru-RU" dirty="0"/>
              <a:t>личных и общественных нужд людей. </a:t>
            </a:r>
          </a:p>
          <a:p>
            <a:r>
              <a:rPr lang="ru-RU" b="1" dirty="0"/>
              <a:t>Производственные экономические потребности </a:t>
            </a:r>
            <a:r>
              <a:rPr lang="ru-RU" dirty="0"/>
              <a:t>– это потребности в товарах и услугах для </a:t>
            </a:r>
            <a:r>
              <a:rPr lang="ru-RU" dirty="0" smtClean="0"/>
              <a:t>удовлетворения </a:t>
            </a:r>
            <a:r>
              <a:rPr lang="ru-RU" dirty="0"/>
              <a:t>производственных нужд. </a:t>
            </a:r>
          </a:p>
        </p:txBody>
      </p:sp>
    </p:spTree>
    <p:extLst>
      <p:ext uri="{BB962C8B-B14F-4D97-AF65-F5344CB8AC3E}">
        <p14:creationId xmlns:p14="http://schemas.microsoft.com/office/powerpoint/2010/main" val="1268745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597BCA-5DDD-40A0-BB95-75122EB8C52B}"/>
              </a:ext>
            </a:extLst>
          </p:cNvPr>
          <p:cNvSpPr txBox="1"/>
          <p:nvPr/>
        </p:nvSpPr>
        <p:spPr>
          <a:xfrm>
            <a:off x="735106" y="170329"/>
            <a:ext cx="1125070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 i="0" dirty="0">
                <a:solidFill>
                  <a:srgbClr val="333333"/>
                </a:solidFill>
                <a:effectLst/>
                <a:latin typeface="Circe"/>
              </a:rPr>
              <a:t>Экономические блага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Circe"/>
              </a:rPr>
              <a:t> — это средства, необходимые для удовлетворения потребностей людей и имеющиеся в распоряжении общества в ограниченном количестве. Обычно мы покупаем их, то есть для приобретения экономических благ нам приходится отказываться от других благ. Для их создания также необходимы определённые затраты. </a:t>
            </a:r>
            <a:r>
              <a:rPr lang="ru-RU" sz="2400" b="1" i="0" dirty="0">
                <a:solidFill>
                  <a:srgbClr val="333333"/>
                </a:solidFill>
                <a:effectLst/>
                <a:latin typeface="Circe"/>
              </a:rPr>
              <a:t>Экономическими благами, например, являются всевозможные товары, которые мы можем приобрести в магазинах.</a:t>
            </a:r>
          </a:p>
          <a:p>
            <a:pPr algn="l"/>
            <a:endParaRPr lang="ru-RU" sz="2400" b="0" i="0" dirty="0">
              <a:solidFill>
                <a:srgbClr val="333333"/>
              </a:solidFill>
              <a:effectLst/>
              <a:latin typeface="Circe"/>
            </a:endParaRPr>
          </a:p>
          <a:p>
            <a:pPr algn="l"/>
            <a:r>
              <a:rPr lang="ru-RU" sz="2400" b="1" i="0" dirty="0">
                <a:solidFill>
                  <a:srgbClr val="333333"/>
                </a:solidFill>
                <a:effectLst/>
                <a:latin typeface="Circe"/>
              </a:rPr>
              <a:t>Свободные блага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Circe"/>
              </a:rPr>
              <a:t> — блага, которые находятся в открытом доступе, их потребление неограниченно, не требует от нас отказа от иных благ взамен. </a:t>
            </a:r>
            <a:r>
              <a:rPr lang="ru-RU" sz="2400" b="1" i="0" dirty="0">
                <a:solidFill>
                  <a:srgbClr val="333333"/>
                </a:solidFill>
                <a:effectLst/>
                <a:latin typeface="Circe"/>
              </a:rPr>
              <a:t>Например, это солнечный свет, которым мы можем наслаждаться на прогулке в солнечную погоду.</a:t>
            </a:r>
          </a:p>
          <a:p>
            <a:pPr algn="l"/>
            <a:endParaRPr lang="ru-RU" sz="2400" b="0" i="0" dirty="0">
              <a:solidFill>
                <a:srgbClr val="333333"/>
              </a:solidFill>
              <a:effectLst/>
              <a:latin typeface="Circe"/>
            </a:endParaRPr>
          </a:p>
          <a:p>
            <a:pPr algn="l"/>
            <a:r>
              <a:rPr lang="ru-RU" sz="2400" b="1" i="0" dirty="0">
                <a:solidFill>
                  <a:srgbClr val="333333"/>
                </a:solidFill>
                <a:effectLst/>
                <a:latin typeface="Circe"/>
              </a:rPr>
              <a:t>Общественные блага 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Circe"/>
              </a:rPr>
              <a:t>сочетают определённые признаки двух предыдущих видов благ. Это блага, доступ к которым осуществляется свободно, но государство тратит финансовые средства для их создания и поддержания. Создание общественных благ является одной из экономических функций государства. </a:t>
            </a:r>
            <a:r>
              <a:rPr lang="ru-RU" sz="2400" b="1" i="0" dirty="0">
                <a:solidFill>
                  <a:srgbClr val="333333"/>
                </a:solidFill>
                <a:effectLst/>
                <a:latin typeface="Circe"/>
              </a:rPr>
              <a:t>К ним можно отнести, например, уличное освещение.</a:t>
            </a:r>
          </a:p>
        </p:txBody>
      </p:sp>
    </p:spTree>
    <p:extLst>
      <p:ext uri="{BB962C8B-B14F-4D97-AF65-F5344CB8AC3E}">
        <p14:creationId xmlns:p14="http://schemas.microsoft.com/office/powerpoint/2010/main" val="2825131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577788" y="0"/>
            <a:ext cx="9601200" cy="479612"/>
          </a:xfrm>
        </p:spPr>
        <p:txBody>
          <a:bodyPr>
            <a:normAutofit fontScale="90000"/>
          </a:bodyPr>
          <a:lstStyle/>
          <a:p>
            <a:pPr algn="ctr" defTabSz="457200"/>
            <a:r>
              <a:rPr lang="ru-RU" sz="3200" b="1" dirty="0">
                <a:solidFill>
                  <a:srgbClr val="333333"/>
                </a:solidFill>
                <a:latin typeface="Circe"/>
                <a:ea typeface="+mn-ea"/>
                <a:cs typeface="+mn-cs"/>
              </a:rPr>
              <a:t>Что такое альтернативные издержки?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021977" y="1927412"/>
            <a:ext cx="1099969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333333"/>
                </a:solidFill>
                <a:latin typeface="Circe"/>
              </a:rPr>
              <a:t>- это ценность упущенной наилучшей альтернативы, когда при ограниченных ресурсах необходимо сделать выбор между несколькими взаимоисключающими альтернативами. Предполагая, что сделан наилучший выбор, это "издержки", понесенные из-за отсутствия выгоды, которую можно было бы получить, выбрав второй наилучший из доступных вариантов.</a:t>
            </a:r>
          </a:p>
        </p:txBody>
      </p:sp>
    </p:spTree>
    <p:extLst>
      <p:ext uri="{BB962C8B-B14F-4D97-AF65-F5344CB8AC3E}">
        <p14:creationId xmlns:p14="http://schemas.microsoft.com/office/powerpoint/2010/main" val="23334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577788" y="0"/>
            <a:ext cx="9601200" cy="479612"/>
          </a:xfrm>
        </p:spPr>
        <p:txBody>
          <a:bodyPr>
            <a:normAutofit fontScale="90000"/>
          </a:bodyPr>
          <a:lstStyle/>
          <a:p>
            <a:pPr algn="ctr" defTabSz="457200"/>
            <a:r>
              <a:rPr lang="ru-RU" sz="3200" b="1" dirty="0" smtClean="0">
                <a:solidFill>
                  <a:srgbClr val="333333"/>
                </a:solidFill>
                <a:latin typeface="Circe"/>
                <a:ea typeface="+mn-ea"/>
                <a:cs typeface="+mn-cs"/>
              </a:rPr>
              <a:t>Виды альтернативных издержек</a:t>
            </a:r>
            <a:endParaRPr lang="ru-RU" sz="3200" b="1" dirty="0">
              <a:solidFill>
                <a:srgbClr val="333333"/>
              </a:solidFill>
              <a:latin typeface="Circe"/>
              <a:ea typeface="+mn-ea"/>
              <a:cs typeface="+mn-cs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030942" y="1237130"/>
            <a:ext cx="1099969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333333"/>
                </a:solidFill>
                <a:latin typeface="Circe"/>
              </a:rPr>
              <a:t>Явные альтернативные издержки — </a:t>
            </a:r>
            <a:r>
              <a:rPr lang="ru-RU" sz="2800" dirty="0">
                <a:solidFill>
                  <a:srgbClr val="333333"/>
                </a:solidFill>
                <a:latin typeface="Circe"/>
              </a:rPr>
              <a:t>это расходы в денежном выражении, которые связаны с производственным процессом. К ним относятся, например, зарплата рабочих, покупка оборудования, аренда недвижимости, коммунальные расходы, страхование, закупка сырья и материалов.</a:t>
            </a:r>
          </a:p>
          <a:p>
            <a:endParaRPr lang="ru-RU" sz="2800" dirty="0">
              <a:solidFill>
                <a:srgbClr val="333333"/>
              </a:solidFill>
              <a:latin typeface="Circe"/>
            </a:endParaRPr>
          </a:p>
          <a:p>
            <a:r>
              <a:rPr lang="ru-RU" sz="2800" b="1" dirty="0">
                <a:solidFill>
                  <a:srgbClr val="333333"/>
                </a:solidFill>
                <a:latin typeface="Circe"/>
              </a:rPr>
              <a:t>Неявные альтернативные издержки </a:t>
            </a:r>
            <a:r>
              <a:rPr lang="ru-RU" sz="2800" dirty="0">
                <a:solidFill>
                  <a:srgbClr val="333333"/>
                </a:solidFill>
                <a:latin typeface="Circe"/>
              </a:rPr>
              <a:t>— это издержки компании в виде недополученной прибыли или не произведенных расходов. К ним относятся, например, прибыль, которую можно получить от вложения в ценные бумаги, или доход предпринимателя, если бы он работал в ином месте.</a:t>
            </a:r>
          </a:p>
        </p:txBody>
      </p:sp>
    </p:spTree>
    <p:extLst>
      <p:ext uri="{BB962C8B-B14F-4D97-AF65-F5344CB8AC3E}">
        <p14:creationId xmlns:p14="http://schemas.microsoft.com/office/powerpoint/2010/main" val="2507720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577788" y="0"/>
            <a:ext cx="9601200" cy="479612"/>
          </a:xfrm>
        </p:spPr>
        <p:txBody>
          <a:bodyPr>
            <a:normAutofit fontScale="90000"/>
          </a:bodyPr>
          <a:lstStyle/>
          <a:p>
            <a:pPr algn="ctr" defTabSz="457200"/>
            <a:r>
              <a:rPr lang="ru-RU" sz="3200" b="1" dirty="0">
                <a:solidFill>
                  <a:srgbClr val="333333"/>
                </a:solidFill>
                <a:latin typeface="Circe"/>
                <a:ea typeface="+mn-ea"/>
                <a:cs typeface="+mn-cs"/>
              </a:rPr>
              <a:t>Закон возрастания альтернативных издержек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030942" y="1237130"/>
            <a:ext cx="1099969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333333"/>
                </a:solidFill>
                <a:latin typeface="Circe"/>
              </a:rPr>
              <a:t>производство каждой дополнительной единицы товара, работы, услуги, любого общественного блага одновременно ведет к потере единиц другого общественного блага во все возрастающем количестве. </a:t>
            </a:r>
          </a:p>
          <a:p>
            <a:r>
              <a:rPr lang="ru-RU" sz="2800" dirty="0">
                <a:solidFill>
                  <a:srgbClr val="333333"/>
                </a:solidFill>
                <a:latin typeface="Circe"/>
              </a:rPr>
              <a:t>Другими словами, </a:t>
            </a:r>
            <a:r>
              <a:rPr lang="ru-RU" sz="2800" b="1" dirty="0">
                <a:solidFill>
                  <a:srgbClr val="333333"/>
                </a:solidFill>
                <a:latin typeface="Circe"/>
              </a:rPr>
              <a:t>если увеличивается производство одного блага, то производство другого блага теряет обороты.</a:t>
            </a:r>
            <a:r>
              <a:rPr lang="ru-RU" sz="2800" dirty="0">
                <a:solidFill>
                  <a:srgbClr val="333333"/>
                </a:solidFill>
                <a:latin typeface="Circe"/>
              </a:rPr>
              <a:t> Закон действует в модели, описываемой как экономика полной занятости.</a:t>
            </a:r>
          </a:p>
        </p:txBody>
      </p:sp>
    </p:spTree>
    <p:extLst>
      <p:ext uri="{BB962C8B-B14F-4D97-AF65-F5344CB8AC3E}">
        <p14:creationId xmlns:p14="http://schemas.microsoft.com/office/powerpoint/2010/main" val="3915615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6824" y="685800"/>
            <a:ext cx="11385176" cy="649941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YS Text"/>
              </a:rPr>
              <a:t> 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735107" y="297934"/>
            <a:ext cx="11136208" cy="489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9000"/>
              </a:lnSpc>
              <a:spcBef>
                <a:spcPct val="0"/>
              </a:spcBef>
            </a:pPr>
            <a:r>
              <a:rPr lang="ru-RU" sz="2900" b="1" dirty="0">
                <a:solidFill>
                  <a:srgbClr val="333333"/>
                </a:solidFill>
                <a:latin typeface="Circe"/>
              </a:rPr>
              <a:t>Кривая производственных возможностей (КПВ)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806824" y="1123442"/>
            <a:ext cx="1138517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333333"/>
                </a:solidFill>
                <a:latin typeface="Circe"/>
              </a:rPr>
              <a:t>– экономическая модель, показывающая возможные объёмы производства двух благ </a:t>
            </a:r>
            <a:r>
              <a:rPr lang="ru-RU" sz="2800" b="1" dirty="0">
                <a:solidFill>
                  <a:srgbClr val="333333"/>
                </a:solidFill>
                <a:latin typeface="Circe"/>
              </a:rPr>
              <a:t>при эффективном и полном использовании ресурсов</a:t>
            </a:r>
            <a:r>
              <a:rPr lang="ru-RU" sz="2800" dirty="0">
                <a:solidFill>
                  <a:srgbClr val="333333"/>
                </a:solidFill>
                <a:latin typeface="Circe"/>
              </a:rPr>
              <a:t>, т.е. какое максимальное количество товара Б может быть произведено при каждом возможном объёме производства товара А и наоборот.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t="20194" r="-373"/>
          <a:stretch/>
        </p:blipFill>
        <p:spPr>
          <a:xfrm>
            <a:off x="735107" y="3370210"/>
            <a:ext cx="4831976" cy="287767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5775314" y="3385559"/>
            <a:ext cx="641668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1. КПВ – убывающая функция. Это означает, что если мы хотим увеличить производство одного </a:t>
            </a:r>
          </a:p>
          <a:p>
            <a:r>
              <a:rPr lang="ru-RU" dirty="0"/>
              <a:t>блага, то вынуждены уменьшить выпуск другого блага, так как экономика работает в условиях </a:t>
            </a:r>
            <a:r>
              <a:rPr lang="ru-RU" dirty="0" smtClean="0"/>
              <a:t>ограниченности </a:t>
            </a:r>
            <a:r>
              <a:rPr lang="ru-RU" dirty="0"/>
              <a:t>и полного использования ресурсов. </a:t>
            </a:r>
          </a:p>
          <a:p>
            <a:r>
              <a:rPr lang="ru-RU" dirty="0"/>
              <a:t>2. КПВ имеет выпуклую форму. Это означает, что, увеличивая производство одного блага, </a:t>
            </a:r>
            <a:r>
              <a:rPr lang="ru-RU" dirty="0" smtClean="0"/>
              <a:t>приходится </a:t>
            </a:r>
            <a:r>
              <a:rPr lang="ru-RU" dirty="0"/>
              <a:t>отказываться от все большего количества другого блага. Действует так называемый закон </a:t>
            </a:r>
            <a:r>
              <a:rPr lang="ru-RU" dirty="0" smtClean="0"/>
              <a:t>возрастающих </a:t>
            </a:r>
            <a:r>
              <a:rPr lang="ru-RU" dirty="0"/>
              <a:t>альтернативных издержек</a:t>
            </a:r>
          </a:p>
        </p:txBody>
      </p:sp>
    </p:spTree>
    <p:extLst>
      <p:ext uri="{BB962C8B-B14F-4D97-AF65-F5344CB8AC3E}">
        <p14:creationId xmlns:p14="http://schemas.microsoft.com/office/powerpoint/2010/main" val="692669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2727" y="0"/>
            <a:ext cx="11499273" cy="766618"/>
          </a:xfrm>
        </p:spPr>
        <p:txBody>
          <a:bodyPr/>
          <a:lstStyle/>
          <a:p>
            <a:pPr algn="ctr"/>
            <a:r>
              <a:rPr lang="ru-RU" dirty="0" smtClean="0"/>
              <a:t>Сущность эффективности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92727" y="766618"/>
            <a:ext cx="114992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Экономическая эффективность </a:t>
            </a:r>
            <a:r>
              <a:rPr lang="ru-RU" dirty="0"/>
              <a:t>– это такое состояние дел, при котором любые изменения, </a:t>
            </a:r>
            <a:r>
              <a:rPr lang="ru-RU" dirty="0" smtClean="0"/>
              <a:t>осуществляемые </a:t>
            </a:r>
            <a:r>
              <a:rPr lang="ru-RU" dirty="0"/>
              <a:t>в целях улучшения положения одного экономического субъекта (домашнего хозяйства, фирмы и т. п.) </a:t>
            </a:r>
            <a:r>
              <a:rPr lang="ru-RU" dirty="0" smtClean="0"/>
              <a:t> неминуемо </a:t>
            </a:r>
            <a:r>
              <a:rPr lang="ru-RU" dirty="0"/>
              <a:t>ведут к ухудшению положения другого. Эффективность, определяемая таким способом, иногда </a:t>
            </a:r>
            <a:r>
              <a:rPr lang="ru-RU" dirty="0" smtClean="0"/>
              <a:t> называется </a:t>
            </a:r>
            <a:r>
              <a:rPr lang="ru-RU" dirty="0"/>
              <a:t>эффективностью по Парето, (от имени итальянского экономиста В. Парето).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92727" y="2382982"/>
            <a:ext cx="114992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Эффективность </a:t>
            </a:r>
            <a:r>
              <a:rPr lang="ru-RU" b="1" dirty="0"/>
              <a:t>в производстве </a:t>
            </a:r>
            <a:r>
              <a:rPr lang="ru-RU" dirty="0"/>
              <a:t>– это ситуация, когда при данном количестве производительных ресурсов и наличном уровне знаний невозможно произвести большее количество одного товара, не жертвуя при этом возможностью произвести некоторое </a:t>
            </a:r>
            <a:r>
              <a:rPr lang="ru-RU" dirty="0" smtClean="0"/>
              <a:t>количество </a:t>
            </a:r>
            <a:r>
              <a:rPr lang="ru-RU" dirty="0"/>
              <a:t>другого товара.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92727" y="3445348"/>
            <a:ext cx="114992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Эффективность в распределении </a:t>
            </a:r>
            <a:r>
              <a:rPr lang="ru-RU" dirty="0"/>
              <a:t>– ситуация, когда невозможно перераспределить имеющиеся блага так, чтобы повысить степень удовлетворения потребностей одного человека, не уменьшая степени удовлетворения потребностей других людей. </a:t>
            </a:r>
          </a:p>
        </p:txBody>
      </p:sp>
    </p:spTree>
    <p:extLst>
      <p:ext uri="{BB962C8B-B14F-4D97-AF65-F5344CB8AC3E}">
        <p14:creationId xmlns:p14="http://schemas.microsoft.com/office/powerpoint/2010/main" val="845132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290" y="0"/>
            <a:ext cx="11457709" cy="766618"/>
          </a:xfrm>
        </p:spPr>
        <p:txBody>
          <a:bodyPr>
            <a:normAutofit/>
          </a:bodyPr>
          <a:lstStyle/>
          <a:p>
            <a:pPr algn="ctr"/>
            <a:r>
              <a:rPr lang="ru-RU" dirty="0" smtClean="0"/>
              <a:t>Практикум</a:t>
            </a:r>
            <a:endParaRPr lang="ru-RU" dirty="0"/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0116815"/>
              </p:ext>
            </p:extLst>
          </p:nvPr>
        </p:nvGraphicFramePr>
        <p:xfrm>
          <a:off x="3168503" y="1355147"/>
          <a:ext cx="6086091" cy="1074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Объект упаковщика для оболочки" showAsIcon="1" r:id="rId3" imgW="2969280" imgH="523800" progId="Package">
                  <p:embed/>
                </p:oleObj>
              </mc:Choice>
              <mc:Fallback>
                <p:oleObj name="Объект упаковщика для оболочки" showAsIcon="1" r:id="rId3" imgW="2969280" imgH="5238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68503" y="1355147"/>
                        <a:ext cx="6086091" cy="10740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0458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Дополнительные материалы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17601" y="1802368"/>
            <a:ext cx="77051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hlinkClick r:id="rId3"/>
              </a:rPr>
              <a:t>Сложение </a:t>
            </a:r>
            <a:r>
              <a:rPr lang="ru-RU" dirty="0" err="1" smtClean="0">
                <a:hlinkClick r:id="rId3"/>
              </a:rPr>
              <a:t>КПВ.Векторный</a:t>
            </a:r>
            <a:r>
              <a:rPr lang="ru-RU" dirty="0" smtClean="0">
                <a:hlinkClick r:id="rId3"/>
              </a:rPr>
              <a:t> метод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750966"/>
              </p:ext>
            </p:extLst>
          </p:nvPr>
        </p:nvGraphicFramePr>
        <p:xfrm>
          <a:off x="928109" y="2278185"/>
          <a:ext cx="1237961" cy="1194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Объект упаковщика для оболочки" showAsIcon="1" r:id="rId4" imgW="543240" imgH="523800" progId="Package">
                  <p:embed/>
                </p:oleObj>
              </mc:Choice>
              <mc:Fallback>
                <p:oleObj name="Объект упаковщика для оболочки" showAsIcon="1" r:id="rId4" imgW="543240" imgH="5238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28109" y="2278185"/>
                        <a:ext cx="1237961" cy="11945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5286374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1873</TotalTime>
  <Words>537</Words>
  <Application>Microsoft Office PowerPoint</Application>
  <PresentationFormat>Широкоэкранный</PresentationFormat>
  <Paragraphs>39</Paragraphs>
  <Slides>11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Calibri</vt:lpstr>
      <vt:lpstr>Circe</vt:lpstr>
      <vt:lpstr>Franklin Gothic Book</vt:lpstr>
      <vt:lpstr>YS Text</vt:lpstr>
      <vt:lpstr>Crop</vt:lpstr>
      <vt:lpstr>Пакет</vt:lpstr>
      <vt:lpstr>Основные понятия экономической теории </vt:lpstr>
      <vt:lpstr>Презентация PowerPoint</vt:lpstr>
      <vt:lpstr>Презентация PowerPoint</vt:lpstr>
      <vt:lpstr>Презентация PowerPoint</vt:lpstr>
      <vt:lpstr>Что такое альтернативные издержки?</vt:lpstr>
      <vt:lpstr>Виды альтернативных издержек</vt:lpstr>
      <vt:lpstr>Закон возрастания альтернативных издержек</vt:lpstr>
      <vt:lpstr> </vt:lpstr>
      <vt:lpstr>Сущность эффективности</vt:lpstr>
      <vt:lpstr>Практикум</vt:lpstr>
      <vt:lpstr>Дополнительные материалы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Марина Леденцова</dc:creator>
  <cp:lastModifiedBy>Марина Леденцова</cp:lastModifiedBy>
  <cp:revision>112</cp:revision>
  <dcterms:created xsi:type="dcterms:W3CDTF">2020-11-30T17:10:28Z</dcterms:created>
  <dcterms:modified xsi:type="dcterms:W3CDTF">2025-09-09T19:18:47Z</dcterms:modified>
</cp:coreProperties>
</file>