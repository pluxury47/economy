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28CF92-6C58-4D43-9C5B-5982DC6D9037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ru-RU"/>
        </a:p>
      </dgm:t>
    </dgm:pt>
    <dgm:pt modelId="{AF081EC8-09EF-439F-83C4-85ACE27989AC}">
      <dgm:prSet/>
      <dgm:spPr/>
      <dgm:t>
        <a:bodyPr/>
        <a:lstStyle/>
        <a:p>
          <a:pPr rtl="0"/>
          <a:r>
            <a:rPr lang="ru-RU" baseline="0" dirty="0" smtClean="0"/>
            <a:t>1. Понятие и сущность основных средств (фондов).</a:t>
          </a:r>
          <a:endParaRPr lang="ru-RU" dirty="0"/>
        </a:p>
      </dgm:t>
    </dgm:pt>
    <dgm:pt modelId="{7B12DF80-E659-4778-8992-9A74DC19006E}" type="parTrans" cxnId="{C927D3E6-4AC2-4078-B737-8E086E6F24AA}">
      <dgm:prSet/>
      <dgm:spPr/>
      <dgm:t>
        <a:bodyPr/>
        <a:lstStyle/>
        <a:p>
          <a:endParaRPr lang="ru-RU"/>
        </a:p>
      </dgm:t>
    </dgm:pt>
    <dgm:pt modelId="{79316A8E-1015-4457-A22C-5A70DC711918}" type="sibTrans" cxnId="{C927D3E6-4AC2-4078-B737-8E086E6F24AA}">
      <dgm:prSet/>
      <dgm:spPr/>
      <dgm:t>
        <a:bodyPr/>
        <a:lstStyle/>
        <a:p>
          <a:endParaRPr lang="ru-RU"/>
        </a:p>
      </dgm:t>
    </dgm:pt>
    <dgm:pt modelId="{EB18F3DD-4FD8-4E5C-A8FD-738C5B91CFA6}">
      <dgm:prSet/>
      <dgm:spPr/>
      <dgm:t>
        <a:bodyPr/>
        <a:lstStyle/>
        <a:p>
          <a:pPr rtl="0"/>
          <a:r>
            <a:rPr lang="ru-RU" baseline="0" dirty="0" smtClean="0"/>
            <a:t>2. Классификация и структура основных средств.</a:t>
          </a:r>
          <a:endParaRPr lang="ru-RU" dirty="0"/>
        </a:p>
      </dgm:t>
    </dgm:pt>
    <dgm:pt modelId="{004CA383-5BD1-4316-AA37-E71B90192653}" type="parTrans" cxnId="{530BB123-1297-4FD9-9159-C72B7F8DE0CF}">
      <dgm:prSet/>
      <dgm:spPr/>
      <dgm:t>
        <a:bodyPr/>
        <a:lstStyle/>
        <a:p>
          <a:endParaRPr lang="ru-RU"/>
        </a:p>
      </dgm:t>
    </dgm:pt>
    <dgm:pt modelId="{D425D322-CCB9-4D1A-91A3-82FD7692D6C5}" type="sibTrans" cxnId="{530BB123-1297-4FD9-9159-C72B7F8DE0CF}">
      <dgm:prSet/>
      <dgm:spPr/>
      <dgm:t>
        <a:bodyPr/>
        <a:lstStyle/>
        <a:p>
          <a:endParaRPr lang="ru-RU"/>
        </a:p>
      </dgm:t>
    </dgm:pt>
    <dgm:pt modelId="{C34A4108-126E-4FD7-AF8A-57EE451808A5}">
      <dgm:prSet/>
      <dgm:spPr/>
      <dgm:t>
        <a:bodyPr/>
        <a:lstStyle/>
        <a:p>
          <a:pPr rtl="0"/>
          <a:r>
            <a:rPr lang="ru-RU" baseline="0" dirty="0" smtClean="0"/>
            <a:t>3. Учёт и оценка основных средств.</a:t>
          </a:r>
          <a:endParaRPr lang="ru-RU" dirty="0"/>
        </a:p>
      </dgm:t>
    </dgm:pt>
    <dgm:pt modelId="{32B81C96-78CC-41E5-B85E-F9CE46237608}" type="parTrans" cxnId="{7A1D308C-8B08-400B-BA90-6BD85607B30C}">
      <dgm:prSet/>
      <dgm:spPr/>
      <dgm:t>
        <a:bodyPr/>
        <a:lstStyle/>
        <a:p>
          <a:endParaRPr lang="ru-RU"/>
        </a:p>
      </dgm:t>
    </dgm:pt>
    <dgm:pt modelId="{787C7CFE-BA80-4EFF-A637-28DBCBC9E7BB}" type="sibTrans" cxnId="{7A1D308C-8B08-400B-BA90-6BD85607B30C}">
      <dgm:prSet/>
      <dgm:spPr/>
      <dgm:t>
        <a:bodyPr/>
        <a:lstStyle/>
        <a:p>
          <a:endParaRPr lang="ru-RU"/>
        </a:p>
      </dgm:t>
    </dgm:pt>
    <dgm:pt modelId="{3395A6CD-FBEC-49AA-A679-2FCECA3401C0}">
      <dgm:prSet/>
      <dgm:spPr/>
      <dgm:t>
        <a:bodyPr/>
        <a:lstStyle/>
        <a:p>
          <a:pPr rtl="0"/>
          <a:r>
            <a:rPr lang="ru-RU" baseline="0" smtClean="0"/>
            <a:t>4. Износ и амортизация основных средств.</a:t>
          </a:r>
          <a:endParaRPr lang="ru-RU"/>
        </a:p>
      </dgm:t>
    </dgm:pt>
    <dgm:pt modelId="{5740147F-814D-4C3B-BFA4-48130B73F738}" type="parTrans" cxnId="{24A1E7D1-F4A9-4D97-963B-80AF97652A20}">
      <dgm:prSet/>
      <dgm:spPr/>
      <dgm:t>
        <a:bodyPr/>
        <a:lstStyle/>
        <a:p>
          <a:endParaRPr lang="ru-RU"/>
        </a:p>
      </dgm:t>
    </dgm:pt>
    <dgm:pt modelId="{D9B52C9A-BE9A-4801-8E86-AEBDA54C1E0F}" type="sibTrans" cxnId="{24A1E7D1-F4A9-4D97-963B-80AF97652A20}">
      <dgm:prSet/>
      <dgm:spPr/>
      <dgm:t>
        <a:bodyPr/>
        <a:lstStyle/>
        <a:p>
          <a:endParaRPr lang="ru-RU"/>
        </a:p>
      </dgm:t>
    </dgm:pt>
    <dgm:pt modelId="{B6B550BD-E2CA-4AD3-8D22-ADA306E54231}">
      <dgm:prSet/>
      <dgm:spPr/>
      <dgm:t>
        <a:bodyPr/>
        <a:lstStyle/>
        <a:p>
          <a:pPr rtl="0"/>
          <a:r>
            <a:rPr lang="ru-RU" baseline="0" smtClean="0"/>
            <a:t>5. Обобщающие показатели использования основных средств.</a:t>
          </a:r>
          <a:endParaRPr lang="ru-RU"/>
        </a:p>
      </dgm:t>
    </dgm:pt>
    <dgm:pt modelId="{1975647F-171A-4664-97E9-E78F36D42558}" type="parTrans" cxnId="{776330DC-20BD-4304-A62C-2F6F1DD55EAC}">
      <dgm:prSet/>
      <dgm:spPr/>
      <dgm:t>
        <a:bodyPr/>
        <a:lstStyle/>
        <a:p>
          <a:endParaRPr lang="ru-RU"/>
        </a:p>
      </dgm:t>
    </dgm:pt>
    <dgm:pt modelId="{4FE17B71-80D7-4B06-B5E9-8FD37D4D2A4B}" type="sibTrans" cxnId="{776330DC-20BD-4304-A62C-2F6F1DD55EAC}">
      <dgm:prSet/>
      <dgm:spPr/>
      <dgm:t>
        <a:bodyPr/>
        <a:lstStyle/>
        <a:p>
          <a:endParaRPr lang="ru-RU"/>
        </a:p>
      </dgm:t>
    </dgm:pt>
    <dgm:pt modelId="{DCD37339-7886-4BD9-85ED-DB0A424465F9}" type="pres">
      <dgm:prSet presAssocID="{3C28CF92-6C58-4D43-9C5B-5982DC6D90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2BAB4C5-6241-4D8C-A6DC-8631410612EB}" type="pres">
      <dgm:prSet presAssocID="{AF081EC8-09EF-439F-83C4-85ACE27989AC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B7B45D-7531-4A81-B35D-4B0A07A0777D}" type="pres">
      <dgm:prSet presAssocID="{79316A8E-1015-4457-A22C-5A70DC711918}" presName="spacer" presStyleCnt="0"/>
      <dgm:spPr/>
    </dgm:pt>
    <dgm:pt modelId="{CEA5D159-BFAF-4EFC-B2B8-93D7AE79180E}" type="pres">
      <dgm:prSet presAssocID="{EB18F3DD-4FD8-4E5C-A8FD-738C5B91CFA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9975E23-B8ED-40B4-A824-0D5999D00351}" type="pres">
      <dgm:prSet presAssocID="{D425D322-CCB9-4D1A-91A3-82FD7692D6C5}" presName="spacer" presStyleCnt="0"/>
      <dgm:spPr/>
    </dgm:pt>
    <dgm:pt modelId="{C52BA63E-4C5D-44AE-A70E-083EEF107353}" type="pres">
      <dgm:prSet presAssocID="{C34A4108-126E-4FD7-AF8A-57EE451808A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832B38-7C8A-4D9F-94AB-19E470E8B02A}" type="pres">
      <dgm:prSet presAssocID="{787C7CFE-BA80-4EFF-A637-28DBCBC9E7BB}" presName="spacer" presStyleCnt="0"/>
      <dgm:spPr/>
    </dgm:pt>
    <dgm:pt modelId="{D5146662-4077-474A-90FA-03BD519A6304}" type="pres">
      <dgm:prSet presAssocID="{3395A6CD-FBEC-49AA-A679-2FCECA3401C0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084D6E-CA07-4ADE-8B93-2B3EE4A97BA9}" type="pres">
      <dgm:prSet presAssocID="{D9B52C9A-BE9A-4801-8E86-AEBDA54C1E0F}" presName="spacer" presStyleCnt="0"/>
      <dgm:spPr/>
    </dgm:pt>
    <dgm:pt modelId="{24B5DC82-FFFF-43AC-B855-7E0888FCC0D8}" type="pres">
      <dgm:prSet presAssocID="{B6B550BD-E2CA-4AD3-8D22-ADA306E54231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A1D308C-8B08-400B-BA90-6BD85607B30C}" srcId="{3C28CF92-6C58-4D43-9C5B-5982DC6D9037}" destId="{C34A4108-126E-4FD7-AF8A-57EE451808A5}" srcOrd="2" destOrd="0" parTransId="{32B81C96-78CC-41E5-B85E-F9CE46237608}" sibTransId="{787C7CFE-BA80-4EFF-A637-28DBCBC9E7BB}"/>
    <dgm:cxn modelId="{5EC4D637-37B3-453C-B9DA-FC46A1CBBEDA}" type="presOf" srcId="{B6B550BD-E2CA-4AD3-8D22-ADA306E54231}" destId="{24B5DC82-FFFF-43AC-B855-7E0888FCC0D8}" srcOrd="0" destOrd="0" presId="urn:microsoft.com/office/officeart/2005/8/layout/vList2"/>
    <dgm:cxn modelId="{530BB123-1297-4FD9-9159-C72B7F8DE0CF}" srcId="{3C28CF92-6C58-4D43-9C5B-5982DC6D9037}" destId="{EB18F3DD-4FD8-4E5C-A8FD-738C5B91CFA6}" srcOrd="1" destOrd="0" parTransId="{004CA383-5BD1-4316-AA37-E71B90192653}" sibTransId="{D425D322-CCB9-4D1A-91A3-82FD7692D6C5}"/>
    <dgm:cxn modelId="{121D9C2F-F7A0-4D57-B705-8235B9800EEF}" type="presOf" srcId="{EB18F3DD-4FD8-4E5C-A8FD-738C5B91CFA6}" destId="{CEA5D159-BFAF-4EFC-B2B8-93D7AE79180E}" srcOrd="0" destOrd="0" presId="urn:microsoft.com/office/officeart/2005/8/layout/vList2"/>
    <dgm:cxn modelId="{24A1E7D1-F4A9-4D97-963B-80AF97652A20}" srcId="{3C28CF92-6C58-4D43-9C5B-5982DC6D9037}" destId="{3395A6CD-FBEC-49AA-A679-2FCECA3401C0}" srcOrd="3" destOrd="0" parTransId="{5740147F-814D-4C3B-BFA4-48130B73F738}" sibTransId="{D9B52C9A-BE9A-4801-8E86-AEBDA54C1E0F}"/>
    <dgm:cxn modelId="{18A53709-69D4-4C6B-8B10-BBC5E0CB4E9B}" type="presOf" srcId="{AF081EC8-09EF-439F-83C4-85ACE27989AC}" destId="{92BAB4C5-6241-4D8C-A6DC-8631410612EB}" srcOrd="0" destOrd="0" presId="urn:microsoft.com/office/officeart/2005/8/layout/vList2"/>
    <dgm:cxn modelId="{921C677D-1269-4750-B3BD-3347233C11ED}" type="presOf" srcId="{3C28CF92-6C58-4D43-9C5B-5982DC6D9037}" destId="{DCD37339-7886-4BD9-85ED-DB0A424465F9}" srcOrd="0" destOrd="0" presId="urn:microsoft.com/office/officeart/2005/8/layout/vList2"/>
    <dgm:cxn modelId="{C927D3E6-4AC2-4078-B737-8E086E6F24AA}" srcId="{3C28CF92-6C58-4D43-9C5B-5982DC6D9037}" destId="{AF081EC8-09EF-439F-83C4-85ACE27989AC}" srcOrd="0" destOrd="0" parTransId="{7B12DF80-E659-4778-8992-9A74DC19006E}" sibTransId="{79316A8E-1015-4457-A22C-5A70DC711918}"/>
    <dgm:cxn modelId="{626491EA-49B3-4829-9340-95142455AA7C}" type="presOf" srcId="{C34A4108-126E-4FD7-AF8A-57EE451808A5}" destId="{C52BA63E-4C5D-44AE-A70E-083EEF107353}" srcOrd="0" destOrd="0" presId="urn:microsoft.com/office/officeart/2005/8/layout/vList2"/>
    <dgm:cxn modelId="{829E81E6-0072-4CDC-96BD-B8B79C549B29}" type="presOf" srcId="{3395A6CD-FBEC-49AA-A679-2FCECA3401C0}" destId="{D5146662-4077-474A-90FA-03BD519A6304}" srcOrd="0" destOrd="0" presId="urn:microsoft.com/office/officeart/2005/8/layout/vList2"/>
    <dgm:cxn modelId="{776330DC-20BD-4304-A62C-2F6F1DD55EAC}" srcId="{3C28CF92-6C58-4D43-9C5B-5982DC6D9037}" destId="{B6B550BD-E2CA-4AD3-8D22-ADA306E54231}" srcOrd="4" destOrd="0" parTransId="{1975647F-171A-4664-97E9-E78F36D42558}" sibTransId="{4FE17B71-80D7-4B06-B5E9-8FD37D4D2A4B}"/>
    <dgm:cxn modelId="{24BA9150-E290-4C6B-92FE-B3D729435313}" type="presParOf" srcId="{DCD37339-7886-4BD9-85ED-DB0A424465F9}" destId="{92BAB4C5-6241-4D8C-A6DC-8631410612EB}" srcOrd="0" destOrd="0" presId="urn:microsoft.com/office/officeart/2005/8/layout/vList2"/>
    <dgm:cxn modelId="{65860104-F5AC-4773-ABB7-073FF9AEC126}" type="presParOf" srcId="{DCD37339-7886-4BD9-85ED-DB0A424465F9}" destId="{4DB7B45D-7531-4A81-B35D-4B0A07A0777D}" srcOrd="1" destOrd="0" presId="urn:microsoft.com/office/officeart/2005/8/layout/vList2"/>
    <dgm:cxn modelId="{D70EE89E-DB17-4B2E-922F-31E6EBF21447}" type="presParOf" srcId="{DCD37339-7886-4BD9-85ED-DB0A424465F9}" destId="{CEA5D159-BFAF-4EFC-B2B8-93D7AE79180E}" srcOrd="2" destOrd="0" presId="urn:microsoft.com/office/officeart/2005/8/layout/vList2"/>
    <dgm:cxn modelId="{607D3456-006C-4C5F-86CE-BF335EFEA892}" type="presParOf" srcId="{DCD37339-7886-4BD9-85ED-DB0A424465F9}" destId="{B9975E23-B8ED-40B4-A824-0D5999D00351}" srcOrd="3" destOrd="0" presId="urn:microsoft.com/office/officeart/2005/8/layout/vList2"/>
    <dgm:cxn modelId="{67912547-A271-4F5B-AC97-CE0F7D2C21D6}" type="presParOf" srcId="{DCD37339-7886-4BD9-85ED-DB0A424465F9}" destId="{C52BA63E-4C5D-44AE-A70E-083EEF107353}" srcOrd="4" destOrd="0" presId="urn:microsoft.com/office/officeart/2005/8/layout/vList2"/>
    <dgm:cxn modelId="{0DB01A76-4CA7-454E-854A-B324ACF53A84}" type="presParOf" srcId="{DCD37339-7886-4BD9-85ED-DB0A424465F9}" destId="{0B832B38-7C8A-4D9F-94AB-19E470E8B02A}" srcOrd="5" destOrd="0" presId="urn:microsoft.com/office/officeart/2005/8/layout/vList2"/>
    <dgm:cxn modelId="{D8EE3532-3BF6-449B-97B2-E02BABE6E435}" type="presParOf" srcId="{DCD37339-7886-4BD9-85ED-DB0A424465F9}" destId="{D5146662-4077-474A-90FA-03BD519A6304}" srcOrd="6" destOrd="0" presId="urn:microsoft.com/office/officeart/2005/8/layout/vList2"/>
    <dgm:cxn modelId="{F60376F5-B1B0-415E-B95C-E8000C87077C}" type="presParOf" srcId="{DCD37339-7886-4BD9-85ED-DB0A424465F9}" destId="{4F084D6E-CA07-4ADE-8B93-2B3EE4A97BA9}" srcOrd="7" destOrd="0" presId="urn:microsoft.com/office/officeart/2005/8/layout/vList2"/>
    <dgm:cxn modelId="{D4E88EA8-6B0E-4E99-AC50-D72AAA0F59C8}" type="presParOf" srcId="{DCD37339-7886-4BD9-85ED-DB0A424465F9}" destId="{24B5DC82-FFFF-43AC-B855-7E0888FCC0D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3F6C6B-1824-4B03-A977-1F65BDD8728B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/>
      <dgm:spPr/>
    </dgm:pt>
    <dgm:pt modelId="{BD3D269C-2781-4876-BAD2-69645DDC25C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1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Методы начисления амортизации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0" i="0" u="none" strike="noStrike" cap="none" normalizeH="0" baseline="0" smtClean="0">
            <a:ln/>
            <a:effectLst/>
            <a:latin typeface="Times New Roman" panose="02020603050405020304" pitchFamily="18" charset="0"/>
          </a:endParaRPr>
        </a:p>
      </dgm:t>
    </dgm:pt>
    <dgm:pt modelId="{6A51ED49-8B1E-48B1-9C0E-E859CAE20EAA}" type="parTrans" cxnId="{24E987B5-683D-4B80-9B1D-80D6D2BAFF4A}">
      <dgm:prSet/>
      <dgm:spPr/>
      <dgm:t>
        <a:bodyPr/>
        <a:lstStyle/>
        <a:p>
          <a:endParaRPr lang="ru-RU"/>
        </a:p>
      </dgm:t>
    </dgm:pt>
    <dgm:pt modelId="{320D93D1-84A2-4B98-AB9B-CA8268CB81DE}" type="sibTrans" cxnId="{24E987B5-683D-4B80-9B1D-80D6D2BAFF4A}">
      <dgm:prSet/>
      <dgm:spPr/>
      <dgm:t>
        <a:bodyPr/>
        <a:lstStyle/>
        <a:p>
          <a:endParaRPr lang="ru-RU"/>
        </a:p>
      </dgm:t>
    </dgm:pt>
    <dgm:pt modelId="{83A95111-92A9-41B1-AA40-876C9CCAB989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1" i="0" u="none" strike="noStrike" cap="none" normalizeH="0" baseline="0" smtClean="0">
            <a:ln/>
            <a:effectLst/>
            <a:latin typeface="Times New Roman" panose="02020603050405020304" pitchFamily="18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1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Пропорциональные: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1.1.По фиксированным нормам;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1.2. Линейный;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1.3. Пропорционально объему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   продукции</a:t>
          </a:r>
        </a:p>
      </dgm:t>
    </dgm:pt>
    <dgm:pt modelId="{54128368-5097-442C-9BB6-96F526B056A8}" type="parTrans" cxnId="{8E8CC154-B5E4-418B-8657-C63846B3DB9D}">
      <dgm:prSet/>
      <dgm:spPr/>
      <dgm:t>
        <a:bodyPr/>
        <a:lstStyle/>
        <a:p>
          <a:endParaRPr lang="ru-RU"/>
        </a:p>
      </dgm:t>
    </dgm:pt>
    <dgm:pt modelId="{4D0D3BBE-7FEA-4F5C-B7C1-0DC27E33E8A5}" type="sibTrans" cxnId="{8E8CC154-B5E4-418B-8657-C63846B3DB9D}">
      <dgm:prSet/>
      <dgm:spPr/>
      <dgm:t>
        <a:bodyPr/>
        <a:lstStyle/>
        <a:p>
          <a:endParaRPr lang="ru-RU"/>
        </a:p>
      </dgm:t>
    </dgm:pt>
    <dgm:pt modelId="{18AD9D70-B229-4ABC-A7ED-C22E2E487204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1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Ускоренные: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2.1. Метод уменьшаемого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   остатка;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Times New Roman" panose="02020603050405020304" pitchFamily="18" charset="0"/>
            </a:rPr>
            <a:t>2.2. Метод суммы чисел</a:t>
          </a:r>
        </a:p>
      </dgm:t>
    </dgm:pt>
    <dgm:pt modelId="{34ED79EB-CC44-4F94-966E-71E3E261D962}" type="parTrans" cxnId="{0CF86432-8C71-410B-BF1A-F65864407721}">
      <dgm:prSet/>
      <dgm:spPr/>
      <dgm:t>
        <a:bodyPr/>
        <a:lstStyle/>
        <a:p>
          <a:endParaRPr lang="ru-RU"/>
        </a:p>
      </dgm:t>
    </dgm:pt>
    <dgm:pt modelId="{E91722BD-8B04-471F-A004-F196E1ACB9BC}" type="sibTrans" cxnId="{0CF86432-8C71-410B-BF1A-F65864407721}">
      <dgm:prSet/>
      <dgm:spPr/>
      <dgm:t>
        <a:bodyPr/>
        <a:lstStyle/>
        <a:p>
          <a:endParaRPr lang="ru-RU"/>
        </a:p>
      </dgm:t>
    </dgm:pt>
    <dgm:pt modelId="{3D211C6B-D2EF-447C-B4BD-79F0CA29D6FB}" type="pres">
      <dgm:prSet presAssocID="{EF3F6C6B-1824-4B03-A977-1F65BDD8728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900FE28-FDEF-4F16-B0CE-4986F18CCF6F}" type="pres">
      <dgm:prSet presAssocID="{BD3D269C-2781-4876-BAD2-69645DDC25C7}" presName="hierRoot1" presStyleCnt="0">
        <dgm:presLayoutVars>
          <dgm:hierBranch/>
        </dgm:presLayoutVars>
      </dgm:prSet>
      <dgm:spPr/>
    </dgm:pt>
    <dgm:pt modelId="{740BFB67-AEC4-449E-83D0-076947AF1212}" type="pres">
      <dgm:prSet presAssocID="{BD3D269C-2781-4876-BAD2-69645DDC25C7}" presName="rootComposite1" presStyleCnt="0"/>
      <dgm:spPr/>
    </dgm:pt>
    <dgm:pt modelId="{78CD3C2B-E4F8-463C-AB0E-43603FE8DED4}" type="pres">
      <dgm:prSet presAssocID="{BD3D269C-2781-4876-BAD2-69645DDC25C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5FE1E3C-1739-4F35-8480-66230F68BA85}" type="pres">
      <dgm:prSet presAssocID="{BD3D269C-2781-4876-BAD2-69645DDC25C7}" presName="rootConnector1" presStyleLbl="node1" presStyleIdx="0" presStyleCnt="0"/>
      <dgm:spPr/>
      <dgm:t>
        <a:bodyPr/>
        <a:lstStyle/>
        <a:p>
          <a:endParaRPr lang="ru-RU"/>
        </a:p>
      </dgm:t>
    </dgm:pt>
    <dgm:pt modelId="{B226CB24-3D70-4713-B2A1-744839F81802}" type="pres">
      <dgm:prSet presAssocID="{BD3D269C-2781-4876-BAD2-69645DDC25C7}" presName="hierChild2" presStyleCnt="0"/>
      <dgm:spPr/>
    </dgm:pt>
    <dgm:pt modelId="{B9EC7C5E-50B3-4832-917E-51767F4B64E6}" type="pres">
      <dgm:prSet presAssocID="{54128368-5097-442C-9BB6-96F526B056A8}" presName="Name35" presStyleLbl="parChTrans1D2" presStyleIdx="0" presStyleCnt="2"/>
      <dgm:spPr/>
      <dgm:t>
        <a:bodyPr/>
        <a:lstStyle/>
        <a:p>
          <a:endParaRPr lang="ru-RU"/>
        </a:p>
      </dgm:t>
    </dgm:pt>
    <dgm:pt modelId="{740542A1-7893-414A-8715-F53E4CE99060}" type="pres">
      <dgm:prSet presAssocID="{83A95111-92A9-41B1-AA40-876C9CCAB989}" presName="hierRoot2" presStyleCnt="0">
        <dgm:presLayoutVars>
          <dgm:hierBranch/>
        </dgm:presLayoutVars>
      </dgm:prSet>
      <dgm:spPr/>
    </dgm:pt>
    <dgm:pt modelId="{A08831BF-A0AF-47C4-82AC-ADB5616E3002}" type="pres">
      <dgm:prSet presAssocID="{83A95111-92A9-41B1-AA40-876C9CCAB989}" presName="rootComposite" presStyleCnt="0"/>
      <dgm:spPr/>
    </dgm:pt>
    <dgm:pt modelId="{8AD9232D-ABE4-4363-AC09-B39FF2669AA9}" type="pres">
      <dgm:prSet presAssocID="{83A95111-92A9-41B1-AA40-876C9CCAB989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15EFDCF-9ECE-484D-B243-94F27DD34AE4}" type="pres">
      <dgm:prSet presAssocID="{83A95111-92A9-41B1-AA40-876C9CCAB989}" presName="rootConnector" presStyleLbl="node2" presStyleIdx="0" presStyleCnt="2"/>
      <dgm:spPr/>
      <dgm:t>
        <a:bodyPr/>
        <a:lstStyle/>
        <a:p>
          <a:endParaRPr lang="ru-RU"/>
        </a:p>
      </dgm:t>
    </dgm:pt>
    <dgm:pt modelId="{C0244579-24C8-4CF2-89DE-B2FECCDF1E86}" type="pres">
      <dgm:prSet presAssocID="{83A95111-92A9-41B1-AA40-876C9CCAB989}" presName="hierChild4" presStyleCnt="0"/>
      <dgm:spPr/>
    </dgm:pt>
    <dgm:pt modelId="{C9C876D8-D5CA-42F7-AC83-3D9AA712E3F9}" type="pres">
      <dgm:prSet presAssocID="{83A95111-92A9-41B1-AA40-876C9CCAB989}" presName="hierChild5" presStyleCnt="0"/>
      <dgm:spPr/>
    </dgm:pt>
    <dgm:pt modelId="{5EB22F4C-5853-44DB-8136-C0C071459EA2}" type="pres">
      <dgm:prSet presAssocID="{34ED79EB-CC44-4F94-966E-71E3E261D962}" presName="Name35" presStyleLbl="parChTrans1D2" presStyleIdx="1" presStyleCnt="2"/>
      <dgm:spPr/>
      <dgm:t>
        <a:bodyPr/>
        <a:lstStyle/>
        <a:p>
          <a:endParaRPr lang="ru-RU"/>
        </a:p>
      </dgm:t>
    </dgm:pt>
    <dgm:pt modelId="{FF855E4F-BBD8-420C-9527-9B87E6908A19}" type="pres">
      <dgm:prSet presAssocID="{18AD9D70-B229-4ABC-A7ED-C22E2E487204}" presName="hierRoot2" presStyleCnt="0">
        <dgm:presLayoutVars>
          <dgm:hierBranch/>
        </dgm:presLayoutVars>
      </dgm:prSet>
      <dgm:spPr/>
    </dgm:pt>
    <dgm:pt modelId="{9876317D-2E36-4112-8EE7-B5071B82373F}" type="pres">
      <dgm:prSet presAssocID="{18AD9D70-B229-4ABC-A7ED-C22E2E487204}" presName="rootComposite" presStyleCnt="0"/>
      <dgm:spPr/>
    </dgm:pt>
    <dgm:pt modelId="{2F25570C-98D5-46FF-9291-12B729673441}" type="pres">
      <dgm:prSet presAssocID="{18AD9D70-B229-4ABC-A7ED-C22E2E487204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D697CBB-4C02-4271-8AD4-194404043873}" type="pres">
      <dgm:prSet presAssocID="{18AD9D70-B229-4ABC-A7ED-C22E2E487204}" presName="rootConnector" presStyleLbl="node2" presStyleIdx="1" presStyleCnt="2"/>
      <dgm:spPr/>
      <dgm:t>
        <a:bodyPr/>
        <a:lstStyle/>
        <a:p>
          <a:endParaRPr lang="ru-RU"/>
        </a:p>
      </dgm:t>
    </dgm:pt>
    <dgm:pt modelId="{C70678BA-CD67-4C07-B5DE-947C900D90B7}" type="pres">
      <dgm:prSet presAssocID="{18AD9D70-B229-4ABC-A7ED-C22E2E487204}" presName="hierChild4" presStyleCnt="0"/>
      <dgm:spPr/>
    </dgm:pt>
    <dgm:pt modelId="{907F90C7-2FA6-499B-9426-046895934E92}" type="pres">
      <dgm:prSet presAssocID="{18AD9D70-B229-4ABC-A7ED-C22E2E487204}" presName="hierChild5" presStyleCnt="0"/>
      <dgm:spPr/>
    </dgm:pt>
    <dgm:pt modelId="{575A1E46-15B7-4165-B192-11938B7BF272}" type="pres">
      <dgm:prSet presAssocID="{BD3D269C-2781-4876-BAD2-69645DDC25C7}" presName="hierChild3" presStyleCnt="0"/>
      <dgm:spPr/>
    </dgm:pt>
  </dgm:ptLst>
  <dgm:cxnLst>
    <dgm:cxn modelId="{45312254-52C0-4662-9DD9-54EF7D3201F9}" type="presOf" srcId="{34ED79EB-CC44-4F94-966E-71E3E261D962}" destId="{5EB22F4C-5853-44DB-8136-C0C071459EA2}" srcOrd="0" destOrd="0" presId="urn:microsoft.com/office/officeart/2005/8/layout/orgChart1"/>
    <dgm:cxn modelId="{CDDCACCE-3250-4E2B-9D9A-1637A576AD4B}" type="presOf" srcId="{83A95111-92A9-41B1-AA40-876C9CCAB989}" destId="{8AD9232D-ABE4-4363-AC09-B39FF2669AA9}" srcOrd="0" destOrd="0" presId="urn:microsoft.com/office/officeart/2005/8/layout/orgChart1"/>
    <dgm:cxn modelId="{BCDD0420-66ED-438E-9D47-C6E725E3A1CE}" type="presOf" srcId="{18AD9D70-B229-4ABC-A7ED-C22E2E487204}" destId="{3D697CBB-4C02-4271-8AD4-194404043873}" srcOrd="1" destOrd="0" presId="urn:microsoft.com/office/officeart/2005/8/layout/orgChart1"/>
    <dgm:cxn modelId="{AACBEDD7-3513-4064-A102-DAE7006F2216}" type="presOf" srcId="{83A95111-92A9-41B1-AA40-876C9CCAB989}" destId="{515EFDCF-9ECE-484D-B243-94F27DD34AE4}" srcOrd="1" destOrd="0" presId="urn:microsoft.com/office/officeart/2005/8/layout/orgChart1"/>
    <dgm:cxn modelId="{0CF86432-8C71-410B-BF1A-F65864407721}" srcId="{BD3D269C-2781-4876-BAD2-69645DDC25C7}" destId="{18AD9D70-B229-4ABC-A7ED-C22E2E487204}" srcOrd="1" destOrd="0" parTransId="{34ED79EB-CC44-4F94-966E-71E3E261D962}" sibTransId="{E91722BD-8B04-471F-A004-F196E1ACB9BC}"/>
    <dgm:cxn modelId="{BCF72E1A-445A-4351-8998-98A1DC11E104}" type="presOf" srcId="{EF3F6C6B-1824-4B03-A977-1F65BDD8728B}" destId="{3D211C6B-D2EF-447C-B4BD-79F0CA29D6FB}" srcOrd="0" destOrd="0" presId="urn:microsoft.com/office/officeart/2005/8/layout/orgChart1"/>
    <dgm:cxn modelId="{7FC26F64-C54D-44F2-A0E8-A10D3C888FB7}" type="presOf" srcId="{54128368-5097-442C-9BB6-96F526B056A8}" destId="{B9EC7C5E-50B3-4832-917E-51767F4B64E6}" srcOrd="0" destOrd="0" presId="urn:microsoft.com/office/officeart/2005/8/layout/orgChart1"/>
    <dgm:cxn modelId="{8E8CC154-B5E4-418B-8657-C63846B3DB9D}" srcId="{BD3D269C-2781-4876-BAD2-69645DDC25C7}" destId="{83A95111-92A9-41B1-AA40-876C9CCAB989}" srcOrd="0" destOrd="0" parTransId="{54128368-5097-442C-9BB6-96F526B056A8}" sibTransId="{4D0D3BBE-7FEA-4F5C-B7C1-0DC27E33E8A5}"/>
    <dgm:cxn modelId="{22F04800-A08C-4B21-B0B6-0B7450BFA49C}" type="presOf" srcId="{BD3D269C-2781-4876-BAD2-69645DDC25C7}" destId="{78CD3C2B-E4F8-463C-AB0E-43603FE8DED4}" srcOrd="0" destOrd="0" presId="urn:microsoft.com/office/officeart/2005/8/layout/orgChart1"/>
    <dgm:cxn modelId="{24E987B5-683D-4B80-9B1D-80D6D2BAFF4A}" srcId="{EF3F6C6B-1824-4B03-A977-1F65BDD8728B}" destId="{BD3D269C-2781-4876-BAD2-69645DDC25C7}" srcOrd="0" destOrd="0" parTransId="{6A51ED49-8B1E-48B1-9C0E-E859CAE20EAA}" sibTransId="{320D93D1-84A2-4B98-AB9B-CA8268CB81DE}"/>
    <dgm:cxn modelId="{F912CF0A-A9E9-4C8B-88A5-8092C28D86DD}" type="presOf" srcId="{BD3D269C-2781-4876-BAD2-69645DDC25C7}" destId="{65FE1E3C-1739-4F35-8480-66230F68BA85}" srcOrd="1" destOrd="0" presId="urn:microsoft.com/office/officeart/2005/8/layout/orgChart1"/>
    <dgm:cxn modelId="{01121CCE-F689-4969-826E-CCDD453EDF34}" type="presOf" srcId="{18AD9D70-B229-4ABC-A7ED-C22E2E487204}" destId="{2F25570C-98D5-46FF-9291-12B729673441}" srcOrd="0" destOrd="0" presId="urn:microsoft.com/office/officeart/2005/8/layout/orgChart1"/>
    <dgm:cxn modelId="{A6CF4456-DE64-482F-AB29-025CFCFF7C66}" type="presParOf" srcId="{3D211C6B-D2EF-447C-B4BD-79F0CA29D6FB}" destId="{1900FE28-FDEF-4F16-B0CE-4986F18CCF6F}" srcOrd="0" destOrd="0" presId="urn:microsoft.com/office/officeart/2005/8/layout/orgChart1"/>
    <dgm:cxn modelId="{310D5298-978D-4A76-8FBC-E406B60BE48F}" type="presParOf" srcId="{1900FE28-FDEF-4F16-B0CE-4986F18CCF6F}" destId="{740BFB67-AEC4-449E-83D0-076947AF1212}" srcOrd="0" destOrd="0" presId="urn:microsoft.com/office/officeart/2005/8/layout/orgChart1"/>
    <dgm:cxn modelId="{8DC2F21F-2131-4A5E-9D7F-8F107ADB116F}" type="presParOf" srcId="{740BFB67-AEC4-449E-83D0-076947AF1212}" destId="{78CD3C2B-E4F8-463C-AB0E-43603FE8DED4}" srcOrd="0" destOrd="0" presId="urn:microsoft.com/office/officeart/2005/8/layout/orgChart1"/>
    <dgm:cxn modelId="{8E37C3AC-A7FB-4620-9305-399199C5BB41}" type="presParOf" srcId="{740BFB67-AEC4-449E-83D0-076947AF1212}" destId="{65FE1E3C-1739-4F35-8480-66230F68BA85}" srcOrd="1" destOrd="0" presId="urn:microsoft.com/office/officeart/2005/8/layout/orgChart1"/>
    <dgm:cxn modelId="{48DC3196-3EDD-474C-8A2F-70834810DBBC}" type="presParOf" srcId="{1900FE28-FDEF-4F16-B0CE-4986F18CCF6F}" destId="{B226CB24-3D70-4713-B2A1-744839F81802}" srcOrd="1" destOrd="0" presId="urn:microsoft.com/office/officeart/2005/8/layout/orgChart1"/>
    <dgm:cxn modelId="{0FB1F5D6-56F2-4AFE-BD73-2D9E62732B9D}" type="presParOf" srcId="{B226CB24-3D70-4713-B2A1-744839F81802}" destId="{B9EC7C5E-50B3-4832-917E-51767F4B64E6}" srcOrd="0" destOrd="0" presId="urn:microsoft.com/office/officeart/2005/8/layout/orgChart1"/>
    <dgm:cxn modelId="{DDCC943B-526E-49AD-8735-432840BCBC9D}" type="presParOf" srcId="{B226CB24-3D70-4713-B2A1-744839F81802}" destId="{740542A1-7893-414A-8715-F53E4CE99060}" srcOrd="1" destOrd="0" presId="urn:microsoft.com/office/officeart/2005/8/layout/orgChart1"/>
    <dgm:cxn modelId="{27EEAF7D-16D8-4C90-ABF1-55E8B05506CB}" type="presParOf" srcId="{740542A1-7893-414A-8715-F53E4CE99060}" destId="{A08831BF-A0AF-47C4-82AC-ADB5616E3002}" srcOrd="0" destOrd="0" presId="urn:microsoft.com/office/officeart/2005/8/layout/orgChart1"/>
    <dgm:cxn modelId="{6DDC8231-0A14-4841-932B-F9F67102766C}" type="presParOf" srcId="{A08831BF-A0AF-47C4-82AC-ADB5616E3002}" destId="{8AD9232D-ABE4-4363-AC09-B39FF2669AA9}" srcOrd="0" destOrd="0" presId="urn:microsoft.com/office/officeart/2005/8/layout/orgChart1"/>
    <dgm:cxn modelId="{8E90176E-BDB4-4816-A59A-1ABD52828A36}" type="presParOf" srcId="{A08831BF-A0AF-47C4-82AC-ADB5616E3002}" destId="{515EFDCF-9ECE-484D-B243-94F27DD34AE4}" srcOrd="1" destOrd="0" presId="urn:microsoft.com/office/officeart/2005/8/layout/orgChart1"/>
    <dgm:cxn modelId="{8B452BF3-0E5E-4118-A529-4CC252468B03}" type="presParOf" srcId="{740542A1-7893-414A-8715-F53E4CE99060}" destId="{C0244579-24C8-4CF2-89DE-B2FECCDF1E86}" srcOrd="1" destOrd="0" presId="urn:microsoft.com/office/officeart/2005/8/layout/orgChart1"/>
    <dgm:cxn modelId="{CD776887-393E-4C82-8FF5-7E541F935106}" type="presParOf" srcId="{740542A1-7893-414A-8715-F53E4CE99060}" destId="{C9C876D8-D5CA-42F7-AC83-3D9AA712E3F9}" srcOrd="2" destOrd="0" presId="urn:microsoft.com/office/officeart/2005/8/layout/orgChart1"/>
    <dgm:cxn modelId="{138E8A57-18E3-41B9-BF76-417B4D7DD262}" type="presParOf" srcId="{B226CB24-3D70-4713-B2A1-744839F81802}" destId="{5EB22F4C-5853-44DB-8136-C0C071459EA2}" srcOrd="2" destOrd="0" presId="urn:microsoft.com/office/officeart/2005/8/layout/orgChart1"/>
    <dgm:cxn modelId="{F9507C1E-32B7-4C88-91AF-AFE50D34C3FF}" type="presParOf" srcId="{B226CB24-3D70-4713-B2A1-744839F81802}" destId="{FF855E4F-BBD8-420C-9527-9B87E6908A19}" srcOrd="3" destOrd="0" presId="urn:microsoft.com/office/officeart/2005/8/layout/orgChart1"/>
    <dgm:cxn modelId="{B7FC3D0D-A88E-4A9B-BE22-1E4B635B0BFE}" type="presParOf" srcId="{FF855E4F-BBD8-420C-9527-9B87E6908A19}" destId="{9876317D-2E36-4112-8EE7-B5071B82373F}" srcOrd="0" destOrd="0" presId="urn:microsoft.com/office/officeart/2005/8/layout/orgChart1"/>
    <dgm:cxn modelId="{2673505B-D90A-4887-A46A-3A54DCD039CF}" type="presParOf" srcId="{9876317D-2E36-4112-8EE7-B5071B82373F}" destId="{2F25570C-98D5-46FF-9291-12B729673441}" srcOrd="0" destOrd="0" presId="urn:microsoft.com/office/officeart/2005/8/layout/orgChart1"/>
    <dgm:cxn modelId="{4EBC9F30-2A52-48F2-830A-FFE439C7556B}" type="presParOf" srcId="{9876317D-2E36-4112-8EE7-B5071B82373F}" destId="{3D697CBB-4C02-4271-8AD4-194404043873}" srcOrd="1" destOrd="0" presId="urn:microsoft.com/office/officeart/2005/8/layout/orgChart1"/>
    <dgm:cxn modelId="{2B9ED038-0C6B-45C3-991A-50BAA8A84235}" type="presParOf" srcId="{FF855E4F-BBD8-420C-9527-9B87E6908A19}" destId="{C70678BA-CD67-4C07-B5DE-947C900D90B7}" srcOrd="1" destOrd="0" presId="urn:microsoft.com/office/officeart/2005/8/layout/orgChart1"/>
    <dgm:cxn modelId="{19D5142E-1AEF-4767-AEA9-C99FF2AE6E8E}" type="presParOf" srcId="{FF855E4F-BBD8-420C-9527-9B87E6908A19}" destId="{907F90C7-2FA6-499B-9426-046895934E92}" srcOrd="2" destOrd="0" presId="urn:microsoft.com/office/officeart/2005/8/layout/orgChart1"/>
    <dgm:cxn modelId="{11EAE256-329C-4572-B9E0-BED211AFB8A0}" type="presParOf" srcId="{1900FE28-FDEF-4F16-B0CE-4986F18CCF6F}" destId="{575A1E46-15B7-4165-B192-11938B7BF27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AB4C5-6241-4D8C-A6DC-8631410612EB}">
      <dsp:nvSpPr>
        <dsp:cNvPr id="0" name=""/>
        <dsp:cNvSpPr/>
      </dsp:nvSpPr>
      <dsp:spPr>
        <a:xfrm>
          <a:off x="0" y="402754"/>
          <a:ext cx="11499667" cy="7300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baseline="0" dirty="0" smtClean="0"/>
            <a:t>1. Понятие и сущность основных средств (фондов).</a:t>
          </a:r>
          <a:endParaRPr lang="ru-RU" sz="3200" kern="1200" dirty="0"/>
        </a:p>
      </dsp:txBody>
      <dsp:txXfrm>
        <a:off x="35640" y="438394"/>
        <a:ext cx="11428387" cy="658799"/>
      </dsp:txXfrm>
    </dsp:sp>
    <dsp:sp modelId="{CEA5D159-BFAF-4EFC-B2B8-93D7AE79180E}">
      <dsp:nvSpPr>
        <dsp:cNvPr id="0" name=""/>
        <dsp:cNvSpPr/>
      </dsp:nvSpPr>
      <dsp:spPr>
        <a:xfrm>
          <a:off x="0" y="1224994"/>
          <a:ext cx="11499667" cy="730079"/>
        </a:xfrm>
        <a:prstGeom prst="roundRect">
          <a:avLst/>
        </a:prstGeom>
        <a:solidFill>
          <a:schemeClr val="accent3">
            <a:hueOff val="1244992"/>
            <a:satOff val="-486"/>
            <a:lumOff val="382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baseline="0" dirty="0" smtClean="0"/>
            <a:t>2. Классификация и структура основных средств.</a:t>
          </a:r>
          <a:endParaRPr lang="ru-RU" sz="3200" kern="1200" dirty="0"/>
        </a:p>
      </dsp:txBody>
      <dsp:txXfrm>
        <a:off x="35640" y="1260634"/>
        <a:ext cx="11428387" cy="658799"/>
      </dsp:txXfrm>
    </dsp:sp>
    <dsp:sp modelId="{C52BA63E-4C5D-44AE-A70E-083EEF107353}">
      <dsp:nvSpPr>
        <dsp:cNvPr id="0" name=""/>
        <dsp:cNvSpPr/>
      </dsp:nvSpPr>
      <dsp:spPr>
        <a:xfrm>
          <a:off x="0" y="2047234"/>
          <a:ext cx="11499667" cy="730079"/>
        </a:xfrm>
        <a:prstGeom prst="roundRect">
          <a:avLst/>
        </a:prstGeom>
        <a:solidFill>
          <a:schemeClr val="accent3">
            <a:hueOff val="2489983"/>
            <a:satOff val="-971"/>
            <a:lumOff val="7647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baseline="0" dirty="0" smtClean="0"/>
            <a:t>3. Учёт и оценка основных средств.</a:t>
          </a:r>
          <a:endParaRPr lang="ru-RU" sz="3200" kern="1200" dirty="0"/>
        </a:p>
      </dsp:txBody>
      <dsp:txXfrm>
        <a:off x="35640" y="2082874"/>
        <a:ext cx="11428387" cy="658799"/>
      </dsp:txXfrm>
    </dsp:sp>
    <dsp:sp modelId="{D5146662-4077-474A-90FA-03BD519A6304}">
      <dsp:nvSpPr>
        <dsp:cNvPr id="0" name=""/>
        <dsp:cNvSpPr/>
      </dsp:nvSpPr>
      <dsp:spPr>
        <a:xfrm>
          <a:off x="0" y="2869474"/>
          <a:ext cx="11499667" cy="730079"/>
        </a:xfrm>
        <a:prstGeom prst="roundRect">
          <a:avLst/>
        </a:prstGeom>
        <a:solidFill>
          <a:schemeClr val="accent3">
            <a:hueOff val="3734975"/>
            <a:satOff val="-1457"/>
            <a:lumOff val="1147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baseline="0" smtClean="0"/>
            <a:t>4. Износ и амортизация основных средств.</a:t>
          </a:r>
          <a:endParaRPr lang="ru-RU" sz="3200" kern="1200"/>
        </a:p>
      </dsp:txBody>
      <dsp:txXfrm>
        <a:off x="35640" y="2905114"/>
        <a:ext cx="11428387" cy="658799"/>
      </dsp:txXfrm>
    </dsp:sp>
    <dsp:sp modelId="{24B5DC82-FFFF-43AC-B855-7E0888FCC0D8}">
      <dsp:nvSpPr>
        <dsp:cNvPr id="0" name=""/>
        <dsp:cNvSpPr/>
      </dsp:nvSpPr>
      <dsp:spPr>
        <a:xfrm>
          <a:off x="0" y="3691714"/>
          <a:ext cx="11499667" cy="730079"/>
        </a:xfrm>
        <a:prstGeom prst="roundRect">
          <a:avLst/>
        </a:prstGeom>
        <a:solidFill>
          <a:schemeClr val="accent3">
            <a:hueOff val="4979966"/>
            <a:satOff val="-1943"/>
            <a:lumOff val="15294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baseline="0" smtClean="0"/>
            <a:t>5. Обобщающие показатели использования основных средств.</a:t>
          </a:r>
          <a:endParaRPr lang="ru-RU" sz="3200" kern="1200"/>
        </a:p>
      </dsp:txBody>
      <dsp:txXfrm>
        <a:off x="35640" y="3727354"/>
        <a:ext cx="11428387" cy="658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B22F4C-5853-44DB-8136-C0C071459EA2}">
      <dsp:nvSpPr>
        <dsp:cNvPr id="0" name=""/>
        <dsp:cNvSpPr/>
      </dsp:nvSpPr>
      <dsp:spPr>
        <a:xfrm>
          <a:off x="5673634" y="2098585"/>
          <a:ext cx="2535024" cy="8799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962"/>
              </a:lnTo>
              <a:lnTo>
                <a:pt x="2535024" y="439962"/>
              </a:lnTo>
              <a:lnTo>
                <a:pt x="2535024" y="879925"/>
              </a:lnTo>
            </a:path>
          </a:pathLst>
        </a:custGeom>
        <a:noFill/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EC7C5E-50B3-4832-917E-51767F4B64E6}">
      <dsp:nvSpPr>
        <dsp:cNvPr id="0" name=""/>
        <dsp:cNvSpPr/>
      </dsp:nvSpPr>
      <dsp:spPr>
        <a:xfrm>
          <a:off x="3138609" y="2098585"/>
          <a:ext cx="2535024" cy="879925"/>
        </a:xfrm>
        <a:custGeom>
          <a:avLst/>
          <a:gdLst/>
          <a:ahLst/>
          <a:cxnLst/>
          <a:rect l="0" t="0" r="0" b="0"/>
          <a:pathLst>
            <a:path>
              <a:moveTo>
                <a:pt x="2535024" y="0"/>
              </a:moveTo>
              <a:lnTo>
                <a:pt x="2535024" y="439962"/>
              </a:lnTo>
              <a:lnTo>
                <a:pt x="0" y="439962"/>
              </a:lnTo>
              <a:lnTo>
                <a:pt x="0" y="879925"/>
              </a:lnTo>
            </a:path>
          </a:pathLst>
        </a:custGeom>
        <a:noFill/>
        <a:ln w="34925" cap="flat" cmpd="sng" algn="in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CD3C2B-E4F8-463C-AB0E-43603FE8DED4}">
      <dsp:nvSpPr>
        <dsp:cNvPr id="0" name=""/>
        <dsp:cNvSpPr/>
      </dsp:nvSpPr>
      <dsp:spPr>
        <a:xfrm>
          <a:off x="3578572" y="3523"/>
          <a:ext cx="4190122" cy="20950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300" b="1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Методы начисления амортизации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2300" b="0" i="0" u="none" strike="noStrike" kern="1200" cap="none" normalizeH="0" baseline="0" smtClean="0">
            <a:ln/>
            <a:effectLst/>
            <a:latin typeface="Times New Roman" panose="02020603050405020304" pitchFamily="18" charset="0"/>
          </a:endParaRPr>
        </a:p>
      </dsp:txBody>
      <dsp:txXfrm>
        <a:off x="3578572" y="3523"/>
        <a:ext cx="4190122" cy="2095061"/>
      </dsp:txXfrm>
    </dsp:sp>
    <dsp:sp modelId="{8AD9232D-ABE4-4363-AC09-B39FF2669AA9}">
      <dsp:nvSpPr>
        <dsp:cNvPr id="0" name=""/>
        <dsp:cNvSpPr/>
      </dsp:nvSpPr>
      <dsp:spPr>
        <a:xfrm>
          <a:off x="1043548" y="2978510"/>
          <a:ext cx="4190122" cy="20950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2300" b="1" i="0" u="none" strike="noStrike" kern="1200" cap="none" normalizeH="0" baseline="0" smtClean="0">
            <a:ln/>
            <a:effectLst/>
            <a:latin typeface="Times New Roman" panose="02020603050405020304" pitchFamily="18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300" b="1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Пропорциональные: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sz="2300" b="0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1.1.По фиксированным нормам;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sz="2300" b="0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1.2. Линейный;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sz="2300" b="0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1.3. Пропорционально объему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sz="2300" b="0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   продукции</a:t>
          </a:r>
        </a:p>
      </dsp:txBody>
      <dsp:txXfrm>
        <a:off x="1043548" y="2978510"/>
        <a:ext cx="4190122" cy="2095061"/>
      </dsp:txXfrm>
    </dsp:sp>
    <dsp:sp modelId="{2F25570C-98D5-46FF-9291-12B729673441}">
      <dsp:nvSpPr>
        <dsp:cNvPr id="0" name=""/>
        <dsp:cNvSpPr/>
      </dsp:nvSpPr>
      <dsp:spPr>
        <a:xfrm>
          <a:off x="6113596" y="2978510"/>
          <a:ext cx="4190122" cy="20950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300" b="1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Ускоренные: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sz="2300" b="0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2.1. Метод уменьшаемого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sz="2300" b="0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   остатка;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 typeface="Wingdings" panose="05000000000000000000" pitchFamily="2" charset="2"/>
            <a:buNone/>
            <a:tabLst/>
          </a:pPr>
          <a:r>
            <a:rPr kumimoji="0" lang="ru-RU" altLang="ru-RU" sz="2300" b="0" i="0" u="none" strike="noStrike" kern="1200" cap="none" normalizeH="0" baseline="0" smtClean="0">
              <a:ln/>
              <a:effectLst/>
              <a:latin typeface="Times New Roman" panose="02020603050405020304" pitchFamily="18" charset="0"/>
            </a:rPr>
            <a:t>2.2. Метод суммы чисел</a:t>
          </a:r>
        </a:p>
      </dsp:txBody>
      <dsp:txXfrm>
        <a:off x="6113596" y="2978510"/>
        <a:ext cx="4190122" cy="20950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650660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93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33332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048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234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723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935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179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243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285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342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609600" y="1828801"/>
            <a:ext cx="10972800" cy="4302125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78EDB-13E5-48A5-A279-7122B5A2800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05247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609600" y="1828801"/>
            <a:ext cx="10972800" cy="4302125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4490F0-357C-439A-AD22-E5F2AA29023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5896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FF9348E-2040-454D-89C0-869D1940D105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186927E-11F1-4114-8B8A-8B10390C682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2269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62876" y="1863634"/>
            <a:ext cx="8361229" cy="2989697"/>
          </a:xfrm>
        </p:spPr>
        <p:txBody>
          <a:bodyPr/>
          <a:lstStyle/>
          <a:p>
            <a:r>
              <a:rPr lang="ru-RU" dirty="0" smtClean="0"/>
              <a:t>Основные средства </a:t>
            </a:r>
            <a:r>
              <a:rPr lang="ru-RU" dirty="0"/>
              <a:t>(фонды) предприятия</a:t>
            </a:r>
          </a:p>
        </p:txBody>
      </p:sp>
    </p:spTree>
    <p:extLst>
      <p:ext uri="{BB962C8B-B14F-4D97-AF65-F5344CB8AC3E}">
        <p14:creationId xmlns:p14="http://schemas.microsoft.com/office/powerpoint/2010/main" val="98864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2332" y="-1"/>
            <a:ext cx="11499668" cy="740229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План лекции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217183"/>
              </p:ext>
            </p:extLst>
          </p:nvPr>
        </p:nvGraphicFramePr>
        <p:xfrm>
          <a:off x="692332" y="975360"/>
          <a:ext cx="11499668" cy="4824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42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9269" y="0"/>
            <a:ext cx="11512731" cy="74893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Понятие </a:t>
            </a:r>
            <a:r>
              <a:rPr lang="ru-RU" dirty="0"/>
              <a:t>и сущность основных средств (фондов).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748" y="1271452"/>
            <a:ext cx="11451771" cy="49029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Для осуществления своей деятельности предприятие должно располагать определенным набором </a:t>
            </a:r>
            <a:r>
              <a:rPr lang="ru-RU" b="1" dirty="0"/>
              <a:t>экономических ресурсов (или факторов производства) </a:t>
            </a:r>
            <a:r>
              <a:rPr lang="ru-RU" dirty="0"/>
              <a:t>– элементов, используемых для производства экономических благ.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Состав </a:t>
            </a:r>
            <a:r>
              <a:rPr lang="ru-RU" dirty="0"/>
              <a:t>применяемых предприятием экономических ресурсов различен. Особое значение для успешной деятельности предприятия имеет наличие определенного запаса ресурсов длительного пользования, или капитала.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Различают </a:t>
            </a:r>
            <a:r>
              <a:rPr lang="ru-RU" dirty="0"/>
              <a:t>две основные формы капитала: </a:t>
            </a:r>
            <a:endParaRPr lang="ru-RU" dirty="0" smtClean="0"/>
          </a:p>
          <a:p>
            <a:pPr>
              <a:buFontTx/>
              <a:buChar char="-"/>
            </a:pPr>
            <a:r>
              <a:rPr lang="ru-RU" b="1" dirty="0" smtClean="0"/>
              <a:t>физический</a:t>
            </a:r>
            <a:r>
              <a:rPr lang="ru-RU" dirty="0" smtClean="0"/>
              <a:t> </a:t>
            </a:r>
            <a:r>
              <a:rPr lang="ru-RU" dirty="0"/>
              <a:t>(материально-вещественный) капитал (машины, здания сооружения, сырье и т.д.); </a:t>
            </a:r>
            <a:endParaRPr lang="ru-RU" dirty="0" smtClean="0"/>
          </a:p>
          <a:p>
            <a:pPr>
              <a:buFontTx/>
              <a:buChar char="-"/>
            </a:pPr>
            <a:r>
              <a:rPr lang="ru-RU" b="1" dirty="0" smtClean="0"/>
              <a:t>человеческий</a:t>
            </a:r>
            <a:r>
              <a:rPr lang="ru-RU" dirty="0" smtClean="0"/>
              <a:t> </a:t>
            </a:r>
            <a:r>
              <a:rPr lang="ru-RU" dirty="0"/>
              <a:t>капитал (общие и специальные знания, трудовые навыки, производственный опыт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r>
              <a:rPr lang="ru-RU" b="1" dirty="0" smtClean="0"/>
              <a:t>Имущество </a:t>
            </a:r>
            <a:r>
              <a:rPr lang="ru-RU" b="1" dirty="0"/>
              <a:t>предприятия </a:t>
            </a:r>
            <a:r>
              <a:rPr lang="ru-RU" dirty="0"/>
              <a:t>– материальные и нематериальные элементы, используемые предприятием в производственной деятельности. </a:t>
            </a:r>
            <a:endParaRPr lang="ru-RU" dirty="0" smtClean="0"/>
          </a:p>
          <a:p>
            <a:pPr marL="0" indent="0">
              <a:buNone/>
            </a:pPr>
            <a:r>
              <a:rPr lang="ru-RU" b="1" dirty="0" smtClean="0">
                <a:solidFill>
                  <a:srgbClr val="7030A0"/>
                </a:solidFill>
              </a:rPr>
              <a:t>Имущество </a:t>
            </a:r>
            <a:r>
              <a:rPr lang="ru-RU" b="1" dirty="0">
                <a:solidFill>
                  <a:srgbClr val="7030A0"/>
                </a:solidFill>
              </a:rPr>
              <a:t>предприятия первоначально создается за счёт имущества, переданного ему учредителями в виде вкладов (взносов, паев). Оно может являться объектом сделок. Отчуждения, закладываться и т.д.</a:t>
            </a:r>
          </a:p>
        </p:txBody>
      </p:sp>
    </p:spTree>
    <p:extLst>
      <p:ext uri="{BB962C8B-B14F-4D97-AF65-F5344CB8AC3E}">
        <p14:creationId xmlns:p14="http://schemas.microsoft.com/office/powerpoint/2010/main" val="276757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9269" y="0"/>
            <a:ext cx="11512731" cy="74893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Понятие </a:t>
            </a:r>
            <a:r>
              <a:rPr lang="ru-RU" dirty="0"/>
              <a:t>и сущность основных средств (фондов).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748" y="1271452"/>
            <a:ext cx="11451771" cy="52861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Основные фонды (в стоимостной оценке — основные средства, основной капитал) </a:t>
            </a:r>
            <a:r>
              <a:rPr lang="ru-RU" dirty="0"/>
              <a:t>- это </a:t>
            </a:r>
            <a:r>
              <a:rPr lang="ru-RU" dirty="0" err="1"/>
              <a:t>матералъно</a:t>
            </a:r>
            <a:r>
              <a:rPr lang="ru-RU" dirty="0"/>
              <a:t>-вещественные ценности, используемые в качестве средств труда, которые действуют в неизменной натуральной форме в течение длительного периода времени и утрачивают свою стоимость по частям,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/>
              <a:t>практике учета и в статистике к основным фондам относятся средства труда со сроком службы не менее года и стоимостью выше определенной величины, устанавливаемой в зависимости от динамики ценна продукцию фондообразующих отраслей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7030A0"/>
                </a:solidFill>
              </a:rPr>
              <a:t> </a:t>
            </a:r>
            <a:r>
              <a:rPr lang="ru-RU" dirty="0">
                <a:solidFill>
                  <a:srgbClr val="7030A0"/>
                </a:solidFill>
              </a:rPr>
              <a:t>В зависимости от характера участия основных фондов в процессе расширенного воспроизводства подразделяются на </a:t>
            </a:r>
            <a:r>
              <a:rPr lang="ru-RU" b="1" dirty="0">
                <a:solidFill>
                  <a:srgbClr val="7030A0"/>
                </a:solidFill>
              </a:rPr>
              <a:t>производственные</a:t>
            </a:r>
            <a:r>
              <a:rPr lang="ru-RU" dirty="0">
                <a:solidFill>
                  <a:srgbClr val="7030A0"/>
                </a:solidFill>
              </a:rPr>
              <a:t> и </a:t>
            </a:r>
            <a:r>
              <a:rPr lang="ru-RU" b="1" dirty="0">
                <a:solidFill>
                  <a:srgbClr val="7030A0"/>
                </a:solidFill>
              </a:rPr>
              <a:t>непроизводственные </a:t>
            </a:r>
            <a:r>
              <a:rPr lang="ru-RU" dirty="0">
                <a:solidFill>
                  <a:srgbClr val="7030A0"/>
                </a:solidFill>
              </a:rPr>
              <a:t>основные фонды</a:t>
            </a:r>
            <a:r>
              <a:rPr lang="ru-RU" dirty="0" smtClean="0">
                <a:solidFill>
                  <a:srgbClr val="7030A0"/>
                </a:solidFill>
              </a:rPr>
              <a:t>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Производственные основные фонды (ОПФ)</a:t>
            </a:r>
            <a:r>
              <a:rPr lang="ru-RU" dirty="0">
                <a:solidFill>
                  <a:schemeClr val="tx1"/>
                </a:solidFill>
              </a:rPr>
              <a:t> функционируют в сфере материального производства, неоднократно участвуют в процессе производства, изнашиваются постепенно, а их стоимость переносится на изготовляемый продукт по частям по мере использования. Пополняются они за счет капитальных вложений</a:t>
            </a:r>
            <a:r>
              <a:rPr lang="ru-RU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b="1" dirty="0"/>
              <a:t>Непроизводственные основные фонды (ОНФ) </a:t>
            </a:r>
            <a:r>
              <a:rPr lang="ru-RU" dirty="0"/>
              <a:t>— жилые дома, детские и спортивные учреждения, другие объекты культурно-бытового назначения, которые находятся на балансе организации. В отличие от производственных основных фондов они не участвуют в процессе производства и не переносят своей стоимости на продукт, стоимость их исчезает в процессе потребления. Фонд возмещения не создается, воспроизводятся они за счет </a:t>
            </a:r>
            <a:r>
              <a:rPr lang="ru-RU" dirty="0" smtClean="0"/>
              <a:t> </a:t>
            </a:r>
            <a:r>
              <a:rPr lang="ru-RU" dirty="0"/>
              <a:t>дохода</a:t>
            </a:r>
            <a:endParaRPr lang="ru-RU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99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527" y="20693"/>
            <a:ext cx="7985760" cy="683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1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7977" y="330926"/>
            <a:ext cx="11504023" cy="6527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К основным средствам в бухгалтерском учёте причисляют объекты, которые одновременно соответствуют четырём критериям.</a:t>
            </a:r>
            <a:r>
              <a:rPr lang="ru-RU" dirty="0"/>
              <a:t/>
            </a:r>
            <a:br>
              <a:rPr lang="ru-RU" dirty="0"/>
            </a:br>
            <a:endParaRPr lang="ru-RU" dirty="0" smtClean="0"/>
          </a:p>
          <a:p>
            <a:r>
              <a:rPr lang="ru-RU" dirty="0" smtClean="0"/>
              <a:t>Их </a:t>
            </a:r>
            <a:r>
              <a:rPr lang="ru-RU" dirty="0"/>
              <a:t>используют в работе организации. Это может быть производство продукции, оказание услуг или управление компанией. Например, оборудование нужно, чтобы изготавливать детали на продажу, а очистные сооружения для защиты окружающей среды.</a:t>
            </a:r>
          </a:p>
          <a:p>
            <a:r>
              <a:rPr lang="ru-RU" dirty="0"/>
              <a:t>Они приносят экономическую выгоду. Производственная линия принесет прибыль от торговли продукцией. Здание можно сдать в аренду. Грузовая техника будет перевозить материалы.</a:t>
            </a:r>
          </a:p>
          <a:p>
            <a:r>
              <a:rPr lang="ru-RU" dirty="0"/>
              <a:t>Их эксплуатируют более года. Например, предприятие купило станок, который прослужит несколько лет, или построила капитальный склад для долгосрочного хранения товаров.</a:t>
            </a:r>
          </a:p>
          <a:p>
            <a:r>
              <a:rPr lang="ru-RU" dirty="0"/>
              <a:t>У них материально-вещественная форма. Это значит, что объекты можно потрогать, увидеть, измерить. </a:t>
            </a:r>
            <a:r>
              <a:rPr lang="ru-RU" dirty="0" smtClean="0"/>
              <a:t>Программы </a:t>
            </a:r>
            <a:r>
              <a:rPr lang="ru-RU" dirty="0"/>
              <a:t>для компьютера или права аренды к основным средствам не относятся — это нематериальные активы.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860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7166" y="1"/>
            <a:ext cx="11464834" cy="63572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Учет и оценка ОФП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7166" y="870858"/>
            <a:ext cx="11464834" cy="42584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Учет в натуральных показателях </a:t>
            </a:r>
            <a:r>
              <a:rPr lang="ru-RU" dirty="0"/>
              <a:t>необходим для определения количества </a:t>
            </a:r>
            <a:r>
              <a:rPr lang="ru-RU" dirty="0" smtClean="0"/>
              <a:t>и производственной </a:t>
            </a:r>
            <a:r>
              <a:rPr lang="ru-RU" dirty="0"/>
              <a:t>мощности основных производственных фондов </a:t>
            </a:r>
            <a:r>
              <a:rPr lang="ru-RU" dirty="0" smtClean="0"/>
              <a:t>строительной организации</a:t>
            </a:r>
            <a:r>
              <a:rPr lang="ru-RU" dirty="0"/>
              <a:t>. Этот вид учета основан на паспортных данных основных </a:t>
            </a:r>
            <a:r>
              <a:rPr lang="ru-RU" dirty="0" smtClean="0"/>
              <a:t>фондов, которые </a:t>
            </a:r>
            <a:r>
              <a:rPr lang="ru-RU" dirty="0"/>
              <a:t>фиксируют время приобретения или постройки, содержат </a:t>
            </a:r>
            <a:r>
              <a:rPr lang="ru-RU" dirty="0" smtClean="0"/>
              <a:t>технические характеристики </a:t>
            </a:r>
            <a:r>
              <a:rPr lang="ru-RU" dirty="0"/>
              <a:t>фондов, а также информацию по изменению их состояния (</a:t>
            </a:r>
            <a:r>
              <a:rPr lang="ru-RU" dirty="0" smtClean="0"/>
              <a:t>ремонт, модернизация, реконструкция</a:t>
            </a:r>
            <a:r>
              <a:rPr lang="ru-RU" dirty="0"/>
              <a:t> </a:t>
            </a:r>
            <a:r>
              <a:rPr lang="ru-RU" dirty="0" smtClean="0"/>
              <a:t>и</a:t>
            </a:r>
            <a:r>
              <a:rPr lang="ru-RU" dirty="0"/>
              <a:t> </a:t>
            </a:r>
            <a:r>
              <a:rPr lang="ru-RU" dirty="0" smtClean="0"/>
              <a:t>т.д.).</a:t>
            </a:r>
            <a:r>
              <a:rPr lang="ru-RU" dirty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Наиболее часто</a:t>
            </a:r>
            <a:r>
              <a:rPr lang="ru-RU" dirty="0"/>
              <a:t> </a:t>
            </a:r>
            <a:r>
              <a:rPr lang="ru-RU" dirty="0" smtClean="0"/>
              <a:t>встречающимися</a:t>
            </a:r>
            <a:r>
              <a:rPr lang="ru-RU" dirty="0"/>
              <a:t> </a:t>
            </a:r>
            <a:r>
              <a:rPr lang="ru-RU" dirty="0" smtClean="0"/>
              <a:t>натуральными </a:t>
            </a:r>
            <a:r>
              <a:rPr lang="ru-RU" dirty="0"/>
              <a:t>показателями, которые применяются для учета основных </a:t>
            </a:r>
            <a:r>
              <a:rPr lang="ru-RU" dirty="0" smtClean="0"/>
              <a:t>фондов, являются</a:t>
            </a:r>
            <a:r>
              <a:rPr lang="ru-RU" dirty="0"/>
              <a:t>: общая и полезная площадь зданий и сооружений, имеющихся на </a:t>
            </a:r>
            <a:r>
              <a:rPr lang="ru-RU" dirty="0" smtClean="0"/>
              <a:t>балансе строительной </a:t>
            </a:r>
            <a:r>
              <a:rPr lang="ru-RU" dirty="0"/>
              <a:t>организации, количество и общая мощность по отдельным видам </a:t>
            </a:r>
            <a:r>
              <a:rPr lang="ru-RU" dirty="0" smtClean="0"/>
              <a:t>строительных </a:t>
            </a:r>
            <a:r>
              <a:rPr lang="ru-RU" dirty="0"/>
              <a:t>машин, средняя их единичная мощность, а </a:t>
            </a:r>
            <a:r>
              <a:rPr lang="ru-RU" dirty="0" smtClean="0"/>
              <a:t>также показатель технической и эксплуатационной производительности машин.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Перечисленные показатели дают представление о количественном составе </a:t>
            </a:r>
            <a:r>
              <a:rPr lang="ru-RU" dirty="0" smtClean="0"/>
              <a:t>основных  фондов </a:t>
            </a:r>
            <a:r>
              <a:rPr lang="ru-RU" dirty="0"/>
              <a:t>и технико-экономических показателях их функционирования, однако </a:t>
            </a:r>
            <a:r>
              <a:rPr lang="ru-RU" dirty="0" smtClean="0"/>
              <a:t>при этом </a:t>
            </a:r>
            <a:r>
              <a:rPr lang="ru-RU" dirty="0"/>
              <a:t>отсутствует возможность сопоставления различных объектов учета и </a:t>
            </a:r>
            <a:r>
              <a:rPr lang="ru-RU" dirty="0" smtClean="0"/>
              <a:t>нет представления </a:t>
            </a:r>
            <a:r>
              <a:rPr lang="ru-RU" dirty="0"/>
              <a:t>об их общей величине.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615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57646" y="391886"/>
            <a:ext cx="11434354" cy="567798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>
                <a:solidFill>
                  <a:schemeClr val="tx1"/>
                </a:solidFill>
                <a:latin typeface="Open Sans"/>
              </a:rPr>
              <a:t>Учет в стоимостной (денежной) форме выполняется для определения числовых показателей основных фондов, без которых нельзя судить о состоянии экономического положения предприятия (динамика, структура, расчет амортизационных отчислений, экономическая эффективность капитальных вложений и так далее). Эти оценки делают по первоначальной, восстановительной, а также по остаточной стоимости (первоначальной стоимости с учетом износа).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chemeClr val="tx1"/>
                </a:solidFill>
                <a:latin typeface="Open Sans"/>
              </a:rPr>
              <a:t>Первоначальная стоимость </a:t>
            </a:r>
            <a:r>
              <a:rPr lang="ru-RU" dirty="0">
                <a:solidFill>
                  <a:schemeClr val="tx1"/>
                </a:solidFill>
                <a:latin typeface="Open Sans"/>
              </a:rPr>
              <a:t>– это фактические затраты, произведенные на сооружение зданий, приобретение машин и оборудования, изготовление, включая расходы по транспортировке и монтажу в ценах года приобретения или создания. Одинаковые виды основных фондов, которые построены или приобретены в различные промежутки времени, могут обладать и разной первоначальной стоимостью. В первую очередь это зависит от изменения цен на основные средства и стоимости строительно-монтажных работ вследствие технического прогресса и других факторов</a:t>
            </a:r>
            <a:r>
              <a:rPr lang="ru-RU" dirty="0" smtClean="0">
                <a:solidFill>
                  <a:schemeClr val="tx1"/>
                </a:solidFill>
                <a:latin typeface="Open Sans"/>
              </a:rPr>
              <a:t>.</a:t>
            </a:r>
          </a:p>
          <a:p>
            <a:pPr marL="0" indent="0" algn="just">
              <a:buNone/>
            </a:pPr>
            <a:r>
              <a:rPr lang="ru-RU" dirty="0">
                <a:solidFill>
                  <a:schemeClr val="tx1"/>
                </a:solidFill>
                <a:latin typeface="Open Sans"/>
              </a:rPr>
              <a:t>От источников поступления основных фондов (средств) на предприятие, главным образом, зависят методы оценки. </a:t>
            </a:r>
            <a:endParaRPr lang="ru-RU" dirty="0" smtClean="0">
              <a:solidFill>
                <a:schemeClr val="tx1"/>
              </a:solidFill>
              <a:latin typeface="Open Sans"/>
            </a:endParaRPr>
          </a:p>
          <a:p>
            <a:pPr marL="0" indent="0" algn="just">
              <a:buNone/>
            </a:pPr>
            <a:r>
              <a:rPr lang="ru-RU" b="1" dirty="0" smtClean="0">
                <a:solidFill>
                  <a:schemeClr val="tx1"/>
                </a:solidFill>
                <a:latin typeface="Open Sans"/>
              </a:rPr>
              <a:t>В </a:t>
            </a:r>
            <a:r>
              <a:rPr lang="ru-RU" b="1" dirty="0">
                <a:solidFill>
                  <a:schemeClr val="tx1"/>
                </a:solidFill>
                <a:latin typeface="Open Sans"/>
              </a:rPr>
              <a:t>перечень, поступающих за счет капитальных вложений организации первоначальной стоимости основных фондов входят:</a:t>
            </a:r>
          </a:p>
          <a:p>
            <a:pPr marL="0" indent="0" algn="just">
              <a:buNone/>
            </a:pPr>
            <a:r>
              <a:rPr lang="ru-RU" dirty="0">
                <a:solidFill>
                  <a:schemeClr val="tx1"/>
                </a:solidFill>
                <a:latin typeface="Open Sans"/>
              </a:rPr>
              <a:t>- фактические затраты на их сооружение, а также их приобретение;</a:t>
            </a:r>
          </a:p>
          <a:p>
            <a:pPr marL="0" indent="0" algn="just">
              <a:buNone/>
            </a:pPr>
            <a:r>
              <a:rPr lang="ru-RU" dirty="0">
                <a:solidFill>
                  <a:schemeClr val="tx1"/>
                </a:solidFill>
                <a:latin typeface="Open Sans"/>
              </a:rPr>
              <a:t>- расходы на доставку и установку, за исключением налога на добавленную стоимость и иных возмещаемых налогов (кроме случаев, предусмотренных законодательством РФ).</a:t>
            </a:r>
          </a:p>
          <a:p>
            <a:pPr algn="just"/>
            <a:endParaRPr lang="ru-RU" dirty="0">
              <a:solidFill>
                <a:schemeClr val="tx1"/>
              </a:solidFill>
              <a:latin typeface="Open Sans"/>
            </a:endParaRP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845" y="5915594"/>
            <a:ext cx="6701550" cy="86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2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1851" y="339634"/>
            <a:ext cx="11530149" cy="27257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Восстановительная стоимость </a:t>
            </a:r>
            <a:r>
              <a:rPr lang="ru-RU" dirty="0"/>
              <a:t>— это стоимость основных производственных фондов, приведенная к условиям и ценам года воспроизводства основных фондов. Данный вид оценки стоимости позволяет определить реальную стоимость средств труда с учетом современных условий общественного производства, роста технического уровня и повышения производительной силы труда при их воспроизводстве. Оценка основных производственных фондов по восстановительной стоимости дает возможность получить сопоставимые данные для характеристики объемов, структуры и состава основных производственных фондов, а также более точно определить эффективность их использования. Применение данного вида оценки фондов связано с проведением периодических переоценок стоимости фондов, что является трудоемким и относительно длительным процессом.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61850" y="3065415"/>
            <a:ext cx="1159110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Остаточная стоимость (первоначальная </a:t>
            </a:r>
            <a:r>
              <a:rPr lang="ru-RU" b="1" dirty="0" err="1"/>
              <a:t>Фпо</a:t>
            </a:r>
            <a:r>
              <a:rPr lang="ru-RU" b="1" dirty="0"/>
              <a:t> либо восстановительная </a:t>
            </a:r>
            <a:r>
              <a:rPr lang="ru-RU" b="1" dirty="0" err="1" smtClean="0"/>
              <a:t>Фво</a:t>
            </a:r>
            <a:r>
              <a:rPr lang="ru-RU" b="1" dirty="0" smtClean="0"/>
              <a:t>) </a:t>
            </a:r>
            <a:r>
              <a:rPr lang="ru-RU" dirty="0" smtClean="0"/>
              <a:t>выражает </a:t>
            </a:r>
            <a:r>
              <a:rPr lang="ru-RU" dirty="0"/>
              <a:t>стоимость основных фондов, еще не перенесенную на </a:t>
            </a:r>
            <a:r>
              <a:rPr lang="ru-RU" dirty="0" smtClean="0"/>
              <a:t>стоимость производимой </a:t>
            </a:r>
            <a:r>
              <a:rPr lang="ru-RU" dirty="0"/>
              <a:t>продукции (строительно-монтажные работы), и </a:t>
            </a:r>
            <a:r>
              <a:rPr lang="ru-RU" dirty="0" smtClean="0"/>
              <a:t>позволяет установить</a:t>
            </a:r>
            <a:r>
              <a:rPr lang="ru-RU" dirty="0"/>
              <a:t>, какая часть основных производственных фондов изношена и учтена </a:t>
            </a:r>
            <a:r>
              <a:rPr lang="ru-RU" dirty="0" smtClean="0"/>
              <a:t>в себестоимости </a:t>
            </a:r>
            <a:r>
              <a:rPr lang="ru-RU" dirty="0"/>
              <a:t>работ. Остаточная стоимость характеризует собой </a:t>
            </a:r>
            <a:r>
              <a:rPr lang="ru-RU" dirty="0" smtClean="0"/>
              <a:t>фактическую стоимость </a:t>
            </a:r>
            <a:r>
              <a:rPr lang="ru-RU" dirty="0"/>
              <a:t>фондов на момент оценки и позволяет оценить качественное </a:t>
            </a:r>
            <a:r>
              <a:rPr lang="ru-RU" dirty="0" smtClean="0"/>
              <a:t>состояние основных </a:t>
            </a:r>
            <a:r>
              <a:rPr lang="ru-RU" dirty="0"/>
              <a:t>фондов строительной организации.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518" y="4542743"/>
            <a:ext cx="3610899" cy="91014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22809" y="5452887"/>
            <a:ext cx="114691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Ликвидационной </a:t>
            </a:r>
            <a:r>
              <a:rPr lang="ru-RU" b="1" dirty="0"/>
              <a:t>стоимостью (ЛС) объекта </a:t>
            </a:r>
            <a:r>
              <a:rPr lang="ru-RU" dirty="0"/>
              <a:t>основных средств (ОС) считается величина, которую организация получила бы в случае выбытия данного объекта, после вычета предполагаемых затрат на выбытие. При этом объект основных средств рассматривается таким образом, как если бы он уже достиг окончания срока полезного использования (СПИ) и находился бы в состоянии, характерном для конца срока полезного использования </a:t>
            </a:r>
          </a:p>
        </p:txBody>
      </p:sp>
    </p:spTree>
    <p:extLst>
      <p:ext uri="{BB962C8B-B14F-4D97-AF65-F5344CB8AC3E}">
        <p14:creationId xmlns:p14="http://schemas.microsoft.com/office/powerpoint/2010/main" val="207529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9748" y="0"/>
            <a:ext cx="11482252" cy="59218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Износ основных фондов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9748" y="853439"/>
            <a:ext cx="11482252" cy="59305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Износ основных фондов — это частичная или полная утрата основными фондами потребительских свойств </a:t>
            </a:r>
            <a:r>
              <a:rPr lang="ru-RU" dirty="0" smtClean="0">
                <a:solidFill>
                  <a:schemeClr val="tx1"/>
                </a:solidFill>
              </a:rPr>
              <a:t>и </a:t>
            </a:r>
            <a:r>
              <a:rPr lang="ru-RU" dirty="0">
                <a:solidFill>
                  <a:schemeClr val="tx1"/>
                </a:solidFill>
              </a:rPr>
              <a:t>стоимости как в процессе эксплуатации, так и при их </a:t>
            </a:r>
            <a:r>
              <a:rPr lang="ru-RU" dirty="0" smtClean="0">
                <a:solidFill>
                  <a:schemeClr val="tx1"/>
                </a:solidFill>
              </a:rPr>
              <a:t>бездействии.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  <a:latin typeface="YS Text"/>
              </a:rPr>
              <a:t>Различают две формы износа основных фондов: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solidFill>
                  <a:schemeClr val="tx1"/>
                </a:solidFill>
                <a:latin typeface="YS Text"/>
              </a:rPr>
              <a:t>Физический</a:t>
            </a:r>
            <a:r>
              <a:rPr lang="ru-RU" dirty="0">
                <a:solidFill>
                  <a:schemeClr val="tx1"/>
                </a:solidFill>
                <a:latin typeface="YS Text"/>
              </a:rPr>
              <a:t>. Материалы, из которых изготовлен объект, с течением времени утрачивают свои первоначальные свойства — ветшают, ржавеют, истончаются.</a:t>
            </a:r>
          </a:p>
          <a:p>
            <a:pPr marL="0" indent="0">
              <a:buNone/>
            </a:pPr>
            <a:r>
              <a:rPr lang="ru-RU" b="1" dirty="0" smtClean="0">
                <a:solidFill>
                  <a:schemeClr val="tx1"/>
                </a:solidFill>
              </a:rPr>
              <a:t>В</a:t>
            </a:r>
            <a:r>
              <a:rPr lang="ru-RU" b="1" dirty="0">
                <a:solidFill>
                  <a:schemeClr val="tx1"/>
                </a:solidFill>
              </a:rPr>
              <a:t> зависимости от степени износа</a:t>
            </a:r>
            <a:r>
              <a:rPr lang="ru-RU" dirty="0">
                <a:solidFill>
                  <a:schemeClr val="tx1"/>
                </a:solidFill>
              </a:rPr>
              <a:t> выделяют:</a:t>
            </a:r>
          </a:p>
          <a:p>
            <a:r>
              <a:rPr lang="ru-RU" b="1" dirty="0">
                <a:solidFill>
                  <a:schemeClr val="tx1"/>
                </a:solidFill>
              </a:rPr>
              <a:t>Частичный износ</a:t>
            </a:r>
            <a:r>
              <a:rPr lang="ru-RU" dirty="0">
                <a:solidFill>
                  <a:schemeClr val="tx1"/>
                </a:solidFill>
              </a:rPr>
              <a:t> — потеря стоимости и свойств, которую можно возместить путём проведения ремонта, вернув основному средству значительную часть первоначальных характеристик.</a:t>
            </a:r>
          </a:p>
          <a:p>
            <a:r>
              <a:rPr lang="ru-RU" b="1" dirty="0">
                <a:solidFill>
                  <a:schemeClr val="tx1"/>
                </a:solidFill>
              </a:rPr>
              <a:t>Полный износ</a:t>
            </a:r>
            <a:r>
              <a:rPr lang="ru-RU" dirty="0">
                <a:solidFill>
                  <a:schemeClr val="tx1"/>
                </a:solidFill>
              </a:rPr>
              <a:t> — основное средство подлежит замене (возмещению) путём приобретения взамен его нового (оборудование, инструмент и т. п.) либо капитального строительства (здания и сооружения</a:t>
            </a:r>
            <a:r>
              <a:rPr lang="ru-RU" dirty="0" smtClean="0">
                <a:solidFill>
                  <a:schemeClr val="tx1"/>
                </a:solidFill>
              </a:rPr>
              <a:t>).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YS Text"/>
              </a:rPr>
              <a:t>2. Моральный. </a:t>
            </a:r>
            <a:r>
              <a:rPr lang="ru-RU" dirty="0">
                <a:solidFill>
                  <a:schemeClr val="tx1"/>
                </a:solidFill>
                <a:latin typeface="YS Text"/>
              </a:rPr>
              <a:t>По физическим показателям объект основных фондов ещё пригоден к эксплуатации, но его использование становится нерентабельным из-за функционального устаревания</a:t>
            </a:r>
            <a:r>
              <a:rPr lang="ru-RU" dirty="0" smtClean="0">
                <a:solidFill>
                  <a:schemeClr val="tx1"/>
                </a:solidFill>
                <a:latin typeface="YS Text"/>
              </a:rPr>
              <a:t>.</a:t>
            </a:r>
          </a:p>
          <a:p>
            <a:pPr marL="0" indent="0">
              <a:buNone/>
            </a:pPr>
            <a:r>
              <a:rPr lang="ru-RU" b="1" dirty="0">
                <a:latin typeface="YS Text"/>
              </a:rPr>
              <a:t>Существует два вида морального износа</a:t>
            </a:r>
            <a:r>
              <a:rPr lang="ru-RU" dirty="0">
                <a:latin typeface="YS Text"/>
              </a:rPr>
              <a:t>:</a:t>
            </a:r>
          </a:p>
          <a:p>
            <a:r>
              <a:rPr lang="ru-RU" b="1" dirty="0">
                <a:latin typeface="YS Text"/>
              </a:rPr>
              <a:t>Моральный износ первого вида</a:t>
            </a:r>
            <a:r>
              <a:rPr lang="ru-RU" dirty="0">
                <a:latin typeface="YS Text"/>
              </a:rPr>
              <a:t> выражается в уменьшении стоимости объекта из-за удешевления воспроизводства его аналогов. Например, ноутбук, который два года назад стоил 25 000 рублей, сегодня можно приобрести за 15 000 рублей.</a:t>
            </a:r>
          </a:p>
          <a:p>
            <a:r>
              <a:rPr lang="ru-RU" b="1" dirty="0">
                <a:latin typeface="YS Text"/>
              </a:rPr>
              <a:t>Суть морального износа второго вида</a:t>
            </a:r>
            <a:r>
              <a:rPr lang="ru-RU" dirty="0">
                <a:latin typeface="YS Text"/>
              </a:rPr>
              <a:t> заключается в появлении более производительной техники. Даже если стоимость воспроизводства не изменилась, использование устаревшего оборудования становится менее выгодным по сравнению с новыми моделями.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YS Text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528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593" y="836022"/>
            <a:ext cx="11477897" cy="4859383"/>
          </a:xfrm>
        </p:spPr>
        <p:txBody>
          <a:bodyPr>
            <a:normAutofit/>
          </a:bodyPr>
          <a:lstStyle/>
          <a:p>
            <a:pPr indent="0" eaLnBrk="1" hangingPunct="1">
              <a:buFont typeface="Wingdings" panose="05000000000000000000" pitchFamily="2" charset="2"/>
              <a:buNone/>
            </a:pPr>
            <a:r>
              <a:rPr lang="ru-RU" altLang="ru-RU" sz="2400" dirty="0" smtClean="0"/>
              <a:t>Для </a:t>
            </a:r>
            <a:r>
              <a:rPr lang="ru-RU" altLang="ru-RU" sz="2400" dirty="0"/>
              <a:t>своевременной замены изношенных и устаревших средств труда необходимо, чтобы стоимость выбывающих объектов основного капитала была </a:t>
            </a:r>
            <a:r>
              <a:rPr lang="ru-RU" altLang="ru-RU" sz="2400" b="1" dirty="0"/>
              <a:t>полностью перенесена на готовую продукцию</a:t>
            </a:r>
            <a:r>
              <a:rPr lang="ru-RU" altLang="ru-RU" sz="2400" dirty="0"/>
              <a:t>, т.е. в амортизационном фонде предприятия должны быть накоплены необходимые </a:t>
            </a:r>
            <a:r>
              <a:rPr lang="ru-RU" altLang="ru-RU" sz="2400" dirty="0" smtClean="0"/>
              <a:t>средства.</a:t>
            </a:r>
          </a:p>
          <a:p>
            <a:pPr indent="0" eaLnBrk="1" hangingPunct="1">
              <a:buFont typeface="Wingdings" panose="05000000000000000000" pitchFamily="2" charset="2"/>
              <a:buNone/>
            </a:pPr>
            <a:r>
              <a:rPr lang="ru-RU" altLang="ru-RU" sz="2400" b="1" dirty="0" smtClean="0"/>
              <a:t>Амортизация</a:t>
            </a:r>
            <a:r>
              <a:rPr lang="ru-RU" altLang="ru-RU" sz="2400" dirty="0" smtClean="0"/>
              <a:t> </a:t>
            </a:r>
            <a:r>
              <a:rPr lang="ru-RU" altLang="ru-RU" sz="2400" dirty="0"/>
              <a:t>– процесс переноса стоимости основных фондов по мере их износа на производимую продукцию.</a:t>
            </a:r>
          </a:p>
          <a:p>
            <a:pPr indent="0">
              <a:buNone/>
            </a:pPr>
            <a:r>
              <a:rPr lang="ru-RU" altLang="ru-RU" sz="2400" b="1" dirty="0" smtClean="0"/>
              <a:t>Амортизационные </a:t>
            </a:r>
            <a:r>
              <a:rPr lang="ru-RU" altLang="ru-RU" sz="2400" b="1" dirty="0"/>
              <a:t>отчисления</a:t>
            </a:r>
            <a:r>
              <a:rPr lang="ru-RU" altLang="ru-RU" sz="2400" dirty="0"/>
              <a:t> – денежное выражение перенесенной на продукцию стоимости ОФ, определенные по нормам амортизации.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ru-RU" altLang="ru-RU" sz="2400" dirty="0"/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714102" y="0"/>
            <a:ext cx="11477897" cy="574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ru-RU" altLang="ru-RU" sz="2800" b="1" dirty="0" smtClean="0"/>
              <a:t> </a:t>
            </a:r>
            <a:r>
              <a:rPr lang="ru-RU" altLang="ru-RU" sz="2800" b="1" dirty="0"/>
              <a:t>ПОНЯТИЕ АМОРТИЗАЦИИ</a:t>
            </a:r>
          </a:p>
        </p:txBody>
      </p:sp>
    </p:spTree>
    <p:extLst>
      <p:ext uri="{BB962C8B-B14F-4D97-AF65-F5344CB8AC3E}">
        <p14:creationId xmlns:p14="http://schemas.microsoft.com/office/powerpoint/2010/main" val="340230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679268" y="0"/>
            <a:ext cx="11512732" cy="1184366"/>
          </a:xfrm>
        </p:spPr>
        <p:txBody>
          <a:bodyPr/>
          <a:lstStyle/>
          <a:p>
            <a:pPr eaLnBrk="1" hangingPunct="1"/>
            <a:r>
              <a:rPr lang="ru-RU" altLang="ru-RU" sz="3200" b="1" dirty="0" smtClean="0">
                <a:solidFill>
                  <a:schemeClr val="tx1"/>
                </a:solidFill>
              </a:rPr>
              <a:t>Все </a:t>
            </a:r>
            <a:r>
              <a:rPr lang="ru-RU" altLang="ru-RU" sz="3200" b="1" dirty="0">
                <a:solidFill>
                  <a:schemeClr val="tx1"/>
                </a:solidFill>
              </a:rPr>
              <a:t>методы расчета амортизационных отчислений можно разделить на 2 группы</a:t>
            </a: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4250272244"/>
              </p:ext>
            </p:extLst>
          </p:nvPr>
        </p:nvGraphicFramePr>
        <p:xfrm>
          <a:off x="775063" y="1280160"/>
          <a:ext cx="11347268" cy="5077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1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dirty="0"/>
              <a:t>Принципиальное различие между группами: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b="1" smtClean="0"/>
              <a:t>1 группа:</a:t>
            </a:r>
            <a:r>
              <a:rPr lang="ru-RU" altLang="ru-RU" smtClean="0"/>
              <a:t> амортизационные отчисления ежегодно рассчитываются по одной и той же норме от первоначальной стоимости (в течение всего срока функционирования);</a:t>
            </a:r>
          </a:p>
          <a:p>
            <a:pPr eaLnBrk="1" hangingPunct="1"/>
            <a:r>
              <a:rPr lang="ru-RU" altLang="ru-RU" b="1" smtClean="0"/>
              <a:t>2 группа:</a:t>
            </a:r>
            <a:r>
              <a:rPr lang="ru-RU" altLang="ru-RU" smtClean="0"/>
              <a:t> основная часть амортизационных отчислений концентрируется в первые годы эксплуатации.</a:t>
            </a:r>
          </a:p>
        </p:txBody>
      </p:sp>
    </p:spTree>
    <p:extLst>
      <p:ext uri="{BB962C8B-B14F-4D97-AF65-F5344CB8AC3E}">
        <p14:creationId xmlns:p14="http://schemas.microsoft.com/office/powerpoint/2010/main" val="121341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800" b="1" i="1"/>
              <a:t>Рассмотрим практику применения каждого из методов расчета амортизации: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05394" y="1676401"/>
            <a:ext cx="11486606" cy="1833154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dirty="0" smtClean="0"/>
              <a:t>	1.1. По установленным фиксированным нормам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sz="2400" dirty="0"/>
              <a:t>	Устанавливается только норма амортизации (Н.А.,%), которая всегда применяется к </a:t>
            </a:r>
            <a:r>
              <a:rPr lang="ru-RU" altLang="ru-RU" sz="2400" b="1" i="1" dirty="0"/>
              <a:t>первоначальной стоимости.</a:t>
            </a:r>
            <a:endParaRPr lang="en-US" altLang="ru-RU" sz="2400" b="1" i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sz="2400" dirty="0"/>
              <a:t> </a:t>
            </a:r>
            <a:endParaRPr lang="ru-RU" altLang="ru-RU" sz="2400" b="1" i="1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881" y="3326676"/>
            <a:ext cx="8932655" cy="219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6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Пример:</a:t>
            </a:r>
          </a:p>
        </p:txBody>
      </p:sp>
      <p:graphicFrame>
        <p:nvGraphicFramePr>
          <p:cNvPr id="30842" name="Group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888729"/>
              </p:ext>
            </p:extLst>
          </p:nvPr>
        </p:nvGraphicFramePr>
        <p:xfrm>
          <a:off x="1306288" y="1872344"/>
          <a:ext cx="10702831" cy="3796936"/>
        </p:xfrm>
        <a:graphic>
          <a:graphicData uri="http://schemas.openxmlformats.org/drawingml/2006/table">
            <a:tbl>
              <a:tblPr/>
              <a:tblGrid>
                <a:gridCol w="1709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9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8439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</a:t>
                      </a:r>
                      <a:r>
                        <a:rPr kumimoji="0" lang="en-US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ru-RU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имущества</a:t>
                      </a:r>
                      <a:endParaRPr kumimoji="0" lang="en-US" altLang="ru-RU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Первонач</a:t>
                      </a:r>
                      <a:r>
                        <a:rPr kumimoji="0" lang="ru-RU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стоимость т.р.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Годовая</a:t>
                      </a:r>
                      <a:r>
                        <a:rPr kumimoji="0" lang="ru-RU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Н.А.</a:t>
                      </a: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%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tabLst>
                          <a:tab pos="349250" algn="l"/>
                        </a:tabLst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tabLst>
                          <a:tab pos="349250" algn="l"/>
                        </a:tabLs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349250" algn="l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tabLst>
                          <a:tab pos="349250" algn="l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349250" algn="l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349250" algn="l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349250" algn="l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349250" algn="l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349250" algn="l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9250" algn="l"/>
                        </a:tabLst>
                      </a:pPr>
                      <a:r>
                        <a:rPr kumimoji="0" lang="ru-RU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рок эксплуатации, лет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Годовая сумма </a:t>
                      </a:r>
                      <a:r>
                        <a:rPr kumimoji="0" lang="ru-RU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А.О. </a:t>
                      </a: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т.р.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83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Здание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20000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70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Оборудо</a:t>
                      </a:r>
                      <a:r>
                        <a:rPr kumimoji="0" lang="ru-RU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вание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</a:t>
                      </a:r>
                      <a:endParaRPr kumimoji="0" lang="en-US" alt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kumimoji="0" lang="en-US" altLang="ru-RU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35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1.2. При линейном методе: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2286000"/>
            <a:ext cx="9601200" cy="94488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ru-RU" altLang="ru-RU" dirty="0" smtClean="0"/>
              <a:t>Годовая сумма амортизационных отчислений определяется исходя из первоначальной стоимости объекта основных средств и нормы амортизации, исчисленной исходя из срока его полезного использования.</a:t>
            </a:r>
          </a:p>
        </p:txBody>
      </p:sp>
    </p:spTree>
    <p:extLst>
      <p:ext uri="{BB962C8B-B14F-4D97-AF65-F5344CB8AC3E}">
        <p14:creationId xmlns:p14="http://schemas.microsoft.com/office/powerpoint/2010/main" val="421693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Пример: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2286000"/>
            <a:ext cx="9601200" cy="180702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sz="2400" dirty="0"/>
              <a:t>Первоначальная стоимость оборудования 150000</a:t>
            </a:r>
            <a:r>
              <a:rPr lang="en-US" altLang="ru-RU" sz="2400" dirty="0"/>
              <a:t> </a:t>
            </a:r>
            <a:r>
              <a:rPr lang="ru-RU" altLang="ru-RU" sz="2400" dirty="0"/>
              <a:t>рублей. Срок его полезного использования – 5 лет. </a:t>
            </a:r>
            <a:endParaRPr lang="en-US" altLang="ru-RU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ru-RU" altLang="ru-RU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sz="2400" dirty="0"/>
              <a:t>Найдем:</a:t>
            </a:r>
          </a:p>
          <a:p>
            <a:pPr eaLnBrk="1" hangingPunct="1">
              <a:lnSpc>
                <a:spcPct val="50000"/>
              </a:lnSpc>
              <a:buFont typeface="Wingdings" panose="05000000000000000000" pitchFamily="2" charset="2"/>
              <a:buNone/>
            </a:pPr>
            <a:endParaRPr lang="ru-RU" altLang="ru-RU" sz="2400" b="1" i="1" u="sng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554" y="4207329"/>
            <a:ext cx="9135750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5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Расчеты по годам эксплуатации:</a:t>
            </a:r>
          </a:p>
        </p:txBody>
      </p:sp>
      <p:graphicFrame>
        <p:nvGraphicFramePr>
          <p:cNvPr id="34958" name="Group 142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585447141"/>
              </p:ext>
            </p:extLst>
          </p:nvPr>
        </p:nvGraphicFramePr>
        <p:xfrm>
          <a:off x="1358537" y="1676400"/>
          <a:ext cx="9858102" cy="4487864"/>
        </p:xfrm>
        <a:graphic>
          <a:graphicData uri="http://schemas.openxmlformats.org/drawingml/2006/table">
            <a:tbl>
              <a:tblPr/>
              <a:tblGrid>
                <a:gridCol w="1755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9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5993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Конец года</a:t>
                      </a:r>
                      <a:endParaRPr kumimoji="0" lang="en-US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Годовая</a:t>
                      </a:r>
                      <a:r>
                        <a:rPr kumimoji="0" lang="en-US" alt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</a:t>
                      </a:r>
                      <a:r>
                        <a:rPr kumimoji="0" lang="en-US" alt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амортизационных</a:t>
                      </a:r>
                      <a:r>
                        <a:rPr kumimoji="0" lang="en-US" alt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отчислений</a:t>
                      </a:r>
                      <a:r>
                        <a:rPr kumimoji="0" lang="en-US" alt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т.р</a:t>
                      </a:r>
                      <a:r>
                        <a:rPr kumimoji="0" lang="en-US" alt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kumimoji="0" lang="en-US" alt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Остаточная стоимость, т.р.</a:t>
                      </a:r>
                      <a:endParaRPr kumimoji="0" lang="en-US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Накопленный износ, т.р.</a:t>
                      </a:r>
                      <a:endParaRPr kumimoji="0" lang="en-US" alt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4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0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4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4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46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150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36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600"/>
              <a:t>Схема амортизации может быть выражена </a:t>
            </a:r>
            <a:r>
              <a:rPr lang="ru-RU" altLang="ru-RU" sz="3600" b="1"/>
              <a:t>линейным</a:t>
            </a:r>
            <a:r>
              <a:rPr lang="ru-RU" altLang="ru-RU" sz="3600"/>
              <a:t> графиком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5623" y="1863634"/>
            <a:ext cx="8847727" cy="4283167"/>
          </a:xfrm>
        </p:spPr>
        <p:txBody>
          <a:bodyPr/>
          <a:lstStyle/>
          <a:p>
            <a:pPr marL="609600" indent="-609600">
              <a:buNone/>
            </a:pPr>
            <a:r>
              <a:rPr lang="ru-RU" altLang="ru-RU" dirty="0" smtClean="0"/>
              <a:t>Выводы: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ru-RU" altLang="ru-RU" dirty="0" smtClean="0"/>
              <a:t>В течение всех  лет эксплуатации амортизационные отчисления одинаковы.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ru-RU" altLang="ru-RU" dirty="0" smtClean="0"/>
              <a:t>Накопленный износ увеличивается равномерно.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ru-RU" altLang="ru-RU" dirty="0" smtClean="0"/>
              <a:t>Остаточная стоимость равномерно уменьшается, пока не достигнет 0. </a:t>
            </a:r>
          </a:p>
        </p:txBody>
      </p:sp>
      <p:sp>
        <p:nvSpPr>
          <p:cNvPr id="16388" name="Rectangle 7"/>
          <p:cNvSpPr>
            <a:spLocks noChangeArrowheads="1"/>
          </p:cNvSpPr>
          <p:nvPr/>
        </p:nvSpPr>
        <p:spPr bwMode="auto">
          <a:xfrm>
            <a:off x="3376613" y="59436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9734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61851" y="374469"/>
            <a:ext cx="11530149" cy="1863634"/>
          </a:xfrm>
        </p:spPr>
        <p:txBody>
          <a:bodyPr/>
          <a:lstStyle/>
          <a:p>
            <a:pPr eaLnBrk="1" hangingPunct="1"/>
            <a:r>
              <a:rPr lang="ru-RU" altLang="ru-RU" sz="2200" b="1" dirty="0"/>
              <a:t>В сезонных производствах</a:t>
            </a:r>
            <a:r>
              <a:rPr lang="ru-RU" altLang="ru-RU" sz="2200" dirty="0"/>
              <a:t> годовая сумма амортизационных отчислений по основным средствам начисляется равномерно </a:t>
            </a:r>
            <a:r>
              <a:rPr lang="ru-RU" altLang="ru-RU" sz="2200" b="1" i="1" dirty="0"/>
              <a:t>в течение периода работы</a:t>
            </a:r>
            <a:r>
              <a:rPr lang="ru-RU" altLang="ru-RU" sz="2200" dirty="0"/>
              <a:t> организации в отчетном году.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8937" y="1515291"/>
            <a:ext cx="11443063" cy="5094515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ru-RU" altLang="ru-RU" sz="2400" b="1" dirty="0"/>
              <a:t>Пример: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dirty="0"/>
              <a:t>Организация осуществляет речные перевозки грузов в течение 7 месяцев в году.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dirty="0"/>
              <a:t>Она приобрела объект основных средств с первоначальной стоимостью 200000 руб.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dirty="0"/>
              <a:t> Срок полезного использования -10 лет.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dirty="0"/>
              <a:t>Годовая норма амортизации составит 10%.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dirty="0"/>
              <a:t>Годовая сумма амортизации 200000 х 0,1 = 20000 руб.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dirty="0"/>
              <a:t>Эта сумма будет распределяться равномерно в течение 7 месяцев работы в году: 20000 : 7 = 2857 руб./ мес.</a:t>
            </a:r>
          </a:p>
        </p:txBody>
      </p:sp>
    </p:spTree>
    <p:extLst>
      <p:ext uri="{BB962C8B-B14F-4D97-AF65-F5344CB8AC3E}">
        <p14:creationId xmlns:p14="http://schemas.microsoft.com/office/powerpoint/2010/main" val="361461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800" b="1"/>
              <a:t>1.3.</a:t>
            </a:r>
            <a:r>
              <a:rPr lang="ru-RU" altLang="ru-RU" sz="2800"/>
              <a:t> </a:t>
            </a:r>
            <a:r>
              <a:rPr lang="ru-RU" altLang="ru-RU" sz="2800" b="1"/>
              <a:t>Определение амортизационных отчислений пропорционально объему продукции (работ)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800" dirty="0"/>
              <a:t>	Начисление амортизационных отчислений производится исходя из натурального показателя объема продукции (работ) в отчетном периоде и соотношения первоначальной стоимости объекта основных фондов и предполагаемого объема продукции за весь срок полезного использования.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800" dirty="0"/>
              <a:t>	Метод основан на предположении, что амортизация является только результатом эксплуатации и отрезки времени не играют никакой роли в процессе ее начисления.   </a:t>
            </a:r>
          </a:p>
        </p:txBody>
      </p:sp>
    </p:spTree>
    <p:extLst>
      <p:ext uri="{BB962C8B-B14F-4D97-AF65-F5344CB8AC3E}">
        <p14:creationId xmlns:p14="http://schemas.microsoft.com/office/powerpoint/2010/main" val="402853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32708" y="685800"/>
            <a:ext cx="9440091" cy="812074"/>
          </a:xfrm>
        </p:spPr>
        <p:txBody>
          <a:bodyPr/>
          <a:lstStyle/>
          <a:p>
            <a:pPr eaLnBrk="1" hangingPunct="1"/>
            <a:r>
              <a:rPr lang="ru-RU" altLang="ru-RU" sz="3600" dirty="0"/>
              <a:t>Пример расчета: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9829" y="1384663"/>
            <a:ext cx="9622971" cy="4482737"/>
          </a:xfrm>
        </p:spPr>
        <p:txBody>
          <a:bodyPr/>
          <a:lstStyle/>
          <a:p>
            <a:pPr indent="0" eaLnBrk="1" hangingPunct="1">
              <a:buFont typeface="Wingdings" panose="05000000000000000000" pitchFamily="2" charset="2"/>
              <a:buNone/>
            </a:pPr>
            <a:r>
              <a:rPr lang="ru-RU" altLang="ru-RU" sz="2400" b="1" dirty="0"/>
              <a:t>Автомобиль с первоначальной стоимостью 200 </a:t>
            </a:r>
            <a:r>
              <a:rPr lang="ru-RU" altLang="ru-RU" sz="2400" b="1" dirty="0" err="1"/>
              <a:t>т.р</a:t>
            </a:r>
            <a:r>
              <a:rPr lang="ru-RU" altLang="ru-RU" sz="2400" b="1" dirty="0"/>
              <a:t>. имеет расчетный пробег за весь срок службы 100 000 км. Пробег за отчетный период составил 20 000 км.</a:t>
            </a:r>
          </a:p>
          <a:p>
            <a:pPr eaLnBrk="1" hangingPunct="1">
              <a:lnSpc>
                <a:spcPct val="50000"/>
              </a:lnSpc>
              <a:buFont typeface="Wingdings" panose="05000000000000000000" pitchFamily="2" charset="2"/>
              <a:buNone/>
            </a:pPr>
            <a:endParaRPr lang="ru-RU" altLang="ru-RU" sz="2400" b="1" i="1" dirty="0"/>
          </a:p>
        </p:txBody>
      </p:sp>
      <p:graphicFrame>
        <p:nvGraphicFramePr>
          <p:cNvPr id="38968" name="Group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186556"/>
              </p:ext>
            </p:extLst>
          </p:nvPr>
        </p:nvGraphicFramePr>
        <p:xfrm>
          <a:off x="1948882" y="4267200"/>
          <a:ext cx="9598684" cy="1849157"/>
        </p:xfrm>
        <a:graphic>
          <a:graphicData uri="http://schemas.openxmlformats.org/drawingml/2006/table">
            <a:tbl>
              <a:tblPr/>
              <a:tblGrid>
                <a:gridCol w="1229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9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04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414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Конец года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Первонач. Стоимость руб.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Пробег, км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Годовая сумма </a:t>
                      </a:r>
                      <a:r>
                        <a:rPr kumimoji="0" lang="ru-RU" altLang="ru-RU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аморт</a:t>
                      </a:r>
                      <a:r>
                        <a:rPr kumimoji="0" lang="ru-RU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  <a:r>
                        <a:rPr kumimoji="0" lang="ru-RU" altLang="ru-RU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отч</a:t>
                      </a:r>
                      <a:r>
                        <a:rPr kumimoji="0" lang="ru-RU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. руб.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Накоплен-ный износ руб.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Остаточная стоимость руб. 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0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38" y="2832537"/>
            <a:ext cx="8897592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12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Выводы: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3771" y="2020389"/>
            <a:ext cx="11408229" cy="384701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altLang="ru-RU" sz="2400" dirty="0"/>
              <a:t>Накопленный износ увеличивается ежегодно в прямой зависимости от пробега, объема выполненных работ.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dirty="0"/>
              <a:t>Остаточная стоимость ежегодно снижается пропорционально интенсивности эксплуатации. При этом срок достижения остаточной стоимости нулевого уровня никак не зависит от количества лет, прошедших  с момента ввода в эксплуатацию.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ru-RU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b="1" dirty="0"/>
              <a:t>	Итак, все методы 1 группы расчета амортизации нейтральны по отношению к научно-техническому прогрессу и не учитывают морального износа. </a:t>
            </a:r>
          </a:p>
        </p:txBody>
      </p:sp>
    </p:spTree>
    <p:extLst>
      <p:ext uri="{BB962C8B-B14F-4D97-AF65-F5344CB8AC3E}">
        <p14:creationId xmlns:p14="http://schemas.microsoft.com/office/powerpoint/2010/main" val="21494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/>
              <a:t>2.Ускоренные методы расчета амортизации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sz="2800" b="1"/>
              <a:t>2.1. Метод уменьшаемого остатка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ru-RU" altLang="ru-RU" sz="2800"/>
              <a:t>	Годовая сумма амортизационных отчислений определяется исходя из </a:t>
            </a:r>
            <a:r>
              <a:rPr lang="ru-RU" altLang="ru-RU" sz="2800" b="1" i="1"/>
              <a:t>остаточной стоимости объекта основных средств на начало отчетного периода</a:t>
            </a:r>
            <a:r>
              <a:rPr lang="ru-RU" altLang="ru-RU" sz="2800"/>
              <a:t> и нормы амортизации, исчисленной исходя из срока полезного использования. При этом чаще всего применяется удвоенная норма амортизации по сравнению с применяемой по линейному методу.</a:t>
            </a:r>
          </a:p>
        </p:txBody>
      </p:sp>
    </p:spTree>
    <p:extLst>
      <p:ext uri="{BB962C8B-B14F-4D97-AF65-F5344CB8AC3E}">
        <p14:creationId xmlns:p14="http://schemas.microsoft.com/office/powerpoint/2010/main" val="94512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Пример: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28503"/>
            <a:ext cx="9601200" cy="423889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b="1" dirty="0"/>
              <a:t>Срок полезного использования оборудования 4 года. Его первоначальная стоимость – 100000 руб.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ru-RU" altLang="ru-RU" sz="24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dirty="0"/>
              <a:t>	При использовании линейного метода норма амортизации составила бы 25%. Для метода уменьшаемого остатка увеличиваем ее в 2 раза.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b="1" i="1" dirty="0"/>
              <a:t>	Норма амортизации = 50%.</a:t>
            </a:r>
            <a:r>
              <a:rPr lang="ru-RU" altLang="ru-RU" sz="2400" dirty="0"/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 dirty="0"/>
              <a:t>	Эта ставка применяется: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2400" dirty="0"/>
              <a:t>в первый год эксплуатации: к первоначальной стоимости,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ru-RU" altLang="ru-RU" sz="2400" dirty="0"/>
              <a:t>затем: к остаточной стоимости на начало каждого следующего года (второго, третьего и четвертого).</a:t>
            </a:r>
          </a:p>
        </p:txBody>
      </p:sp>
    </p:spTree>
    <p:extLst>
      <p:ext uri="{BB962C8B-B14F-4D97-AF65-F5344CB8AC3E}">
        <p14:creationId xmlns:p14="http://schemas.microsoft.com/office/powerpoint/2010/main" val="94245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/>
              <a:t>Расчет амортизации по годам эксплуатации:                                 </a:t>
            </a:r>
            <a:r>
              <a:rPr lang="ru-RU" altLang="ru-RU" sz="2000"/>
              <a:t>руб.</a:t>
            </a:r>
          </a:p>
        </p:txBody>
      </p:sp>
      <p:graphicFrame>
        <p:nvGraphicFramePr>
          <p:cNvPr id="44109" name="Group 7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641780"/>
              </p:ext>
            </p:extLst>
          </p:nvPr>
        </p:nvGraphicFramePr>
        <p:xfrm>
          <a:off x="790113" y="1676401"/>
          <a:ext cx="11401886" cy="4555723"/>
        </p:xfrm>
        <a:graphic>
          <a:graphicData uri="http://schemas.openxmlformats.org/drawingml/2006/table">
            <a:tbl>
              <a:tblPr/>
              <a:tblGrid>
                <a:gridCol w="131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4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3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5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8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7997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Конец года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Первоначальная стоимость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Год. сумма амортиз. отчислений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Остаточная стоимость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Накопленный износ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53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 х 0,5 = 50000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22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50000 х 0,5 = 25000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72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25000 х 0,5 = 12500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87500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027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12500 х 0,5 = 6250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9375    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3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Выводы: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ru-RU" altLang="ru-RU" sz="2400"/>
              <a:t>Фиксированная норма амортизации всегда применяется к остаточной стоимости предыдущего года.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/>
              <a:t>Отчисления постепенно снижаются но никогда не происходит полного списания стоимости оборудования, т.к. отчисления всегда меньше остаточной стоимости.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/>
              <a:t>Как правило, эта остаточная стоимость должна соответствовать цене возможного приходования материалов, остающихся после ликвидации основного средства. 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/>
              <a:t>Главное достоинство (по примеру): за 2 года (50% нормативного срока эксплуатации) списывается 75% первоначальной стоимости.  </a:t>
            </a:r>
          </a:p>
        </p:txBody>
      </p:sp>
    </p:spTree>
    <p:extLst>
      <p:ext uri="{BB962C8B-B14F-4D97-AF65-F5344CB8AC3E}">
        <p14:creationId xmlns:p14="http://schemas.microsoft.com/office/powerpoint/2010/main" val="40649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2.2. Метод суммы чисел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800"/>
              <a:t>	Годовая сумма амортизационных отчислений определяется исходя из </a:t>
            </a:r>
            <a:r>
              <a:rPr lang="ru-RU" altLang="ru-RU" sz="2800" b="1" i="1"/>
              <a:t>первоначальной стоимости</a:t>
            </a:r>
            <a:r>
              <a:rPr lang="ru-RU" altLang="ru-RU" sz="2800"/>
              <a:t> объекта основных средств и </a:t>
            </a:r>
            <a:r>
              <a:rPr lang="ru-RU" altLang="ru-RU" sz="2800" b="1" i="1"/>
              <a:t>годового соотношения</a:t>
            </a:r>
            <a:r>
              <a:rPr lang="ru-RU" altLang="ru-RU" sz="2800"/>
              <a:t>, где в числителе – число лет, оставшихся до конца срока службы, а в знаменателе – сумма чисел лет срока службы объекта.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800"/>
              <a:t>	Т.е. годовая сумма амортизационных отчислений определяется путем умножения первоначальной стоимости основного средства на расчетные коэффициенты.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2800"/>
          </a:p>
        </p:txBody>
      </p:sp>
    </p:spTree>
    <p:extLst>
      <p:ext uri="{BB962C8B-B14F-4D97-AF65-F5344CB8AC3E}">
        <p14:creationId xmlns:p14="http://schemas.microsoft.com/office/powerpoint/2010/main" val="74793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Пример: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ru-RU" altLang="ru-RU" sz="2800" dirty="0"/>
              <a:t>Предполагаемый срок использования оборудования 4 года.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800" dirty="0"/>
              <a:t>Сумма чисел лет эксплуатации: 1+2+3+4=10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800" dirty="0"/>
              <a:t>Коэффициенты для расчета амортизации по годам</a:t>
            </a:r>
            <a:r>
              <a:rPr lang="ru-RU" altLang="ru-RU" sz="2800" dirty="0" smtClean="0"/>
              <a:t>:</a:t>
            </a:r>
          </a:p>
          <a:p>
            <a:pPr eaLnBrk="1" hangingPunct="1">
              <a:lnSpc>
                <a:spcPct val="80000"/>
              </a:lnSpc>
            </a:pPr>
            <a:endParaRPr lang="ru-RU" altLang="ru-RU" sz="2800" dirty="0"/>
          </a:p>
          <a:p>
            <a:pPr eaLnBrk="1" hangingPunct="1">
              <a:lnSpc>
                <a:spcPct val="80000"/>
              </a:lnSpc>
            </a:pPr>
            <a:endParaRPr lang="ru-RU" altLang="ru-RU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2800" dirty="0"/>
              <a:t>	</a:t>
            </a:r>
            <a:r>
              <a:rPr lang="ru-RU" altLang="ru-RU" sz="2800" dirty="0" smtClean="0"/>
              <a:t>Умножением </a:t>
            </a:r>
            <a:r>
              <a:rPr lang="ru-RU" altLang="ru-RU" sz="2800" dirty="0"/>
              <a:t>коэффициента (для каждого года) на первоначальную стоимость определяется ежегодная сумма амортизационных отчислений.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31" y="3922607"/>
            <a:ext cx="4601217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0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Расчет:</a:t>
            </a:r>
          </a:p>
        </p:txBody>
      </p:sp>
      <p:graphicFrame>
        <p:nvGraphicFramePr>
          <p:cNvPr id="49222" name="Group 7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665648"/>
              </p:ext>
            </p:extLst>
          </p:nvPr>
        </p:nvGraphicFramePr>
        <p:xfrm>
          <a:off x="809898" y="1506583"/>
          <a:ext cx="11286308" cy="5111930"/>
        </p:xfrm>
        <a:graphic>
          <a:graphicData uri="http://schemas.openxmlformats.org/drawingml/2006/table">
            <a:tbl>
              <a:tblPr/>
              <a:tblGrid>
                <a:gridCol w="1397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1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9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Конец года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Первонач. стоимость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Годовая сумма амортиз. отчислений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Накоплен-ный износ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Остаточн. стоимость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 х 4/10 = 40000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2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 х 3/10 = 30000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 х 2/10 = 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803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 х 1/10 = 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471488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909638"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389063"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             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59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Выводы: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520" y="1811383"/>
            <a:ext cx="10241280" cy="4056017"/>
          </a:xfrm>
        </p:spPr>
        <p:txBody>
          <a:bodyPr/>
          <a:lstStyle/>
          <a:p>
            <a:pPr eaLnBrk="1" hangingPunct="1"/>
            <a:r>
              <a:rPr lang="ru-RU" altLang="ru-RU" sz="3400" dirty="0"/>
              <a:t>Самая большая сумма амортизационных отчислений начисляется в 1 год, затем год за годом она снижается.</a:t>
            </a:r>
          </a:p>
          <a:p>
            <a:pPr eaLnBrk="1" hangingPunct="1"/>
            <a:r>
              <a:rPr lang="ru-RU" altLang="ru-RU" sz="3400" dirty="0"/>
              <a:t>Остаточная стоимость каждый год уменьшается на сумму амортизационных отчислений пока не достигнет 0.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ru-RU" altLang="ru-RU" sz="3400" dirty="0"/>
          </a:p>
        </p:txBody>
      </p:sp>
    </p:spTree>
    <p:extLst>
      <p:ext uri="{BB962C8B-B14F-4D97-AF65-F5344CB8AC3E}">
        <p14:creationId xmlns:p14="http://schemas.microsoft.com/office/powerpoint/2010/main" val="261501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Выводы: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8903" y="1793966"/>
            <a:ext cx="9953897" cy="407343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altLang="ru-RU" sz="2400" dirty="0"/>
              <a:t>Применение различных методов начисления амортизации для отдельных групп основных средств в большей степени соответствует требованиям обеспечения конкурентоспособности предприятия в рыночных условиях.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/>
              <a:t>Так, если здания и сооружения могут использоваться в течение длительного времени без существенного изменения, то по ним целесообразно применять линейный способ амортизации.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dirty="0"/>
              <a:t>А активная часть основного капитала, (та, которая обеспечивает технический прогресс), должна обновляться через 4 -6 лет и этому будет способствовать концентрация финансовых ресурсов в первые годы их внедрения и использования.  </a:t>
            </a:r>
          </a:p>
        </p:txBody>
      </p:sp>
    </p:spTree>
    <p:extLst>
      <p:ext uri="{BB962C8B-B14F-4D97-AF65-F5344CB8AC3E}">
        <p14:creationId xmlns:p14="http://schemas.microsoft.com/office/powerpoint/2010/main" val="353163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400" b="1"/>
              <a:t>Особенности применения ускоренной амортизации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ru-RU" altLang="ru-RU" sz="2400"/>
              <a:t>Ускоренная амортизация применяется только к активной части основных фондов, используемых для создания условий развития высокотехнологичных отраслей промышленности.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/>
              <a:t>Перечень отраслей, машин и оборудования по которым может быть применена ускоренная амортизация, устанавливается федеральными органами исполнительной власти.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/>
              <a:t>Ускоренная амортизация применяется в отраслях с высокими темпами морального износа.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/>
              <a:t>В промышленности ускоренную амортизацию могут применять малые предприятия. Им разрешено списывать до 50% первоначальной стоимости активной части основного капитала со сроком службы более 3 лет. </a:t>
            </a:r>
          </a:p>
        </p:txBody>
      </p:sp>
    </p:spTree>
    <p:extLst>
      <p:ext uri="{BB962C8B-B14F-4D97-AF65-F5344CB8AC3E}">
        <p14:creationId xmlns:p14="http://schemas.microsoft.com/office/powerpoint/2010/main" val="161443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808038"/>
          </a:xfrm>
        </p:spPr>
        <p:txBody>
          <a:bodyPr/>
          <a:lstStyle/>
          <a:p>
            <a:pPr eaLnBrk="1" hangingPunct="1"/>
            <a:r>
              <a:rPr lang="ru-RU" altLang="ru-RU" sz="2800" b="1"/>
              <a:t>3. Преимущества ускоренной амортизации: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354" y="1576251"/>
            <a:ext cx="11425646" cy="5092839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altLang="ru-RU" sz="1800" dirty="0"/>
              <a:t>Страхование от потерь из-за обесценивания основного капитала под влиянием НТП.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1800" dirty="0"/>
              <a:t>Повышение конкурентоспособности, т.к. накопленные амортизационные отчисления в первые годы использования оборудования позволяют приобрести более эффективное оборудование. Следовательно, снизятся издержки производства.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1800" dirty="0"/>
              <a:t>Ускоренное списание основного капитала означает более быстрое превращение производительного капитала в денежный. Следовательно, увеличивается интерес к инвестициям в производство.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1800" dirty="0"/>
              <a:t>Суммы, включенные в амортизационный фонд являются элементом себестоимости продукции, не облагаются налогами и остаются в распоряжении предприятия. Следовательно, возникает выгодность по налогам.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800" dirty="0"/>
              <a:t>	Преимущества ускоренной амортизации составляют основу амортизационной политики предприятия.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800" dirty="0"/>
              <a:t>	Ее цель – создание поля для налогового маневра тех предприятий, которые активно инвестирую в основной капитал при условии целевого использования амортизационных отчислений (на капитальные вложения), а не на оплату труда работников, например.</a:t>
            </a:r>
          </a:p>
        </p:txBody>
      </p:sp>
    </p:spTree>
    <p:extLst>
      <p:ext uri="{BB962C8B-B14F-4D97-AF65-F5344CB8AC3E}">
        <p14:creationId xmlns:p14="http://schemas.microsoft.com/office/powerpoint/2010/main" val="201487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204" y="0"/>
            <a:ext cx="11462795" cy="1018572"/>
          </a:xfrm>
        </p:spPr>
        <p:txBody>
          <a:bodyPr>
            <a:normAutofit/>
          </a:bodyPr>
          <a:lstStyle/>
          <a:p>
            <a:pPr algn="ctr"/>
            <a:r>
              <a:rPr lang="ru-RU" dirty="0" smtClean="0"/>
              <a:t>Домашнее задание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3222" y="1099595"/>
            <a:ext cx="9935244" cy="469932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983222" y="5798916"/>
            <a:ext cx="993524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 smtClean="0"/>
              <a:t>https</a:t>
            </a:r>
            <a:r>
              <a:rPr lang="ru-RU" dirty="0"/>
              <a:t>://</a:t>
            </a:r>
            <a:r>
              <a:rPr lang="ru-RU" dirty="0" smtClean="0"/>
              <a:t>urait.ru/bcode/581773/p.49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518465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82</TotalTime>
  <Words>2117</Words>
  <Application>Microsoft Office PowerPoint</Application>
  <PresentationFormat>Широкоэкранный</PresentationFormat>
  <Paragraphs>256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1" baseType="lpstr">
      <vt:lpstr>Franklin Gothic Book</vt:lpstr>
      <vt:lpstr>Open Sans</vt:lpstr>
      <vt:lpstr>Times New Roman</vt:lpstr>
      <vt:lpstr>Wingdings</vt:lpstr>
      <vt:lpstr>YS Text</vt:lpstr>
      <vt:lpstr>Crop</vt:lpstr>
      <vt:lpstr>Основные средства (фонды) предприятия</vt:lpstr>
      <vt:lpstr>План лекции</vt:lpstr>
      <vt:lpstr>Понятие и сущность основных средств (фондов). </vt:lpstr>
      <vt:lpstr>Понятие и сущность основных средств (фондов). </vt:lpstr>
      <vt:lpstr>Презентация PowerPoint</vt:lpstr>
      <vt:lpstr>Презентация PowerPoint</vt:lpstr>
      <vt:lpstr>Учет и оценка ОФП</vt:lpstr>
      <vt:lpstr>Презентация PowerPoint</vt:lpstr>
      <vt:lpstr>Презентация PowerPoint</vt:lpstr>
      <vt:lpstr>Износ основных фондов</vt:lpstr>
      <vt:lpstr>Презентация PowerPoint</vt:lpstr>
      <vt:lpstr>Все методы расчета амортизационных отчислений можно разделить на 2 группы</vt:lpstr>
      <vt:lpstr>Принципиальное различие между группами:</vt:lpstr>
      <vt:lpstr>Рассмотрим практику применения каждого из методов расчета амортизации:</vt:lpstr>
      <vt:lpstr>Пример:</vt:lpstr>
      <vt:lpstr>1.2. При линейном методе:</vt:lpstr>
      <vt:lpstr>Пример:</vt:lpstr>
      <vt:lpstr>Расчеты по годам эксплуатации:</vt:lpstr>
      <vt:lpstr>Схема амортизации может быть выражена линейным графиком</vt:lpstr>
      <vt:lpstr>В сезонных производствах годовая сумма амортизационных отчислений по основным средствам начисляется равномерно в течение периода работы организации в отчетном году.</vt:lpstr>
      <vt:lpstr>1.3. Определение амортизационных отчислений пропорционально объему продукции (работ)</vt:lpstr>
      <vt:lpstr>Пример расчета:</vt:lpstr>
      <vt:lpstr>Выводы:</vt:lpstr>
      <vt:lpstr>2.Ускоренные методы расчета амортизации</vt:lpstr>
      <vt:lpstr>Пример:</vt:lpstr>
      <vt:lpstr>Расчет амортизации по годам эксплуатации:                                 руб.</vt:lpstr>
      <vt:lpstr>Выводы:</vt:lpstr>
      <vt:lpstr>2.2. Метод суммы чисел</vt:lpstr>
      <vt:lpstr>Пример:</vt:lpstr>
      <vt:lpstr>Расчет:</vt:lpstr>
      <vt:lpstr>Выводы:</vt:lpstr>
      <vt:lpstr>Выводы:</vt:lpstr>
      <vt:lpstr>Особенности применения ускоренной амортизации</vt:lpstr>
      <vt:lpstr>3. Преимущества ускоренной амортизации:</vt:lpstr>
      <vt:lpstr>Домашнее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средства (фонды) предприятия</dc:title>
  <dc:creator>Максим Леденцов</dc:creator>
  <cp:lastModifiedBy>Марина Леденцова</cp:lastModifiedBy>
  <cp:revision>10</cp:revision>
  <dcterms:created xsi:type="dcterms:W3CDTF">2025-09-18T02:31:39Z</dcterms:created>
  <dcterms:modified xsi:type="dcterms:W3CDTF">2025-09-18T04:02:19Z</dcterms:modified>
</cp:coreProperties>
</file>