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45"/>
  </p:notesMasterIdLst>
  <p:handoutMasterIdLst>
    <p:handoutMasterId r:id="rId46"/>
  </p:handoutMasterIdLst>
  <p:sldIdLst>
    <p:sldId id="382" r:id="rId2"/>
    <p:sldId id="361" r:id="rId3"/>
    <p:sldId id="358" r:id="rId4"/>
    <p:sldId id="362" r:id="rId5"/>
    <p:sldId id="363" r:id="rId6"/>
    <p:sldId id="364" r:id="rId7"/>
    <p:sldId id="365" r:id="rId8"/>
    <p:sldId id="366" r:id="rId9"/>
    <p:sldId id="367" r:id="rId10"/>
    <p:sldId id="368" r:id="rId11"/>
    <p:sldId id="369" r:id="rId12"/>
    <p:sldId id="371" r:id="rId13"/>
    <p:sldId id="375" r:id="rId14"/>
    <p:sldId id="380" r:id="rId15"/>
    <p:sldId id="376" r:id="rId16"/>
    <p:sldId id="377" r:id="rId17"/>
    <p:sldId id="378" r:id="rId18"/>
    <p:sldId id="379" r:id="rId19"/>
    <p:sldId id="360" r:id="rId20"/>
    <p:sldId id="359" r:id="rId21"/>
    <p:sldId id="303" r:id="rId22"/>
    <p:sldId id="373" r:id="rId23"/>
    <p:sldId id="309" r:id="rId24"/>
    <p:sldId id="308" r:id="rId25"/>
    <p:sldId id="307" r:id="rId26"/>
    <p:sldId id="306" r:id="rId27"/>
    <p:sldId id="305" r:id="rId28"/>
    <p:sldId id="304" r:id="rId29"/>
    <p:sldId id="316" r:id="rId30"/>
    <p:sldId id="315" r:id="rId31"/>
    <p:sldId id="311" r:id="rId32"/>
    <p:sldId id="310" r:id="rId33"/>
    <p:sldId id="323" r:id="rId34"/>
    <p:sldId id="324" r:id="rId35"/>
    <p:sldId id="325" r:id="rId36"/>
    <p:sldId id="326" r:id="rId37"/>
    <p:sldId id="330" r:id="rId38"/>
    <p:sldId id="331" r:id="rId39"/>
    <p:sldId id="332" r:id="rId40"/>
    <p:sldId id="333" r:id="rId41"/>
    <p:sldId id="334" r:id="rId42"/>
    <p:sldId id="335" r:id="rId43"/>
    <p:sldId id="381" r:id="rId44"/>
  </p:sldIdLst>
  <p:sldSz cx="9144000" cy="6858000" type="screen4x3"/>
  <p:notesSz cx="6811963" cy="9945688"/>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FCC4"/>
    <a:srgbClr val="91EEF3"/>
    <a:srgbClr val="2CDFE8"/>
    <a:srgbClr val="9999FF"/>
    <a:srgbClr val="B7F97B"/>
    <a:srgbClr val="8DF62E"/>
    <a:srgbClr val="2AE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Средний стиль 3 — акцент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p:cViewPr varScale="1">
        <p:scale>
          <a:sx n="107" d="100"/>
          <a:sy n="107" d="100"/>
        </p:scale>
        <p:origin x="186"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51163" cy="498475"/>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59213" y="0"/>
            <a:ext cx="2951162" cy="498475"/>
          </a:xfrm>
          <a:prstGeom prst="rect">
            <a:avLst/>
          </a:prstGeom>
        </p:spPr>
        <p:txBody>
          <a:bodyPr vert="horz" lIns="91440" tIns="45720" rIns="91440" bIns="45720" rtlCol="0"/>
          <a:lstStyle>
            <a:lvl1pPr algn="r">
              <a:defRPr sz="1200"/>
            </a:lvl1pPr>
          </a:lstStyle>
          <a:p>
            <a:fld id="{E932D293-F29A-4AEA-92F8-2AB2BFCEDF56}" type="datetimeFigureOut">
              <a:rPr lang="ru-RU" smtClean="0"/>
              <a:pPr/>
              <a:t>17.09.2025</a:t>
            </a:fld>
            <a:endParaRPr lang="ru-RU"/>
          </a:p>
        </p:txBody>
      </p:sp>
      <p:sp>
        <p:nvSpPr>
          <p:cNvPr id="4" name="Нижний колонтитул 3"/>
          <p:cNvSpPr>
            <a:spLocks noGrp="1"/>
          </p:cNvSpPr>
          <p:nvPr>
            <p:ph type="ftr" sz="quarter" idx="2"/>
          </p:nvPr>
        </p:nvSpPr>
        <p:spPr>
          <a:xfrm>
            <a:off x="0" y="9447213"/>
            <a:ext cx="2951163" cy="498475"/>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59213" y="9447213"/>
            <a:ext cx="2951162" cy="498475"/>
          </a:xfrm>
          <a:prstGeom prst="rect">
            <a:avLst/>
          </a:prstGeom>
        </p:spPr>
        <p:txBody>
          <a:bodyPr vert="horz" lIns="91440" tIns="45720" rIns="91440" bIns="45720" rtlCol="0" anchor="b"/>
          <a:lstStyle>
            <a:lvl1pPr algn="r">
              <a:defRPr sz="1200"/>
            </a:lvl1pPr>
          </a:lstStyle>
          <a:p>
            <a:fld id="{EABB4224-44F1-45F3-B222-911490F2DF9B}" type="slidenum">
              <a:rPr lang="ru-RU" smtClean="0"/>
              <a:pPr/>
              <a:t>‹#›</a:t>
            </a:fld>
            <a:endParaRPr lang="ru-RU"/>
          </a:p>
        </p:txBody>
      </p:sp>
    </p:spTree>
    <p:extLst>
      <p:ext uri="{BB962C8B-B14F-4D97-AF65-F5344CB8AC3E}">
        <p14:creationId xmlns:p14="http://schemas.microsoft.com/office/powerpoint/2010/main" val="1503456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51851" cy="499012"/>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58536" y="0"/>
            <a:ext cx="2951851" cy="499012"/>
          </a:xfrm>
          <a:prstGeom prst="rect">
            <a:avLst/>
          </a:prstGeom>
        </p:spPr>
        <p:txBody>
          <a:bodyPr vert="horz" lIns="91440" tIns="45720" rIns="91440" bIns="45720" rtlCol="0"/>
          <a:lstStyle>
            <a:lvl1pPr algn="r">
              <a:defRPr sz="1200"/>
            </a:lvl1pPr>
          </a:lstStyle>
          <a:p>
            <a:fld id="{7D2A119C-EE23-4EF0-B632-6B77F626513F}" type="datetimeFigureOut">
              <a:rPr lang="ru-RU" smtClean="0"/>
              <a:pPr/>
              <a:t>17.09.2025</a:t>
            </a:fld>
            <a:endParaRPr lang="ru-RU"/>
          </a:p>
        </p:txBody>
      </p:sp>
      <p:sp>
        <p:nvSpPr>
          <p:cNvPr id="4" name="Образ слайда 3"/>
          <p:cNvSpPr>
            <a:spLocks noGrp="1" noRot="1" noChangeAspect="1"/>
          </p:cNvSpPr>
          <p:nvPr>
            <p:ph type="sldImg" idx="2"/>
          </p:nvPr>
        </p:nvSpPr>
        <p:spPr>
          <a:xfrm>
            <a:off x="1168400" y="1243013"/>
            <a:ext cx="4475163" cy="3357562"/>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1197" y="4786362"/>
            <a:ext cx="5449570" cy="3916115"/>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9446678"/>
            <a:ext cx="2951851" cy="499011"/>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58536" y="9446678"/>
            <a:ext cx="2951851" cy="499011"/>
          </a:xfrm>
          <a:prstGeom prst="rect">
            <a:avLst/>
          </a:prstGeom>
        </p:spPr>
        <p:txBody>
          <a:bodyPr vert="horz" lIns="91440" tIns="45720" rIns="91440" bIns="45720" rtlCol="0" anchor="b"/>
          <a:lstStyle>
            <a:lvl1pPr algn="r">
              <a:defRPr sz="1200"/>
            </a:lvl1pPr>
          </a:lstStyle>
          <a:p>
            <a:fld id="{65D22B81-1429-4ED1-8400-46035D06FD1C}" type="slidenum">
              <a:rPr lang="ru-RU" smtClean="0"/>
              <a:pPr/>
              <a:t>‹#›</a:t>
            </a:fld>
            <a:endParaRPr lang="ru-RU"/>
          </a:p>
        </p:txBody>
      </p:sp>
    </p:spTree>
    <p:extLst>
      <p:ext uri="{BB962C8B-B14F-4D97-AF65-F5344CB8AC3E}">
        <p14:creationId xmlns:p14="http://schemas.microsoft.com/office/powerpoint/2010/main" val="17782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49D0CD9-B9A7-4FCB-9704-3F71CD1830B2}" type="slidenum">
              <a:rPr lang="en-US" altLang="ru-RU" sz="1200" smtClean="0"/>
              <a:pPr/>
              <a:t>2</a:t>
            </a:fld>
            <a:endParaRPr lang="en-US" altLang="ru-RU" sz="1200" smtClean="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761420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D93E317-9FCA-4F71-B588-AC4A509A0017}" type="slidenum">
              <a:rPr lang="en-US" altLang="ru-RU" sz="1200" smtClean="0"/>
              <a:pPr/>
              <a:t>4</a:t>
            </a:fld>
            <a:endParaRPr lang="en-US" altLang="ru-RU" sz="1200"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4213958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A1665A0-D6A5-4A00-8BA9-84105A6BDB2A}" type="slidenum">
              <a:rPr lang="en-US" altLang="ru-RU" sz="1200" smtClean="0"/>
              <a:pPr/>
              <a:t>5</a:t>
            </a:fld>
            <a:endParaRPr lang="en-US" altLang="ru-RU" sz="120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1997945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662038F-616D-40AA-88EE-78F98C1C6792}" type="slidenum">
              <a:rPr lang="en-US" altLang="ru-RU" sz="1200" smtClean="0"/>
              <a:pPr/>
              <a:t>6</a:t>
            </a:fld>
            <a:endParaRPr lang="en-US" altLang="ru-RU" sz="1200"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1242870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A080DC8-A01D-43E8-86F4-8906A4CFB822}" type="slidenum">
              <a:rPr lang="en-US" altLang="ru-RU" sz="1200" smtClean="0"/>
              <a:pPr/>
              <a:t>7</a:t>
            </a:fld>
            <a:endParaRPr lang="en-US" altLang="ru-RU" sz="1200"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1626585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23A8966-7770-466D-B608-3A1A065C63E3}" type="slidenum">
              <a:rPr lang="en-US" altLang="ru-RU" sz="1200" smtClean="0"/>
              <a:pPr/>
              <a:t>8</a:t>
            </a:fld>
            <a:endParaRPr lang="en-US" altLang="ru-RU" sz="1200"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3873055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8183893-56C7-41A9-9B54-EA9C653B79E5}" type="slidenum">
              <a:rPr lang="en-US" altLang="ru-RU" sz="1200" smtClean="0"/>
              <a:pPr/>
              <a:t>9</a:t>
            </a:fld>
            <a:endParaRPr lang="en-US" altLang="ru-RU" sz="1200"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2093611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62A74EA-BA47-4906-BAF2-03BA9FE389AD}" type="slidenum">
              <a:rPr lang="en-US" altLang="ru-RU" sz="1200" smtClean="0"/>
              <a:pPr/>
              <a:t>10</a:t>
            </a:fld>
            <a:endParaRPr lang="en-US" altLang="ru-RU" sz="1200"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1781407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524116F-1B39-4EAA-903D-DFC6A834FB2D}" type="slidenum">
              <a:rPr lang="en-US" altLang="ru-RU" sz="1200" smtClean="0"/>
              <a:pPr/>
              <a:t>11</a:t>
            </a:fld>
            <a:endParaRPr lang="en-US" altLang="ru-RU" sz="1200"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1269733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C639AD7-4D95-44F7-A14C-E6D2E47083B0}" type="slidenum">
              <a:rPr lang="en-US" altLang="ru-RU" sz="1200" smtClean="0"/>
              <a:pPr/>
              <a:t>12</a:t>
            </a:fld>
            <a:endParaRPr lang="en-US" altLang="ru-RU" sz="1200"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9829475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B7358AA-68E7-4797-A5CD-D2DE61E2423C}" type="slidenum">
              <a:rPr lang="en-US" altLang="ru-RU" sz="1200" smtClean="0"/>
              <a:pPr/>
              <a:t>15</a:t>
            </a:fld>
            <a:endParaRPr lang="en-US" altLang="ru-RU" sz="1200"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244930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F8CC3F4-778A-46C5-9F7B-B0C8E74EF961}" type="slidenum">
              <a:rPr lang="en-US" altLang="ru-RU" sz="1200" smtClean="0"/>
              <a:pPr/>
              <a:t>16</a:t>
            </a:fld>
            <a:endParaRPr lang="en-US" altLang="ru-RU" sz="1200"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2953966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A72DB47-922D-46DB-91D7-6C6F3DF1710A}" type="slidenum">
              <a:rPr lang="en-US" altLang="ru-RU" sz="1200" smtClean="0"/>
              <a:pPr/>
              <a:t>17</a:t>
            </a:fld>
            <a:endParaRPr lang="en-US" altLang="ru-RU" sz="1200"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452238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22EFCA3-0087-4164-B144-006BAEE68B5B}" type="slidenum">
              <a:rPr lang="en-US" altLang="ru-RU" sz="1200" smtClean="0"/>
              <a:pPr/>
              <a:t>18</a:t>
            </a:fld>
            <a:endParaRPr lang="en-US" altLang="ru-RU" sz="120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ru-RU" smtClean="0"/>
          </a:p>
        </p:txBody>
      </p:sp>
    </p:spTree>
    <p:extLst>
      <p:ext uri="{BB962C8B-B14F-4D97-AF65-F5344CB8AC3E}">
        <p14:creationId xmlns:p14="http://schemas.microsoft.com/office/powerpoint/2010/main" val="3597387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1122363"/>
            <a:ext cx="6858000" cy="2387600"/>
          </a:xfrm>
        </p:spPr>
        <p:txBody>
          <a:bodyPr anchor="b"/>
          <a:lstStyle>
            <a:lvl1pPr algn="ctr">
              <a:defRPr sz="4500"/>
            </a:lvl1pPr>
          </a:lstStyle>
          <a:p>
            <a:r>
              <a:rPr lang="ru-RU" smtClean="0"/>
              <a:t>Образец заголовка</a:t>
            </a:r>
            <a:endParaRPr lang="ru-RU"/>
          </a:p>
        </p:txBody>
      </p:sp>
      <p:sp>
        <p:nvSpPr>
          <p:cNvPr id="3" name="Подзаголовок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3732763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2708351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888" y="1709739"/>
            <a:ext cx="7886700" cy="2852737"/>
          </a:xfrm>
        </p:spPr>
        <p:txBody>
          <a:bodyPr anchor="b"/>
          <a:lstStyle>
            <a:lvl1pPr>
              <a:defRPr sz="4500"/>
            </a:lvl1pPr>
          </a:lstStyle>
          <a:p>
            <a:r>
              <a:rPr lang="ru-RU" smtClean="0"/>
              <a:t>Образец заголовка</a:t>
            </a:r>
            <a:endParaRPr lang="ru-RU"/>
          </a:p>
        </p:txBody>
      </p:sp>
      <p:sp>
        <p:nvSpPr>
          <p:cNvPr id="3" name="Текст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262294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628650" y="1825625"/>
            <a:ext cx="38862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29150" y="1825625"/>
            <a:ext cx="38862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1238553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365126"/>
            <a:ext cx="78867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smtClean="0"/>
              <a:t>Образец текста</a:t>
            </a:r>
          </a:p>
        </p:txBody>
      </p:sp>
      <p:sp>
        <p:nvSpPr>
          <p:cNvPr id="4" name="Объект 3"/>
          <p:cNvSpPr>
            <a:spLocks noGrp="1"/>
          </p:cNvSpPr>
          <p:nvPr>
            <p:ph sz="half" idx="2"/>
          </p:nvPr>
        </p:nvSpPr>
        <p:spPr>
          <a:xfrm>
            <a:off x="629842" y="2505075"/>
            <a:ext cx="3868340"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smtClean="0"/>
              <a:t>Образец текста</a:t>
            </a:r>
          </a:p>
        </p:txBody>
      </p:sp>
      <p:sp>
        <p:nvSpPr>
          <p:cNvPr id="6" name="Объект 5"/>
          <p:cNvSpPr>
            <a:spLocks noGrp="1"/>
          </p:cNvSpPr>
          <p:nvPr>
            <p:ph sz="quarter" idx="4"/>
          </p:nvPr>
        </p:nvSpPr>
        <p:spPr>
          <a:xfrm>
            <a:off x="4629150" y="2505075"/>
            <a:ext cx="3887391"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3378379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2646770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4145861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smtClean="0"/>
              <a:t>Образец заголовка</a:t>
            </a:r>
            <a:endParaRPr lang="ru-RU"/>
          </a:p>
        </p:txBody>
      </p:sp>
      <p:sp>
        <p:nvSpPr>
          <p:cNvPr id="3" name="Объект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2560874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smtClean="0"/>
              <a:t>Образец заголовка</a:t>
            </a:r>
            <a:endParaRPr lang="ru-RU"/>
          </a:p>
        </p:txBody>
      </p:sp>
      <p:sp>
        <p:nvSpPr>
          <p:cNvPr id="3" name="Рисунок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smtClean="0"/>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2776278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3684955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43675" y="365125"/>
            <a:ext cx="1971675"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628650" y="365125"/>
            <a:ext cx="5800725"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pPr/>
              <a:t>‹#›</a:t>
            </a:fld>
            <a:endParaRPr lang="ru-RU"/>
          </a:p>
        </p:txBody>
      </p:sp>
    </p:spTree>
    <p:extLst>
      <p:ext uri="{BB962C8B-B14F-4D97-AF65-F5344CB8AC3E}">
        <p14:creationId xmlns:p14="http://schemas.microsoft.com/office/powerpoint/2010/main" val="453452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4C71EC6-210F-42DE-9C53-41977AD35B3D}" type="datetimeFigureOut">
              <a:rPr lang="ru-RU" smtClean="0"/>
              <a:pPr/>
              <a:t>17.09.2025</a:t>
            </a:fld>
            <a:endParaRPr lang="ru-RU"/>
          </a:p>
        </p:txBody>
      </p:sp>
      <p:sp>
        <p:nvSpPr>
          <p:cNvPr id="5" name="Нижний колонтитул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19B0651-EE4F-4900-A07F-96A6BFA9D0F0}" type="slidenum">
              <a:rPr lang="ru-RU" smtClean="0"/>
              <a:pPr/>
              <a:t>‹#›</a:t>
            </a:fld>
            <a:endParaRPr lang="ru-RU"/>
          </a:p>
        </p:txBody>
      </p:sp>
    </p:spTree>
    <p:extLst>
      <p:ext uri="{BB962C8B-B14F-4D97-AF65-F5344CB8AC3E}">
        <p14:creationId xmlns:p14="http://schemas.microsoft.com/office/powerpoint/2010/main" val="135158948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2780928"/>
            <a:ext cx="7886700" cy="1325563"/>
          </a:xfrm>
        </p:spPr>
        <p:txBody>
          <a:bodyPr>
            <a:noAutofit/>
          </a:bodyPr>
          <a:lstStyle/>
          <a:p>
            <a:pPr algn="ctr"/>
            <a:r>
              <a:rPr lang="ru-RU" sz="4800" dirty="0" smtClean="0"/>
              <a:t>Понятие фирмы и ее функции</a:t>
            </a:r>
            <a:endParaRPr lang="ru-RU" sz="4800" dirty="0"/>
          </a:p>
        </p:txBody>
      </p:sp>
    </p:spTree>
    <p:extLst>
      <p:ext uri="{BB962C8B-B14F-4D97-AF65-F5344CB8AC3E}">
        <p14:creationId xmlns:p14="http://schemas.microsoft.com/office/powerpoint/2010/main" val="24067436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 y="152400"/>
            <a:ext cx="9220200" cy="914400"/>
          </a:xfrm>
        </p:spPr>
        <p:txBody>
          <a:bodyPr>
            <a:normAutofit/>
          </a:bodyPr>
          <a:lstStyle/>
          <a:p>
            <a:pPr eaLnBrk="1" hangingPunct="1">
              <a:defRPr/>
            </a:pPr>
            <a:r>
              <a:rPr lang="ru-RU" altLang="ko-KR" sz="2000" b="1" dirty="0">
                <a:solidFill>
                  <a:schemeClr val="tx1">
                    <a:lumMod val="50000"/>
                  </a:schemeClr>
                </a:solidFill>
                <a:latin typeface="Times New Roman" panose="02020603050405020304" pitchFamily="18" charset="0"/>
                <a:ea typeface="굴림" panose="020B0600000101010101" pitchFamily="34" charset="-127"/>
                <a:cs typeface="Times New Roman" panose="02020603050405020304" pitchFamily="18" charset="0"/>
              </a:rPr>
              <a:t>ТЕМА 1. СОДЕРЖАНИЕ ПРЕДПРИНИМАТЕЛЬСКОЙ ДЕЯТЕЛЬНОСТИ: ОБЪЕКТЫ, СУБЪЕКТЫ И ЦЕЛИ ПРЕДПРИНИМАТЕЛЬСКОЙ ДЕЯТЕЛЬНОСТИ</a:t>
            </a:r>
          </a:p>
        </p:txBody>
      </p:sp>
      <p:sp>
        <p:nvSpPr>
          <p:cNvPr id="60419" name="Rectangle 3"/>
          <p:cNvSpPr>
            <a:spLocks noGrp="1" noChangeArrowheads="1"/>
          </p:cNvSpPr>
          <p:nvPr>
            <p:ph idx="1"/>
          </p:nvPr>
        </p:nvSpPr>
        <p:spPr>
          <a:xfrm>
            <a:off x="0" y="0"/>
            <a:ext cx="9144000" cy="6858000"/>
          </a:xfrm>
          <a:solidFill>
            <a:schemeClr val="bg1"/>
          </a:solidFill>
        </p:spPr>
        <p:txBody>
          <a:bodyPr/>
          <a:lstStyle/>
          <a:p>
            <a:pPr marL="0" indent="0" eaLnBrk="1" hangingPunct="1">
              <a:lnSpc>
                <a:spcPct val="80000"/>
              </a:lnSpc>
              <a:spcBef>
                <a:spcPct val="0"/>
              </a:spcBef>
              <a:buFontTx/>
              <a:buNone/>
              <a:defRPr/>
            </a:pPr>
            <a:endParaRPr lang="ru-RU" altLang="ko-KR" sz="3600" dirty="0" smtClean="0">
              <a:solidFill>
                <a:schemeClr val="tx1">
                  <a:lumMod val="50000"/>
                </a:schemeClr>
              </a:solidFill>
              <a:latin typeface="Times New Roman" panose="02020603050405020304" pitchFamily="18" charset="0"/>
              <a:ea typeface="굴림" panose="020B0600000101010101" pitchFamily="34" charset="-127"/>
              <a:cs typeface="Times New Roman" panose="02020603050405020304" pitchFamily="18" charset="0"/>
            </a:endParaRPr>
          </a:p>
        </p:txBody>
      </p:sp>
      <p:graphicFrame>
        <p:nvGraphicFramePr>
          <p:cNvPr id="2" name="Таблица 1"/>
          <p:cNvGraphicFramePr>
            <a:graphicFrameLocks noGrp="1"/>
          </p:cNvGraphicFramePr>
          <p:nvPr/>
        </p:nvGraphicFramePr>
        <p:xfrm>
          <a:off x="0" y="-157163"/>
          <a:ext cx="9144000" cy="7015163"/>
        </p:xfrm>
        <a:graphic>
          <a:graphicData uri="http://schemas.openxmlformats.org/drawingml/2006/table">
            <a:tbl>
              <a:tblPr/>
              <a:tblGrid>
                <a:gridCol w="28194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441584">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1200" b="1" i="0" u="none" strike="noStrike" cap="none" normalizeH="0" baseline="0" dirty="0" smtClean="0">
                          <a:ln>
                            <a:noFill/>
                          </a:ln>
                          <a:solidFill>
                            <a:srgbClr val="FFFFFF"/>
                          </a:solidFill>
                          <a:effectLst/>
                          <a:latin typeface="Microsoft Sans Serif" panose="020B0604020202020204" pitchFamily="34" charset="0"/>
                        </a:rPr>
                        <a:t>ФИО автора</a:t>
                      </a:r>
                      <a:endParaRPr kumimoji="0" lang="ru-RU" altLang="ru-RU" sz="1100" b="1" i="0" u="none" strike="noStrike" cap="none" normalizeH="0" baseline="0" dirty="0" smtClean="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1200" b="1" i="0" u="none" strike="noStrike" cap="none" normalizeH="0" baseline="0" smtClean="0">
                          <a:ln>
                            <a:noFill/>
                          </a:ln>
                          <a:solidFill>
                            <a:srgbClr val="FFFFFF"/>
                          </a:solidFill>
                          <a:effectLst/>
                          <a:latin typeface="Microsoft Sans Serif" panose="020B0604020202020204" pitchFamily="34" charset="0"/>
                        </a:rPr>
                        <a:t>Определение</a:t>
                      </a:r>
                      <a:endParaRPr kumimoji="0" lang="ru-RU" altLang="ru-RU" sz="1100" b="1" i="0" u="none" strike="noStrike" cap="none" normalizeH="0" baseline="0" smtClean="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21739">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2600" b="1" i="0" u="none" strike="noStrike" cap="none" normalizeH="0" baseline="0" dirty="0" smtClean="0">
                          <a:ln>
                            <a:noFill/>
                          </a:ln>
                          <a:solidFill>
                            <a:srgbClr val="FFFFFF"/>
                          </a:solidFill>
                          <a:effectLst/>
                          <a:latin typeface="Microsoft Sans Serif" panose="020B0604020202020204" pitchFamily="34" charset="0"/>
                        </a:rPr>
                        <a:t>Ричард Кантильон</a:t>
                      </a:r>
                      <a:endParaRPr kumimoji="0" lang="ru-RU" altLang="ru-RU" sz="2600" b="1" i="0" u="none" strike="noStrike" cap="none" normalizeH="0" baseline="0" dirty="0" smtClean="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2400" b="1" i="0" u="none" strike="noStrike" cap="none" normalizeH="0" baseline="0" dirty="0" smtClean="0">
                          <a:ln>
                            <a:noFill/>
                          </a:ln>
                          <a:solidFill>
                            <a:srgbClr val="4D4D4D"/>
                          </a:solidFill>
                          <a:effectLst/>
                          <a:latin typeface="Microsoft Sans Serif" panose="020B0604020202020204" pitchFamily="34" charset="0"/>
                        </a:rPr>
                        <a:t>Под предпринимательством </a:t>
                      </a:r>
                      <a:r>
                        <a:rPr kumimoji="0" lang="ru-RU" altLang="ru-RU" sz="2400" b="0" i="0" u="none" strike="noStrike" cap="none" normalizeH="0" baseline="0" dirty="0" smtClean="0">
                          <a:ln>
                            <a:noFill/>
                          </a:ln>
                          <a:solidFill>
                            <a:srgbClr val="4D4D4D"/>
                          </a:solidFill>
                          <a:effectLst/>
                          <a:latin typeface="Microsoft Sans Serif" panose="020B0604020202020204" pitchFamily="34" charset="0"/>
                        </a:rPr>
                        <a:t>понимается производственно-хозяйственная деятельность особого рода, включающая в себя элементы риска, а предприниматель является субъектом, наделенным способностями предвидеть, рисковать, брать на себя всю полноту ответственности за принимаемые решения.</a:t>
                      </a:r>
                      <a:endParaRPr kumimoji="0" lang="ru-RU" altLang="ru-RU" sz="2400" b="0" i="0" u="none" strike="noStrike" cap="none" normalizeH="0" baseline="0" dirty="0" smtClean="0">
                        <a:ln>
                          <a:noFill/>
                        </a:ln>
                        <a:solidFill>
                          <a:srgbClr val="4D4D4D"/>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EDBCD"/>
                    </a:solidFill>
                  </a:tcPr>
                </a:tc>
                <a:extLst>
                  <a:ext uri="{0D108BD9-81ED-4DB2-BD59-A6C34878D82A}">
                    <a16:rowId xmlns:a16="http://schemas.microsoft.com/office/drawing/2014/main" val="10001"/>
                  </a:ext>
                </a:extLst>
              </a:tr>
              <a:tr h="2951840">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endParaRPr kumimoji="0" lang="ru-RU" altLang="ru-RU" sz="2600" b="1" i="0" u="none" strike="noStrike" cap="none" normalizeH="0" baseline="0" dirty="0" smtClean="0">
                        <a:ln>
                          <a:noFill/>
                        </a:ln>
                        <a:solidFill>
                          <a:srgbClr val="FFFFFF"/>
                        </a:solidFill>
                        <a:effectLst/>
                        <a:latin typeface="Microsoft Sans Serif" panose="020B0604020202020204" pitchFamily="34" charset="0"/>
                      </a:endParaRPr>
                    </a:p>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2600" b="1" i="0" u="none" strike="noStrike" cap="none" normalizeH="0" baseline="0" dirty="0" smtClean="0">
                          <a:ln>
                            <a:noFill/>
                          </a:ln>
                          <a:solidFill>
                            <a:srgbClr val="FFFFFF"/>
                          </a:solidFill>
                          <a:effectLst/>
                          <a:latin typeface="Microsoft Sans Serif" panose="020B0604020202020204" pitchFamily="34" charset="0"/>
                        </a:rPr>
                        <a:t>Йозеф </a:t>
                      </a:r>
                      <a:r>
                        <a:rPr kumimoji="0" lang="ru-RU" altLang="ru-RU" sz="2600" b="1" i="0" u="none" strike="noStrike" cap="none" normalizeH="0" baseline="0" dirty="0" err="1" smtClean="0">
                          <a:ln>
                            <a:noFill/>
                          </a:ln>
                          <a:solidFill>
                            <a:srgbClr val="FFFFFF"/>
                          </a:solidFill>
                          <a:effectLst/>
                          <a:latin typeface="Microsoft Sans Serif" panose="020B0604020202020204" pitchFamily="34" charset="0"/>
                        </a:rPr>
                        <a:t>Шумпетер</a:t>
                      </a:r>
                      <a:endParaRPr kumimoji="0" lang="ru-RU" altLang="ru-RU" sz="2600" b="1" i="0" u="none" strike="noStrike" cap="none" normalizeH="0" baseline="0" dirty="0" smtClean="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marL="95250">
                        <a:spcBef>
                          <a:spcPct val="20000"/>
                        </a:spcBef>
                        <a:defRPr sz="2800">
                          <a:solidFill>
                            <a:schemeClr val="tx1"/>
                          </a:solidFill>
                          <a:latin typeface="Microsoft Sans Serif" panose="020B0604020202020204" pitchFamily="34" charset="0"/>
                        </a:defRPr>
                      </a:lvl1pPr>
                      <a:lvl2pPr marL="742950" indent="-285750">
                        <a:spcBef>
                          <a:spcPct val="20000"/>
                        </a:spcBef>
                        <a:defRPr sz="2400">
                          <a:solidFill>
                            <a:schemeClr val="tx1"/>
                          </a:solidFill>
                          <a:latin typeface="Microsoft Sans Serif" panose="020B0604020202020204" pitchFamily="34" charset="0"/>
                        </a:defRPr>
                      </a:lvl2pPr>
                      <a:lvl3pPr marL="1143000" indent="-228600">
                        <a:spcBef>
                          <a:spcPct val="20000"/>
                        </a:spcBef>
                        <a:defRPr sz="2000">
                          <a:solidFill>
                            <a:schemeClr val="tx1"/>
                          </a:solidFill>
                          <a:latin typeface="Microsoft Sans Serif" panose="020B0604020202020204" pitchFamily="34" charset="0"/>
                        </a:defRPr>
                      </a:lvl3pPr>
                      <a:lvl4pPr marL="1600200" indent="-228600">
                        <a:spcBef>
                          <a:spcPct val="20000"/>
                        </a:spcBef>
                        <a:defRPr>
                          <a:solidFill>
                            <a:schemeClr val="tx1"/>
                          </a:solidFill>
                          <a:latin typeface="Microsoft Sans Serif" panose="020B0604020202020204" pitchFamily="34" charset="0"/>
                        </a:defRPr>
                      </a:lvl4pPr>
                      <a:lvl5pPr marL="2057400" indent="-228600">
                        <a:spcBef>
                          <a:spcPct val="20000"/>
                        </a:spcBef>
                        <a:defRPr>
                          <a:solidFill>
                            <a:schemeClr val="tx1"/>
                          </a:solidFill>
                          <a:latin typeface="Microsoft Sans Serif" panose="020B0604020202020204" pitchFamily="34" charset="0"/>
                        </a:defRPr>
                      </a:lvl5pPr>
                      <a:lvl6pPr marL="2514600" indent="-228600" eaLnBrk="0" fontAlgn="base" hangingPunct="0">
                        <a:spcBef>
                          <a:spcPct val="20000"/>
                        </a:spcBef>
                        <a:spcAft>
                          <a:spcPct val="0"/>
                        </a:spcAft>
                        <a:defRPr>
                          <a:solidFill>
                            <a:schemeClr val="tx1"/>
                          </a:solidFill>
                          <a:latin typeface="Microsoft Sans Serif" panose="020B0604020202020204" pitchFamily="34" charset="0"/>
                        </a:defRPr>
                      </a:lvl6pPr>
                      <a:lvl7pPr marL="2971800" indent="-228600" eaLnBrk="0" fontAlgn="base" hangingPunct="0">
                        <a:spcBef>
                          <a:spcPct val="20000"/>
                        </a:spcBef>
                        <a:spcAft>
                          <a:spcPct val="0"/>
                        </a:spcAft>
                        <a:defRPr>
                          <a:solidFill>
                            <a:schemeClr val="tx1"/>
                          </a:solidFill>
                          <a:latin typeface="Microsoft Sans Serif" panose="020B0604020202020204" pitchFamily="34" charset="0"/>
                        </a:defRPr>
                      </a:lvl7pPr>
                      <a:lvl8pPr marL="3429000" indent="-228600" eaLnBrk="0" fontAlgn="base" hangingPunct="0">
                        <a:spcBef>
                          <a:spcPct val="20000"/>
                        </a:spcBef>
                        <a:spcAft>
                          <a:spcPct val="0"/>
                        </a:spcAft>
                        <a:defRPr>
                          <a:solidFill>
                            <a:schemeClr val="tx1"/>
                          </a:solidFill>
                          <a:latin typeface="Microsoft Sans Serif" panose="020B0604020202020204" pitchFamily="34" charset="0"/>
                        </a:defRPr>
                      </a:lvl8pPr>
                      <a:lvl9pPr marL="3886200" indent="-228600" eaLnBrk="0" fontAlgn="base" hangingPunct="0">
                        <a:spcBef>
                          <a:spcPct val="20000"/>
                        </a:spcBef>
                        <a:spcAft>
                          <a:spcPct val="0"/>
                        </a:spcAft>
                        <a:defRPr>
                          <a:solidFill>
                            <a:schemeClr val="tx1"/>
                          </a:solidFill>
                          <a:latin typeface="Microsoft Sans Serif" panose="020B0604020202020204" pitchFamily="34" charset="0"/>
                        </a:defRPr>
                      </a:lvl9pPr>
                    </a:lstStyle>
                    <a:p>
                      <a:pPr marL="95250" marR="0" lvl="0" indent="0" algn="l" defTabSz="914400" rtl="0" eaLnBrk="1" fontAlgn="base" latinLnBrk="0" hangingPunct="1">
                        <a:lnSpc>
                          <a:spcPct val="107000"/>
                        </a:lnSpc>
                        <a:spcBef>
                          <a:spcPts val="750"/>
                        </a:spcBef>
                        <a:spcAft>
                          <a:spcPts val="750"/>
                        </a:spcAft>
                        <a:buClrTx/>
                        <a:buSzTx/>
                        <a:buFontTx/>
                        <a:buNone/>
                        <a:tabLst/>
                      </a:pPr>
                      <a:r>
                        <a:rPr kumimoji="0" lang="ru-RU" altLang="ru-RU" sz="2400" b="1" i="0" u="none" strike="noStrike" cap="none" normalizeH="0" baseline="0" dirty="0" smtClean="0">
                          <a:ln>
                            <a:noFill/>
                          </a:ln>
                          <a:solidFill>
                            <a:srgbClr val="4D4D4D"/>
                          </a:solidFill>
                          <a:effectLst/>
                          <a:latin typeface="Microsoft Sans Serif" panose="020B0604020202020204" pitchFamily="34" charset="0"/>
                        </a:rPr>
                        <a:t>Предпринимательская деятельность </a:t>
                      </a:r>
                      <a:r>
                        <a:rPr kumimoji="0" lang="ru-RU" altLang="ru-RU" sz="2400" b="0" i="0" u="none" strike="noStrike" cap="none" normalizeH="0" baseline="0" dirty="0" smtClean="0">
                          <a:ln>
                            <a:noFill/>
                          </a:ln>
                          <a:solidFill>
                            <a:srgbClr val="4D4D4D"/>
                          </a:solidFill>
                          <a:effectLst/>
                          <a:latin typeface="Microsoft Sans Serif" panose="020B0604020202020204" pitchFamily="34" charset="0"/>
                        </a:rPr>
                        <a:t>– это не должность и не профессия, а, скорее, уникальная и редко обнаруживаемая способность продвижения инноваций на рынок посредством рискового бизнеса</a:t>
                      </a:r>
                      <a:r>
                        <a:rPr kumimoji="0" lang="ru-RU" altLang="ru-RU" sz="2600" b="0" i="0" u="none" strike="noStrike" cap="none" normalizeH="0" baseline="0" dirty="0" smtClean="0">
                          <a:ln>
                            <a:noFill/>
                          </a:ln>
                          <a:solidFill>
                            <a:srgbClr val="4D4D4D"/>
                          </a:solidFill>
                          <a:effectLst/>
                          <a:latin typeface="Microsoft Sans Serif" panose="020B0604020202020204" pitchFamily="34" charset="0"/>
                        </a:rPr>
                        <a:t>.</a:t>
                      </a:r>
                      <a:endParaRPr kumimoji="0" lang="ru-RU" altLang="ru-RU" sz="2600" b="0" i="0" u="none" strike="noStrike" cap="none" normalizeH="0" baseline="0" dirty="0" smtClean="0">
                        <a:ln>
                          <a:noFill/>
                        </a:ln>
                        <a:solidFill>
                          <a:srgbClr val="4D4D4D"/>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4" marB="95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EE8"/>
                    </a:solidFill>
                  </a:tcPr>
                </a:tc>
                <a:extLst>
                  <a:ext uri="{0D108BD9-81ED-4DB2-BD59-A6C34878D82A}">
                    <a16:rowId xmlns:a16="http://schemas.microsoft.com/office/drawing/2014/main" val="10002"/>
                  </a:ext>
                </a:extLst>
              </a:tr>
            </a:tbl>
          </a:graphicData>
        </a:graphic>
      </p:graphicFrame>
      <p:pic>
        <p:nvPicPr>
          <p:cNvPr id="7186" name="Рисунок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57200"/>
            <a:ext cx="2667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7" name="Рисунок 3"/>
          <p:cNvPicPr>
            <a:picLocks noChangeAspect="1"/>
          </p:cNvPicPr>
          <p:nvPr/>
        </p:nvPicPr>
        <p:blipFill>
          <a:blip r:embed="rId4" cstate="print">
            <a:extLst>
              <a:ext uri="{28A0092B-C50C-407E-A947-70E740481C1C}">
                <a14:useLocalDpi xmlns:a14="http://schemas.microsoft.com/office/drawing/2010/main" val="0"/>
              </a:ext>
            </a:extLst>
          </a:blip>
          <a:srcRect b="10468"/>
          <a:stretch>
            <a:fillRect/>
          </a:stretch>
        </p:blipFill>
        <p:spPr bwMode="auto">
          <a:xfrm>
            <a:off x="171450" y="4114800"/>
            <a:ext cx="2495550"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69328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algn="ctr"/>
            <a:r>
              <a:rPr lang="ru-RU" sz="2800" dirty="0">
                <a:solidFill>
                  <a:schemeClr val="tx1"/>
                </a:solidFill>
              </a:rPr>
              <a:t>Согласно п. 1 ст. 2 Гражданского кодекса РФ предпринимательской деятельностью признается</a:t>
            </a:r>
          </a:p>
        </p:txBody>
      </p:sp>
      <p:sp>
        <p:nvSpPr>
          <p:cNvPr id="29699" name="Rectangle 3"/>
          <p:cNvSpPr>
            <a:spLocks noGrp="1" noChangeArrowheads="1"/>
          </p:cNvSpPr>
          <p:nvPr>
            <p:ph idx="1"/>
          </p:nvPr>
        </p:nvSpPr>
        <p:spPr/>
        <p:txBody>
          <a:bodyPr>
            <a:normAutofit lnSpcReduction="10000"/>
          </a:bodyPr>
          <a:lstStyle/>
          <a:p>
            <a:pPr algn="ctr">
              <a:lnSpc>
                <a:spcPct val="90000"/>
              </a:lnSpc>
              <a:buFont typeface="Wingdings" pitchFamily="2" charset="2"/>
              <a:buNone/>
            </a:pPr>
            <a:r>
              <a:rPr lang="ru-RU" dirty="0"/>
              <a:t>  </a:t>
            </a:r>
            <a:r>
              <a:rPr lang="ru-RU" sz="3600" dirty="0"/>
              <a:t>«самостоятельная, осуществляемая на свой риск деятельность, направленная на систематическое получение прибыли от пользования имуществом, продажи товаров, выполнения работ или оказания услуг лицами, зарегистрированными в этом качестве в установленном законом порядке» </a:t>
            </a:r>
          </a:p>
        </p:txBody>
      </p:sp>
    </p:spTree>
    <p:extLst>
      <p:ext uri="{BB962C8B-B14F-4D97-AF65-F5344CB8AC3E}">
        <p14:creationId xmlns:p14="http://schemas.microsoft.com/office/powerpoint/2010/main" val="449901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0"/>
            <a:ext cx="9144000" cy="609600"/>
          </a:xfrm>
        </p:spPr>
        <p:txBody>
          <a:bodyPr/>
          <a:lstStyle/>
          <a:p>
            <a:pPr eaLnBrk="1" hangingPunct="1"/>
            <a:r>
              <a:rPr lang="ru-RU" altLang="ru-RU" sz="2800" b="1" smtClean="0">
                <a:solidFill>
                  <a:srgbClr val="000000"/>
                </a:solidFill>
              </a:rPr>
              <a:t>2. Сущность и признаки предпринимательства </a:t>
            </a:r>
          </a:p>
        </p:txBody>
      </p:sp>
      <p:sp>
        <p:nvSpPr>
          <p:cNvPr id="60419" name="Rectangle 3"/>
          <p:cNvSpPr>
            <a:spLocks noGrp="1" noChangeArrowheads="1"/>
          </p:cNvSpPr>
          <p:nvPr>
            <p:ph idx="1"/>
          </p:nvPr>
        </p:nvSpPr>
        <p:spPr>
          <a:xfrm>
            <a:off x="32648" y="838200"/>
            <a:ext cx="9144000" cy="6019800"/>
          </a:xfrm>
          <a:solidFill>
            <a:schemeClr val="bg1"/>
          </a:solidFill>
        </p:spPr>
        <p:txBody>
          <a:bodyPr>
            <a:normAutofit/>
          </a:bodyPr>
          <a:lstStyle/>
          <a:p>
            <a:pPr marL="0" indent="0" algn="just" eaLnBrk="1" hangingPunct="1">
              <a:lnSpc>
                <a:spcPct val="80000"/>
              </a:lnSpc>
              <a:spcBef>
                <a:spcPts val="0"/>
              </a:spcBef>
              <a:buFontTx/>
              <a:buNone/>
              <a:defRPr/>
            </a:pPr>
            <a:r>
              <a:rPr lang="ru-RU" altLang="ru-RU" sz="2800" dirty="0">
                <a:latin typeface="Times New Roman" panose="02020603050405020304" pitchFamily="18" charset="0"/>
                <a:cs typeface="Times New Roman" panose="02020603050405020304" pitchFamily="18" charset="0"/>
              </a:rPr>
              <a:t>Предпринимательство можно рассматривать </a:t>
            </a:r>
            <a:r>
              <a:rPr lang="ru-RU" altLang="ru-RU" sz="2800" b="1" dirty="0">
                <a:latin typeface="Times New Roman" panose="02020603050405020304" pitchFamily="18" charset="0"/>
                <a:cs typeface="Times New Roman" panose="02020603050405020304" pitchFamily="18" charset="0"/>
              </a:rPr>
              <a:t>как явление и процесс.</a:t>
            </a:r>
            <a:r>
              <a:rPr lang="ru-RU" altLang="ru-RU" sz="2800" dirty="0">
                <a:latin typeface="Times New Roman" panose="02020603050405020304" pitchFamily="18" charset="0"/>
                <a:cs typeface="Times New Roman" panose="02020603050405020304" pitchFamily="18" charset="0"/>
              </a:rPr>
              <a:t> </a:t>
            </a:r>
          </a:p>
          <a:p>
            <a:pPr marL="0" indent="0" algn="just" eaLnBrk="1" hangingPunct="1">
              <a:lnSpc>
                <a:spcPct val="80000"/>
              </a:lnSpc>
              <a:spcBef>
                <a:spcPts val="0"/>
              </a:spcBef>
              <a:buFontTx/>
              <a:buNone/>
              <a:defRPr/>
            </a:pPr>
            <a:r>
              <a:rPr lang="ru-RU" altLang="ru-RU" sz="2800" b="1" dirty="0">
                <a:latin typeface="Times New Roman" panose="02020603050405020304" pitchFamily="18" charset="0"/>
                <a:cs typeface="Times New Roman" panose="02020603050405020304" pitchFamily="18" charset="0"/>
              </a:rPr>
              <a:t>Предпринимательство как явление </a:t>
            </a:r>
            <a:r>
              <a:rPr lang="ru-RU" altLang="ru-RU" sz="2800" dirty="0">
                <a:latin typeface="Times New Roman" panose="02020603050405020304" pitchFamily="18" charset="0"/>
                <a:cs typeface="Times New Roman" panose="02020603050405020304" pitchFamily="18" charset="0"/>
              </a:rPr>
              <a:t>отражает всю совокупность отношений (экономических, социальных, организационных, личностных и других), связанных с организацией предпринимателями своего дела, с производством товаров (выполнения работ, оказания услуг) и получением желаемого результата в виде прибыли. </a:t>
            </a:r>
          </a:p>
          <a:p>
            <a:pPr marL="0" indent="0" algn="just" eaLnBrk="1" hangingPunct="1">
              <a:lnSpc>
                <a:spcPct val="80000"/>
              </a:lnSpc>
              <a:spcBef>
                <a:spcPts val="0"/>
              </a:spcBef>
              <a:buFontTx/>
              <a:buNone/>
              <a:defRPr/>
            </a:pPr>
            <a:r>
              <a:rPr lang="ru-RU" altLang="ru-RU" sz="2800" b="1" dirty="0">
                <a:latin typeface="Times New Roman" panose="02020603050405020304" pitchFamily="18" charset="0"/>
                <a:cs typeface="Times New Roman" panose="02020603050405020304" pitchFamily="18" charset="0"/>
              </a:rPr>
              <a:t>Предпринимательство как процесс </a:t>
            </a:r>
            <a:r>
              <a:rPr lang="ru-RU" altLang="ru-RU" sz="2800" dirty="0">
                <a:latin typeface="Times New Roman" panose="02020603050405020304" pitchFamily="18" charset="0"/>
                <a:cs typeface="Times New Roman" panose="02020603050405020304" pitchFamily="18" charset="0"/>
              </a:rPr>
              <a:t>представляет собой </a:t>
            </a:r>
            <a:r>
              <a:rPr lang="ru-RU" altLang="ru-RU" sz="2800" dirty="0" smtClean="0">
                <a:latin typeface="Times New Roman" panose="02020603050405020304" pitchFamily="18" charset="0"/>
                <a:cs typeface="Times New Roman" panose="02020603050405020304" pitchFamily="18" charset="0"/>
              </a:rPr>
              <a:t>последовательные целенаправленные действия </a:t>
            </a:r>
            <a:r>
              <a:rPr lang="ru-RU" altLang="ru-RU" sz="2800" dirty="0">
                <a:latin typeface="Times New Roman" panose="02020603050405020304" pitchFamily="18" charset="0"/>
                <a:cs typeface="Times New Roman" panose="02020603050405020304" pitchFamily="18" charset="0"/>
              </a:rPr>
              <a:t>предпринимателей, начиная с момента возникновения предпринимательской идеи и </a:t>
            </a:r>
            <a:r>
              <a:rPr lang="ru-RU" altLang="ru-RU" sz="2800" dirty="0" smtClean="0">
                <a:latin typeface="Times New Roman" panose="02020603050405020304" pitchFamily="18" charset="0"/>
                <a:cs typeface="Times New Roman" panose="02020603050405020304" pitchFamily="18" charset="0"/>
              </a:rPr>
              <a:t>заканчивая </a:t>
            </a:r>
            <a:r>
              <a:rPr lang="ru-RU" altLang="ru-RU" sz="2800" dirty="0">
                <a:latin typeface="Times New Roman" panose="02020603050405020304" pitchFamily="18" charset="0"/>
                <a:cs typeface="Times New Roman" panose="02020603050405020304" pitchFamily="18" charset="0"/>
              </a:rPr>
              <a:t>воплощением её в конкретный предпринимательский проект.</a:t>
            </a:r>
          </a:p>
        </p:txBody>
      </p:sp>
    </p:spTree>
    <p:extLst>
      <p:ext uri="{BB962C8B-B14F-4D97-AF65-F5344CB8AC3E}">
        <p14:creationId xmlns:p14="http://schemas.microsoft.com/office/powerpoint/2010/main" val="36920195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0"/>
            <a:ext cx="9144000" cy="609600"/>
          </a:xfrm>
        </p:spPr>
        <p:txBody>
          <a:bodyPr/>
          <a:lstStyle/>
          <a:p>
            <a:pPr eaLnBrk="1" hangingPunct="1"/>
            <a:r>
              <a:rPr lang="ru-RU" altLang="ru-RU" sz="2800" b="1" smtClean="0">
                <a:solidFill>
                  <a:srgbClr val="000000"/>
                </a:solidFill>
              </a:rPr>
              <a:t>2. Сущность и признаки предпринимательства </a:t>
            </a:r>
          </a:p>
        </p:txBody>
      </p:sp>
      <p:pic>
        <p:nvPicPr>
          <p:cNvPr id="33796" name="Рисунок 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1484784"/>
            <a:ext cx="8763000"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26737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6200" y="0"/>
            <a:ext cx="9067800" cy="685800"/>
          </a:xfrm>
        </p:spPr>
        <p:txBody>
          <a:bodyPr/>
          <a:lstStyle/>
          <a:p>
            <a:pPr eaLnBrk="1" hangingPunct="1"/>
            <a:r>
              <a:rPr lang="ru-RU" altLang="ru-RU" sz="2800" b="1" dirty="0" smtClean="0">
                <a:solidFill>
                  <a:srgbClr val="000000"/>
                </a:solidFill>
              </a:rPr>
              <a:t>2. Сущность и признаки предпринимательства </a:t>
            </a:r>
          </a:p>
        </p:txBody>
      </p:sp>
      <p:pic>
        <p:nvPicPr>
          <p:cNvPr id="39940" name="Рисунок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2151063"/>
            <a:ext cx="9067800"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7032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76200" y="0"/>
            <a:ext cx="9067800" cy="685800"/>
          </a:xfrm>
        </p:spPr>
        <p:txBody>
          <a:bodyPr/>
          <a:lstStyle/>
          <a:p>
            <a:pPr eaLnBrk="1" hangingPunct="1"/>
            <a:r>
              <a:rPr lang="ru-RU" altLang="ru-RU" sz="2800" b="1" smtClean="0">
                <a:solidFill>
                  <a:srgbClr val="000000"/>
                </a:solidFill>
              </a:rPr>
              <a:t>3. Функции предпринимательской деятельности </a:t>
            </a:r>
          </a:p>
        </p:txBody>
      </p:sp>
      <p:sp>
        <p:nvSpPr>
          <p:cNvPr id="60419" name="Rectangle 3"/>
          <p:cNvSpPr>
            <a:spLocks noGrp="1" noChangeArrowheads="1"/>
          </p:cNvSpPr>
          <p:nvPr>
            <p:ph idx="1"/>
          </p:nvPr>
        </p:nvSpPr>
        <p:spPr>
          <a:xfrm>
            <a:off x="0" y="685800"/>
            <a:ext cx="9144000" cy="6172200"/>
          </a:xfrm>
          <a:solidFill>
            <a:schemeClr val="bg1"/>
          </a:solidFill>
        </p:spPr>
        <p:txBody>
          <a:bodyPr>
            <a:normAutofit/>
          </a:bodyPr>
          <a:lstStyle/>
          <a:p>
            <a:pPr marL="0" indent="0" algn="just" eaLnBrk="1" hangingPunct="1">
              <a:lnSpc>
                <a:spcPct val="80000"/>
              </a:lnSpc>
              <a:spcBef>
                <a:spcPts val="0"/>
              </a:spcBef>
              <a:buFontTx/>
              <a:buNone/>
              <a:defRPr/>
            </a:pPr>
            <a:r>
              <a:rPr lang="ru-RU" altLang="ru-RU" dirty="0">
                <a:latin typeface="Times New Roman" panose="02020603050405020304" pitchFamily="18" charset="0"/>
                <a:cs typeface="Times New Roman" panose="02020603050405020304" pitchFamily="18" charset="0"/>
              </a:rPr>
              <a:t>Определяющей является </a:t>
            </a:r>
            <a:r>
              <a:rPr lang="ru-RU" altLang="ru-RU" b="1" dirty="0">
                <a:latin typeface="Times New Roman" panose="02020603050405020304" pitchFamily="18" charset="0"/>
                <a:cs typeface="Times New Roman" panose="02020603050405020304" pitchFamily="18" charset="0"/>
              </a:rPr>
              <a:t>общеэкономическая функция, </a:t>
            </a:r>
            <a:r>
              <a:rPr lang="ru-RU" altLang="ru-RU" dirty="0">
                <a:latin typeface="Times New Roman" panose="02020603050405020304" pitchFamily="18" charset="0"/>
                <a:cs typeface="Times New Roman" panose="02020603050405020304" pitchFamily="18" charset="0"/>
              </a:rPr>
              <a:t>которая определяется ролью предпринимательских организаций и индивидуальных предпринимателей как субъектов рынка. Р</a:t>
            </a:r>
            <a:r>
              <a:rPr lang="ru-RU" altLang="ru-RU" dirty="0" smtClean="0">
                <a:latin typeface="Times New Roman" panose="02020603050405020304" pitchFamily="18" charset="0"/>
                <a:cs typeface="Times New Roman" panose="02020603050405020304" pitchFamily="18" charset="0"/>
              </a:rPr>
              <a:t>азвитие </a:t>
            </a:r>
            <a:r>
              <a:rPr lang="ru-RU" altLang="ru-RU" dirty="0">
                <a:latin typeface="Times New Roman" panose="02020603050405020304" pitchFamily="18" charset="0"/>
                <a:cs typeface="Times New Roman" panose="02020603050405020304" pitchFamily="18" charset="0"/>
              </a:rPr>
              <a:t>предпринимательства является одним из определяющих условий экономического роста, увеличения </a:t>
            </a:r>
            <a:r>
              <a:rPr lang="ru-RU" altLang="ru-RU" dirty="0" smtClean="0">
                <a:latin typeface="Times New Roman" panose="02020603050405020304" pitchFamily="18" charset="0"/>
                <a:cs typeface="Times New Roman" panose="02020603050405020304" pitchFamily="18" charset="0"/>
              </a:rPr>
              <a:t>объёма </a:t>
            </a:r>
            <a:r>
              <a:rPr lang="ru-RU" altLang="ru-RU" dirty="0">
                <a:latin typeface="Times New Roman" panose="02020603050405020304" pitchFamily="18" charset="0"/>
                <a:cs typeface="Times New Roman" panose="02020603050405020304" pitchFamily="18" charset="0"/>
              </a:rPr>
              <a:t>ВВП </a:t>
            </a:r>
            <a:r>
              <a:rPr lang="ru-RU" altLang="ru-RU" dirty="0" smtClean="0">
                <a:latin typeface="Times New Roman" panose="02020603050405020304" pitchFamily="18" charset="0"/>
                <a:cs typeface="Times New Roman" panose="02020603050405020304" pitchFamily="18" charset="0"/>
              </a:rPr>
              <a:t>.</a:t>
            </a:r>
          </a:p>
          <a:p>
            <a:pPr marL="0" indent="0" algn="just" eaLnBrk="1" hangingPunct="1">
              <a:lnSpc>
                <a:spcPct val="80000"/>
              </a:lnSpc>
              <a:spcBef>
                <a:spcPts val="0"/>
              </a:spcBef>
              <a:buFontTx/>
              <a:buNone/>
              <a:defRPr/>
            </a:pPr>
            <a:r>
              <a:rPr lang="ru-RU" altLang="ru-RU" b="1" dirty="0" smtClean="0">
                <a:latin typeface="Times New Roman" panose="02020603050405020304" pitchFamily="18" charset="0"/>
                <a:cs typeface="Times New Roman" panose="02020603050405020304" pitchFamily="18" charset="0"/>
              </a:rPr>
              <a:t>Ресурсная </a:t>
            </a:r>
            <a:r>
              <a:rPr lang="ru-RU" altLang="ru-RU" b="1" dirty="0">
                <a:latin typeface="Times New Roman" panose="02020603050405020304" pitchFamily="18" charset="0"/>
                <a:cs typeface="Times New Roman" panose="02020603050405020304" pitchFamily="18" charset="0"/>
              </a:rPr>
              <a:t>функция </a:t>
            </a:r>
            <a:r>
              <a:rPr lang="ru-RU" altLang="ru-RU" dirty="0">
                <a:latin typeface="Times New Roman" panose="02020603050405020304" pitchFamily="18" charset="0"/>
                <a:cs typeface="Times New Roman" panose="02020603050405020304" pitchFamily="18" charset="0"/>
              </a:rPr>
              <a:t>- развитие предпринимательства предполагает эффективное использование как воспроизводимых, так и ограниченных ресурсов. </a:t>
            </a:r>
          </a:p>
          <a:p>
            <a:pPr marL="0" indent="0" algn="just" eaLnBrk="1" hangingPunct="1">
              <a:lnSpc>
                <a:spcPct val="80000"/>
              </a:lnSpc>
              <a:spcBef>
                <a:spcPts val="0"/>
              </a:spcBef>
              <a:buFontTx/>
              <a:buNone/>
              <a:defRPr/>
            </a:pPr>
            <a:endParaRPr lang="ru-RU" altLang="ru-RU" sz="2400" dirty="0">
              <a:solidFill>
                <a:schemeClr val="accent4">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0282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 y="0"/>
            <a:ext cx="9067800" cy="1066800"/>
          </a:xfrm>
        </p:spPr>
        <p:txBody>
          <a:bodyPr/>
          <a:lstStyle/>
          <a:p>
            <a:pPr eaLnBrk="1" hangingPunct="1"/>
            <a:r>
              <a:rPr lang="ru-RU" altLang="ru-RU" sz="2800" b="1" smtClean="0">
                <a:solidFill>
                  <a:srgbClr val="000000"/>
                </a:solidFill>
              </a:rPr>
              <a:t>3. Функции предпринимательской деятельности </a:t>
            </a:r>
          </a:p>
        </p:txBody>
      </p:sp>
      <p:sp>
        <p:nvSpPr>
          <p:cNvPr id="60419" name="Rectangle 3"/>
          <p:cNvSpPr>
            <a:spLocks noGrp="1" noChangeArrowheads="1"/>
          </p:cNvSpPr>
          <p:nvPr>
            <p:ph idx="1"/>
          </p:nvPr>
        </p:nvSpPr>
        <p:spPr>
          <a:xfrm>
            <a:off x="0" y="1066800"/>
            <a:ext cx="9144000" cy="5791200"/>
          </a:xfrm>
          <a:solidFill>
            <a:schemeClr val="bg1"/>
          </a:solidFill>
        </p:spPr>
        <p:txBody>
          <a:bodyPr/>
          <a:lstStyle/>
          <a:p>
            <a:pPr marL="0" indent="0" algn="just" eaLnBrk="1" hangingPunct="1">
              <a:lnSpc>
                <a:spcPct val="80000"/>
              </a:lnSpc>
              <a:spcBef>
                <a:spcPts val="0"/>
              </a:spcBef>
              <a:buFontTx/>
              <a:buNone/>
              <a:defRPr/>
            </a:pPr>
            <a:r>
              <a:rPr lang="ru-RU" altLang="ru-RU" sz="3600" dirty="0">
                <a:latin typeface="Times New Roman" panose="02020603050405020304" pitchFamily="18" charset="0"/>
                <a:cs typeface="Times New Roman" panose="02020603050405020304" pitchFamily="18" charset="0"/>
              </a:rPr>
              <a:t>В процессе становления рыночной экономики предпринимательство приобретает </a:t>
            </a:r>
            <a:r>
              <a:rPr lang="ru-RU" altLang="ru-RU" sz="3600" b="1" dirty="0">
                <a:latin typeface="Times New Roman" panose="02020603050405020304" pitchFamily="18" charset="0"/>
                <a:cs typeface="Times New Roman" panose="02020603050405020304" pitchFamily="18" charset="0"/>
              </a:rPr>
              <a:t>социальную функцию, </a:t>
            </a:r>
            <a:r>
              <a:rPr lang="ru-RU" altLang="ru-RU" sz="3600" dirty="0">
                <a:latin typeface="Times New Roman" panose="02020603050405020304" pitchFamily="18" charset="0"/>
                <a:cs typeface="Times New Roman" panose="02020603050405020304" pitchFamily="18" charset="0"/>
              </a:rPr>
              <a:t>проявляющуюся в возможности каждого дееспособного индивидуума быть собственником дела. </a:t>
            </a:r>
            <a:endParaRPr lang="ru-RU" altLang="ru-RU" sz="3600" dirty="0" smtClean="0">
              <a:latin typeface="Times New Roman" panose="02020603050405020304" pitchFamily="18" charset="0"/>
              <a:cs typeface="Times New Roman" panose="02020603050405020304" pitchFamily="18" charset="0"/>
            </a:endParaRPr>
          </a:p>
          <a:p>
            <a:pPr marL="0" indent="0" algn="just" eaLnBrk="1" hangingPunct="1">
              <a:lnSpc>
                <a:spcPct val="80000"/>
              </a:lnSpc>
              <a:spcBef>
                <a:spcPts val="0"/>
              </a:spcBef>
              <a:buFontTx/>
              <a:buNone/>
              <a:defRPr/>
            </a:pPr>
            <a:r>
              <a:rPr lang="ru-RU" altLang="ru-RU" sz="3600" dirty="0" smtClean="0">
                <a:latin typeface="Times New Roman" panose="02020603050405020304" pitchFamily="18" charset="0"/>
                <a:cs typeface="Times New Roman" panose="02020603050405020304" pitchFamily="18" charset="0"/>
              </a:rPr>
              <a:t>Развитие </a:t>
            </a:r>
            <a:r>
              <a:rPr lang="ru-RU" altLang="ru-RU" sz="3600" dirty="0">
                <a:latin typeface="Times New Roman" panose="02020603050405020304" pitchFamily="18" charset="0"/>
                <a:cs typeface="Times New Roman" panose="02020603050405020304" pitchFamily="18" charset="0"/>
              </a:rPr>
              <a:t>предпринимательства обеспечивает рост числа рабочих мест, сокращение уровня безработицы, повышение социального уровня работников. </a:t>
            </a:r>
            <a:endParaRPr lang="ru-RU" altLang="ru-RU" sz="3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09966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200" y="0"/>
            <a:ext cx="9067800" cy="1143000"/>
          </a:xfrm>
        </p:spPr>
        <p:txBody>
          <a:bodyPr/>
          <a:lstStyle/>
          <a:p>
            <a:pPr eaLnBrk="1" hangingPunct="1"/>
            <a:r>
              <a:rPr lang="ru-RU" altLang="ru-RU" sz="2800" b="1" smtClean="0">
                <a:solidFill>
                  <a:srgbClr val="000000"/>
                </a:solidFill>
              </a:rPr>
              <a:t>3. Функции предпринимательской деятельности </a:t>
            </a:r>
          </a:p>
        </p:txBody>
      </p:sp>
      <p:sp>
        <p:nvSpPr>
          <p:cNvPr id="60419" name="Rectangle 3"/>
          <p:cNvSpPr>
            <a:spLocks noGrp="1" noChangeArrowheads="1"/>
          </p:cNvSpPr>
          <p:nvPr>
            <p:ph idx="1"/>
          </p:nvPr>
        </p:nvSpPr>
        <p:spPr>
          <a:xfrm>
            <a:off x="0" y="1128713"/>
            <a:ext cx="9144000" cy="5715000"/>
          </a:xfrm>
          <a:solidFill>
            <a:schemeClr val="bg1"/>
          </a:solidFill>
        </p:spPr>
        <p:txBody>
          <a:bodyPr/>
          <a:lstStyle/>
          <a:p>
            <a:pPr marL="0" indent="0" algn="just" eaLnBrk="1" hangingPunct="1">
              <a:lnSpc>
                <a:spcPct val="80000"/>
              </a:lnSpc>
              <a:spcBef>
                <a:spcPts val="0"/>
              </a:spcBef>
              <a:buFontTx/>
              <a:buNone/>
              <a:defRPr/>
            </a:pPr>
            <a:r>
              <a:rPr lang="ru-RU" altLang="ru-RU" sz="3600" b="1" dirty="0">
                <a:latin typeface="Times New Roman" panose="02020603050405020304" pitchFamily="18" charset="0"/>
                <a:cs typeface="Times New Roman" panose="02020603050405020304" pitchFamily="18" charset="0"/>
              </a:rPr>
              <a:t>Творческо-поисковая (инновационная) функция </a:t>
            </a:r>
            <a:r>
              <a:rPr lang="ru-RU" altLang="ru-RU" sz="3600" dirty="0">
                <a:latin typeface="Times New Roman" panose="02020603050405020304" pitchFamily="18" charset="0"/>
                <a:cs typeface="Times New Roman" panose="02020603050405020304" pitchFamily="18" charset="0"/>
              </a:rPr>
              <a:t>связана не только с использованием новых идей, но и с выработкой новых средств и факторов для достижения поставленных целей. </a:t>
            </a:r>
            <a:endParaRPr lang="ru-RU" altLang="ru-RU" sz="3600" dirty="0" smtClean="0">
              <a:latin typeface="Times New Roman" panose="02020603050405020304" pitchFamily="18" charset="0"/>
              <a:cs typeface="Times New Roman" panose="02020603050405020304" pitchFamily="18" charset="0"/>
            </a:endParaRPr>
          </a:p>
          <a:p>
            <a:pPr marL="0" indent="0" algn="just" eaLnBrk="1" hangingPunct="1">
              <a:lnSpc>
                <a:spcPct val="80000"/>
              </a:lnSpc>
              <a:spcBef>
                <a:spcPts val="0"/>
              </a:spcBef>
              <a:buFontTx/>
              <a:buNone/>
              <a:defRPr/>
            </a:pPr>
            <a:r>
              <a:rPr lang="ru-RU" altLang="ru-RU" sz="3600" b="1" dirty="0">
                <a:latin typeface="Times New Roman" panose="02020603050405020304" pitchFamily="18" charset="0"/>
                <a:cs typeface="Times New Roman" panose="02020603050405020304" pitchFamily="18" charset="0"/>
              </a:rPr>
              <a:t>Организаторская функция, </a:t>
            </a:r>
            <a:r>
              <a:rPr lang="ru-RU" altLang="ru-RU" sz="3600" dirty="0">
                <a:latin typeface="Times New Roman" panose="02020603050405020304" pitchFamily="18" charset="0"/>
                <a:cs typeface="Times New Roman" panose="02020603050405020304" pitchFamily="18" charset="0"/>
              </a:rPr>
              <a:t>которая проявляется в принятии предпринимателями самостоятельного решения об организации собственного дела, его диверсификации, формирования предпринимательского </a:t>
            </a:r>
            <a:r>
              <a:rPr lang="ru-RU" altLang="ru-RU" sz="3600" dirty="0" smtClean="0">
                <a:latin typeface="Times New Roman" panose="02020603050405020304" pitchFamily="18" charset="0"/>
                <a:cs typeface="Times New Roman" panose="02020603050405020304" pitchFamily="18" charset="0"/>
              </a:rPr>
              <a:t>управления. </a:t>
            </a:r>
          </a:p>
        </p:txBody>
      </p:sp>
    </p:spTree>
    <p:extLst>
      <p:ext uri="{BB962C8B-B14F-4D97-AF65-F5344CB8AC3E}">
        <p14:creationId xmlns:p14="http://schemas.microsoft.com/office/powerpoint/2010/main" val="5295251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2400" y="0"/>
            <a:ext cx="8991600" cy="1143000"/>
          </a:xfrm>
        </p:spPr>
        <p:txBody>
          <a:bodyPr/>
          <a:lstStyle/>
          <a:p>
            <a:pPr>
              <a:defRPr/>
            </a:pPr>
            <a:r>
              <a:rPr lang="ru-RU" sz="2400" b="1" dirty="0">
                <a:solidFill>
                  <a:schemeClr val="tx1">
                    <a:lumMod val="50000"/>
                  </a:schemeClr>
                </a:solidFill>
              </a:rPr>
              <a:t>4. Субъекты и объекты предпринимательской деятельности </a:t>
            </a:r>
            <a:endParaRPr lang="ru-RU" altLang="ru-RU" sz="2400" b="1" dirty="0" smtClean="0">
              <a:solidFill>
                <a:schemeClr val="tx1">
                  <a:lumMod val="50000"/>
                </a:schemeClr>
              </a:solidFill>
            </a:endParaRPr>
          </a:p>
        </p:txBody>
      </p:sp>
      <p:sp>
        <p:nvSpPr>
          <p:cNvPr id="60419" name="Rectangle 3"/>
          <p:cNvSpPr>
            <a:spLocks noGrp="1" noChangeArrowheads="1"/>
          </p:cNvSpPr>
          <p:nvPr>
            <p:ph idx="1"/>
          </p:nvPr>
        </p:nvSpPr>
        <p:spPr>
          <a:xfrm>
            <a:off x="0" y="1143000"/>
            <a:ext cx="9144000" cy="5715000"/>
          </a:xfrm>
          <a:solidFill>
            <a:schemeClr val="bg1"/>
          </a:solidFill>
        </p:spPr>
        <p:txBody>
          <a:bodyPr/>
          <a:lstStyle/>
          <a:p>
            <a:pPr marL="0" indent="0" algn="just" eaLnBrk="1" hangingPunct="1">
              <a:lnSpc>
                <a:spcPct val="80000"/>
              </a:lnSpc>
              <a:spcBef>
                <a:spcPts val="0"/>
              </a:spcBef>
              <a:buFontTx/>
              <a:buNone/>
              <a:defRPr/>
            </a:pPr>
            <a:r>
              <a:rPr lang="ru-RU" altLang="ru-RU" sz="3600" b="1" dirty="0">
                <a:latin typeface="Times New Roman" panose="02020603050405020304" pitchFamily="18" charset="0"/>
                <a:cs typeface="Times New Roman" panose="02020603050405020304" pitchFamily="18" charset="0"/>
              </a:rPr>
              <a:t>Объектом предпринимательской деятельности </a:t>
            </a:r>
            <a:r>
              <a:rPr lang="ru-RU" altLang="ru-RU" sz="3600" dirty="0">
                <a:latin typeface="Times New Roman" panose="02020603050405020304" pitchFamily="18" charset="0"/>
                <a:cs typeface="Times New Roman" panose="02020603050405020304" pitchFamily="18" charset="0"/>
              </a:rPr>
              <a:t>является производство товаров и услуг или выполнение работ. Все они в условиях рыночной экономики принимают форму товара, т</a:t>
            </a:r>
            <a:r>
              <a:rPr lang="ru-RU" altLang="ru-RU" sz="3600" dirty="0" smtClean="0">
                <a:latin typeface="Times New Roman" panose="02020603050405020304" pitchFamily="18" charset="0"/>
                <a:cs typeface="Times New Roman" panose="02020603050405020304" pitchFamily="18" charset="0"/>
              </a:rPr>
              <a:t>. о</a:t>
            </a:r>
            <a:r>
              <a:rPr lang="ru-RU" altLang="ru-RU" sz="3600" dirty="0">
                <a:latin typeface="Times New Roman" panose="02020603050405020304" pitchFamily="18" charset="0"/>
                <a:cs typeface="Times New Roman" panose="02020603050405020304" pitchFamily="18" charset="0"/>
              </a:rPr>
              <a:t>., объектом предпринимательства является товар. </a:t>
            </a:r>
            <a:r>
              <a:rPr lang="ru-RU" altLang="ru-RU" sz="3600" b="1" dirty="0">
                <a:latin typeface="Times New Roman" panose="02020603050405020304" pitchFamily="18" charset="0"/>
                <a:cs typeface="Times New Roman" panose="02020603050405020304" pitchFamily="18" charset="0"/>
              </a:rPr>
              <a:t>О</a:t>
            </a:r>
            <a:r>
              <a:rPr lang="ru-RU" altLang="ru-RU" sz="3600" b="1" dirty="0" smtClean="0">
                <a:latin typeface="Times New Roman" panose="02020603050405020304" pitchFamily="18" charset="0"/>
                <a:cs typeface="Times New Roman" panose="02020603050405020304" pitchFamily="18" charset="0"/>
              </a:rPr>
              <a:t>сновные </a:t>
            </a:r>
            <a:r>
              <a:rPr lang="ru-RU" altLang="ru-RU" sz="3600" b="1" dirty="0">
                <a:latin typeface="Times New Roman" panose="02020603050405020304" pitchFamily="18" charset="0"/>
                <a:cs typeface="Times New Roman" panose="02020603050405020304" pitchFamily="18" charset="0"/>
              </a:rPr>
              <a:t>характеристики товара: </a:t>
            </a:r>
          </a:p>
          <a:p>
            <a:pPr marL="742950" indent="-742950" algn="just" eaLnBrk="1" hangingPunct="1">
              <a:lnSpc>
                <a:spcPct val="80000"/>
              </a:lnSpc>
              <a:spcBef>
                <a:spcPts val="0"/>
              </a:spcBef>
              <a:buFontTx/>
              <a:buAutoNum type="arabicPeriod"/>
              <a:defRPr/>
            </a:pPr>
            <a:r>
              <a:rPr lang="ru-RU" altLang="ru-RU" sz="3600" u="sng" dirty="0" smtClean="0">
                <a:latin typeface="Times New Roman" panose="02020603050405020304" pitchFamily="18" charset="0"/>
                <a:cs typeface="Times New Roman" panose="02020603050405020304" pitchFamily="18" charset="0"/>
              </a:rPr>
              <a:t>Товары </a:t>
            </a:r>
            <a:r>
              <a:rPr lang="ru-RU" altLang="ru-RU" sz="3600" u="sng" dirty="0">
                <a:latin typeface="Times New Roman" panose="02020603050405020304" pitchFamily="18" charset="0"/>
                <a:cs typeface="Times New Roman" panose="02020603050405020304" pitchFamily="18" charset="0"/>
              </a:rPr>
              <a:t>с высокой потребительной стоимостью - товары 1-й необходимости</a:t>
            </a:r>
            <a:r>
              <a:rPr lang="ru-RU" altLang="ru-RU" sz="3600" dirty="0">
                <a:latin typeface="Times New Roman" panose="02020603050405020304" pitchFamily="18" charset="0"/>
                <a:cs typeface="Times New Roman" panose="02020603050405020304" pitchFamily="18" charset="0"/>
              </a:rPr>
              <a:t> (одежда, продукты питания); </a:t>
            </a:r>
            <a:endParaRPr lang="ru-RU" altLang="ru-RU" sz="3600" dirty="0" smtClean="0">
              <a:latin typeface="Times New Roman" panose="02020603050405020304" pitchFamily="18" charset="0"/>
              <a:cs typeface="Times New Roman" panose="02020603050405020304" pitchFamily="18" charset="0"/>
            </a:endParaRPr>
          </a:p>
          <a:p>
            <a:pPr marL="742950" indent="-742950" algn="just" eaLnBrk="1" hangingPunct="1">
              <a:lnSpc>
                <a:spcPct val="80000"/>
              </a:lnSpc>
              <a:spcBef>
                <a:spcPts val="0"/>
              </a:spcBef>
              <a:buFontTx/>
              <a:buAutoNum type="arabicPeriod"/>
              <a:defRPr/>
            </a:pPr>
            <a:r>
              <a:rPr lang="ru-RU" altLang="ru-RU" sz="3600" u="sng" dirty="0" smtClean="0">
                <a:latin typeface="Times New Roman" panose="02020603050405020304" pitchFamily="18" charset="0"/>
                <a:cs typeface="Times New Roman" panose="02020603050405020304" pitchFamily="18" charset="0"/>
              </a:rPr>
              <a:t>Товары </a:t>
            </a:r>
            <a:r>
              <a:rPr lang="ru-RU" altLang="ru-RU" sz="3600" u="sng" dirty="0">
                <a:latin typeface="Times New Roman" panose="02020603050405020304" pitchFamily="18" charset="0"/>
                <a:cs typeface="Times New Roman" panose="02020603050405020304" pitchFamily="18" charset="0"/>
              </a:rPr>
              <a:t>с низкой потребительной стоимостью - товары низкого качества; </a:t>
            </a:r>
          </a:p>
        </p:txBody>
      </p:sp>
    </p:spTree>
    <p:extLst>
      <p:ext uri="{BB962C8B-B14F-4D97-AF65-F5344CB8AC3E}">
        <p14:creationId xmlns:p14="http://schemas.microsoft.com/office/powerpoint/2010/main" val="1792430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0" y="0"/>
            <a:ext cx="9144000" cy="1143000"/>
          </a:xfrm>
        </p:spPr>
        <p:txBody>
          <a:bodyPr/>
          <a:lstStyle/>
          <a:p>
            <a:pPr eaLnBrk="1" hangingPunct="1"/>
            <a:r>
              <a:rPr lang="ru-RU" altLang="ru-RU" sz="2800" b="1" smtClean="0">
                <a:solidFill>
                  <a:srgbClr val="000000"/>
                </a:solidFill>
              </a:rPr>
              <a:t>4. Субъекты и объекты предпринимательской деятельности </a:t>
            </a:r>
          </a:p>
        </p:txBody>
      </p:sp>
      <p:sp>
        <p:nvSpPr>
          <p:cNvPr id="60419" name="Rectangle 3"/>
          <p:cNvSpPr>
            <a:spLocks noGrp="1" noChangeArrowheads="1"/>
          </p:cNvSpPr>
          <p:nvPr>
            <p:ph idx="1"/>
          </p:nvPr>
        </p:nvSpPr>
        <p:spPr>
          <a:xfrm>
            <a:off x="0" y="1143000"/>
            <a:ext cx="9144000" cy="5486400"/>
          </a:xfrm>
          <a:solidFill>
            <a:schemeClr val="bg1"/>
          </a:solidFill>
        </p:spPr>
        <p:txBody>
          <a:bodyPr/>
          <a:lstStyle/>
          <a:p>
            <a:pPr marL="0" indent="0" algn="just" eaLnBrk="1" hangingPunct="1">
              <a:lnSpc>
                <a:spcPct val="80000"/>
              </a:lnSpc>
              <a:spcBef>
                <a:spcPts val="0"/>
              </a:spcBef>
              <a:buFontTx/>
              <a:buNone/>
              <a:defRPr/>
            </a:pPr>
            <a:r>
              <a:rPr lang="ru-RU" altLang="ru-RU" sz="3600" dirty="0">
                <a:solidFill>
                  <a:schemeClr val="accent4">
                    <a:lumMod val="50000"/>
                  </a:schemeClr>
                </a:solidFill>
                <a:latin typeface="Times New Roman" panose="02020603050405020304" pitchFamily="18" charset="0"/>
                <a:cs typeface="Times New Roman" panose="02020603050405020304" pitchFamily="18" charset="0"/>
              </a:rPr>
              <a:t>3. </a:t>
            </a:r>
            <a:r>
              <a:rPr lang="ru-RU" altLang="ru-RU" sz="3600" u="sng" dirty="0">
                <a:latin typeface="Times New Roman" panose="02020603050405020304" pitchFamily="18" charset="0"/>
                <a:cs typeface="Times New Roman" panose="02020603050405020304" pitchFamily="18" charset="0"/>
              </a:rPr>
              <a:t>Товары с ограниченной потребительной стоимостью </a:t>
            </a:r>
            <a:r>
              <a:rPr lang="ru-RU" altLang="ru-RU" sz="3600" dirty="0">
                <a:latin typeface="Times New Roman" panose="02020603050405020304" pitchFamily="18" charset="0"/>
                <a:cs typeface="Times New Roman" panose="02020603050405020304" pitchFamily="18" charset="0"/>
              </a:rPr>
              <a:t>- предназначены для определенных категорий потребителей (книга для филателистов, инвалидная коляска, книги для слепых и др.); </a:t>
            </a:r>
          </a:p>
          <a:p>
            <a:pPr marL="0" indent="0" algn="just" eaLnBrk="1" hangingPunct="1">
              <a:lnSpc>
                <a:spcPct val="80000"/>
              </a:lnSpc>
              <a:spcBef>
                <a:spcPts val="0"/>
              </a:spcBef>
              <a:buFontTx/>
              <a:buNone/>
              <a:defRPr/>
            </a:pPr>
            <a:r>
              <a:rPr lang="ru-RU" altLang="ru-RU" sz="3600" dirty="0">
                <a:latin typeface="Times New Roman" panose="02020603050405020304" pitchFamily="18" charset="0"/>
                <a:cs typeface="Times New Roman" panose="02020603050405020304" pitchFamily="18" charset="0"/>
              </a:rPr>
              <a:t>4. </a:t>
            </a:r>
            <a:r>
              <a:rPr lang="ru-RU" altLang="ru-RU" sz="3600" u="sng" dirty="0">
                <a:latin typeface="Times New Roman" panose="02020603050405020304" pitchFamily="18" charset="0"/>
                <a:cs typeface="Times New Roman" panose="02020603050405020304" pitchFamily="18" charset="0"/>
              </a:rPr>
              <a:t>Товары с особой потребительной стоимостью </a:t>
            </a:r>
            <a:r>
              <a:rPr lang="ru-RU" altLang="ru-RU" sz="3600" dirty="0">
                <a:latin typeface="Times New Roman" panose="02020603050405020304" pitchFamily="18" charset="0"/>
                <a:cs typeface="Times New Roman" panose="02020603050405020304" pitchFamily="18" charset="0"/>
              </a:rPr>
              <a:t>- товары на заказ. </a:t>
            </a:r>
          </a:p>
          <a:p>
            <a:pPr marL="0" indent="0" algn="just" eaLnBrk="1" hangingPunct="1">
              <a:lnSpc>
                <a:spcPct val="80000"/>
              </a:lnSpc>
              <a:spcBef>
                <a:spcPts val="0"/>
              </a:spcBef>
              <a:buFontTx/>
              <a:buNone/>
              <a:defRPr/>
            </a:pPr>
            <a:r>
              <a:rPr lang="ru-RU" altLang="ru-RU" sz="3600" dirty="0">
                <a:latin typeface="Times New Roman" panose="02020603050405020304" pitchFamily="18" charset="0"/>
                <a:cs typeface="Times New Roman" panose="02020603050405020304" pitchFamily="18" charset="0"/>
              </a:rPr>
              <a:t>Главной и отличительной характеристикой товара выступает его </a:t>
            </a:r>
            <a:r>
              <a:rPr lang="ru-RU" altLang="ru-RU" sz="3600" b="1" dirty="0">
                <a:latin typeface="Times New Roman" panose="02020603050405020304" pitchFamily="18" charset="0"/>
                <a:cs typeface="Times New Roman" panose="02020603050405020304" pitchFamily="18" charset="0"/>
              </a:rPr>
              <a:t>рыночная цена. </a:t>
            </a:r>
            <a:endParaRPr lang="ru-RU" altLang="ru-RU" sz="36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659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28600" y="0"/>
            <a:ext cx="8915400" cy="1143000"/>
          </a:xfrm>
        </p:spPr>
        <p:txBody>
          <a:bodyPr/>
          <a:lstStyle/>
          <a:p>
            <a:pPr eaLnBrk="1" hangingPunct="1"/>
            <a:r>
              <a:rPr lang="ru-RU" altLang="ru-RU" sz="2800" b="1" dirty="0" smtClean="0">
                <a:solidFill>
                  <a:srgbClr val="000000"/>
                </a:solidFill>
              </a:rPr>
              <a:t>4. Субъекты и объекты предпринимательской деятельности </a:t>
            </a:r>
          </a:p>
        </p:txBody>
      </p:sp>
      <p:sp>
        <p:nvSpPr>
          <p:cNvPr id="60419" name="Rectangle 3"/>
          <p:cNvSpPr>
            <a:spLocks noGrp="1" noChangeArrowheads="1"/>
          </p:cNvSpPr>
          <p:nvPr>
            <p:ph idx="1"/>
          </p:nvPr>
        </p:nvSpPr>
        <p:spPr>
          <a:xfrm>
            <a:off x="0" y="1143000"/>
            <a:ext cx="9144000" cy="5715000"/>
          </a:xfrm>
          <a:solidFill>
            <a:schemeClr val="bg1"/>
          </a:solidFill>
        </p:spPr>
        <p:txBody>
          <a:bodyPr/>
          <a:lstStyle/>
          <a:p>
            <a:pPr marL="0" indent="0" algn="just">
              <a:lnSpc>
                <a:spcPct val="80000"/>
              </a:lnSpc>
              <a:spcBef>
                <a:spcPts val="0"/>
              </a:spcBef>
              <a:buNone/>
              <a:defRPr/>
            </a:pPr>
            <a:r>
              <a:rPr lang="ru-RU" altLang="ru-RU" dirty="0">
                <a:latin typeface="Times New Roman" panose="02020603050405020304" pitchFamily="18" charset="0"/>
                <a:cs typeface="Times New Roman" panose="02020603050405020304" pitchFamily="18" charset="0"/>
              </a:rPr>
              <a:t>Субъекты предпринимательской деятельности – это лица, которые </a:t>
            </a:r>
            <a:r>
              <a:rPr lang="ru-RU" altLang="ru-RU" dirty="0" smtClean="0">
                <a:latin typeface="Times New Roman" panose="02020603050405020304" pitchFamily="18" charset="0"/>
                <a:cs typeface="Times New Roman" panose="02020603050405020304" pitchFamily="18" charset="0"/>
              </a:rPr>
              <a:t>могут</a:t>
            </a:r>
            <a:r>
              <a:rPr lang="en-US" altLang="ru-RU" dirty="0" smtClean="0">
                <a:latin typeface="Times New Roman" panose="02020603050405020304" pitchFamily="18" charset="0"/>
                <a:cs typeface="Times New Roman" panose="02020603050405020304" pitchFamily="18" charset="0"/>
              </a:rPr>
              <a:t> </a:t>
            </a:r>
            <a:r>
              <a:rPr lang="ru-RU" altLang="ru-RU" dirty="0" smtClean="0">
                <a:latin typeface="Times New Roman" panose="02020603050405020304" pitchFamily="18" charset="0"/>
                <a:cs typeface="Times New Roman" panose="02020603050405020304" pitchFamily="18" charset="0"/>
              </a:rPr>
              <a:t>заниматься </a:t>
            </a:r>
            <a:r>
              <a:rPr lang="ru-RU" altLang="ru-RU" dirty="0">
                <a:latin typeface="Times New Roman" panose="02020603050405020304" pitchFamily="18" charset="0"/>
                <a:cs typeface="Times New Roman" panose="02020603050405020304" pitchFamily="18" charset="0"/>
              </a:rPr>
              <a:t>данной деятельностью.</a:t>
            </a:r>
          </a:p>
          <a:p>
            <a:pPr marL="0" indent="0" algn="just">
              <a:lnSpc>
                <a:spcPct val="80000"/>
              </a:lnSpc>
              <a:spcBef>
                <a:spcPts val="0"/>
              </a:spcBef>
              <a:buNone/>
              <a:defRPr/>
            </a:pPr>
            <a:r>
              <a:rPr lang="ru-RU" altLang="ru-RU" b="1" dirty="0">
                <a:latin typeface="Times New Roman" panose="02020603050405020304" pitchFamily="18" charset="0"/>
                <a:cs typeface="Times New Roman" panose="02020603050405020304" pitchFamily="18" charset="0"/>
              </a:rPr>
              <a:t>Предпринимательской деятельностью может заниматься:</a:t>
            </a:r>
          </a:p>
          <a:p>
            <a:pPr algn="just">
              <a:lnSpc>
                <a:spcPct val="80000"/>
              </a:lnSpc>
              <a:spcBef>
                <a:spcPts val="0"/>
              </a:spcBef>
              <a:defRPr/>
            </a:pPr>
            <a:r>
              <a:rPr lang="ru-RU" altLang="ru-RU" dirty="0" smtClean="0">
                <a:latin typeface="Times New Roman" panose="02020603050405020304" pitchFamily="18" charset="0"/>
                <a:cs typeface="Times New Roman" panose="02020603050405020304" pitchFamily="18" charset="0"/>
              </a:rPr>
              <a:t>любой </a:t>
            </a:r>
            <a:r>
              <a:rPr lang="ru-RU" altLang="ru-RU" dirty="0">
                <a:latin typeface="Times New Roman" panose="02020603050405020304" pitchFamily="18" charset="0"/>
                <a:cs typeface="Times New Roman" panose="02020603050405020304" pitchFamily="18" charset="0"/>
              </a:rPr>
              <a:t>гражданин, не ограниченный в правах;</a:t>
            </a:r>
          </a:p>
          <a:p>
            <a:pPr algn="just">
              <a:lnSpc>
                <a:spcPct val="80000"/>
              </a:lnSpc>
              <a:spcBef>
                <a:spcPts val="0"/>
              </a:spcBef>
              <a:defRPr/>
            </a:pPr>
            <a:r>
              <a:rPr lang="ru-RU" altLang="ru-RU" dirty="0" smtClean="0">
                <a:latin typeface="Times New Roman" panose="02020603050405020304" pitchFamily="18" charset="0"/>
                <a:cs typeface="Times New Roman" panose="02020603050405020304" pitchFamily="18" charset="0"/>
              </a:rPr>
              <a:t>любой </a:t>
            </a:r>
            <a:r>
              <a:rPr lang="ru-RU" altLang="ru-RU" dirty="0">
                <a:latin typeface="Times New Roman" panose="02020603050405020304" pitchFamily="18" charset="0"/>
                <a:cs typeface="Times New Roman" panose="02020603050405020304" pitchFamily="18" charset="0"/>
              </a:rPr>
              <a:t>иностранный гражданин и лицо без гражданства в </a:t>
            </a:r>
            <a:r>
              <a:rPr lang="ru-RU" altLang="ru-RU" dirty="0" smtClean="0">
                <a:latin typeface="Times New Roman" panose="02020603050405020304" pitchFamily="18" charset="0"/>
                <a:cs typeface="Times New Roman" panose="02020603050405020304" pitchFamily="18" charset="0"/>
              </a:rPr>
              <a:t>пределах полномочий</a:t>
            </a:r>
            <a:r>
              <a:rPr lang="ru-RU" altLang="ru-RU" dirty="0">
                <a:latin typeface="Times New Roman" panose="02020603050405020304" pitchFamily="18" charset="0"/>
                <a:cs typeface="Times New Roman" panose="02020603050405020304" pitchFamily="18" charset="0"/>
              </a:rPr>
              <a:t>, установленных законодательством Российской </a:t>
            </a:r>
            <a:r>
              <a:rPr lang="ru-RU" altLang="ru-RU" dirty="0" smtClean="0">
                <a:latin typeface="Times New Roman" panose="02020603050405020304" pitchFamily="18" charset="0"/>
                <a:cs typeface="Times New Roman" panose="02020603050405020304" pitchFamily="18" charset="0"/>
              </a:rPr>
              <a:t>Федерации</a:t>
            </a:r>
            <a:r>
              <a:rPr lang="en-US" altLang="ru-RU" dirty="0" smtClean="0">
                <a:latin typeface="Times New Roman" panose="02020603050405020304" pitchFamily="18" charset="0"/>
                <a:cs typeface="Times New Roman" panose="02020603050405020304" pitchFamily="18" charset="0"/>
              </a:rPr>
              <a:t>;</a:t>
            </a:r>
            <a:r>
              <a:rPr lang="ru-RU" altLang="ru-RU" dirty="0" smtClean="0">
                <a:latin typeface="Times New Roman" panose="02020603050405020304" pitchFamily="18" charset="0"/>
                <a:cs typeface="Times New Roman" panose="02020603050405020304" pitchFamily="18" charset="0"/>
              </a:rPr>
              <a:t> </a:t>
            </a:r>
          </a:p>
          <a:p>
            <a:pPr algn="just">
              <a:lnSpc>
                <a:spcPct val="80000"/>
              </a:lnSpc>
              <a:spcBef>
                <a:spcPts val="0"/>
              </a:spcBef>
              <a:defRPr/>
            </a:pPr>
            <a:r>
              <a:rPr lang="ru-RU" altLang="ru-RU" dirty="0" smtClean="0">
                <a:latin typeface="Times New Roman" panose="02020603050405020304" pitchFamily="18" charset="0"/>
                <a:cs typeface="Times New Roman" panose="02020603050405020304" pitchFamily="18" charset="0"/>
              </a:rPr>
              <a:t>объединения </a:t>
            </a:r>
            <a:r>
              <a:rPr lang="ru-RU" altLang="ru-RU" dirty="0">
                <a:latin typeface="Times New Roman" panose="02020603050405020304" pitchFamily="18" charset="0"/>
                <a:cs typeface="Times New Roman" panose="02020603050405020304" pitchFamily="18" charset="0"/>
              </a:rPr>
              <a:t>граждан – коллективные предприниматели (партнеры). </a:t>
            </a:r>
            <a:endParaRPr lang="ru-RU" altLang="ru-RU"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30907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188640"/>
            <a:ext cx="9108504" cy="6552728"/>
          </a:xfrm>
        </p:spPr>
        <p:txBody>
          <a:bodyPr>
            <a:normAutofit/>
          </a:bodyPr>
          <a:lstStyle/>
          <a:p>
            <a:pPr marL="0" indent="0">
              <a:buNone/>
            </a:pPr>
            <a:r>
              <a:rPr lang="ru-RU" dirty="0"/>
              <a:t>В Российской федерации заниматься предпринимательской </a:t>
            </a:r>
            <a:r>
              <a:rPr lang="ru-RU" dirty="0" smtClean="0"/>
              <a:t>деятельностью</a:t>
            </a:r>
            <a:r>
              <a:rPr lang="en-US" dirty="0" smtClean="0"/>
              <a:t> </a:t>
            </a:r>
            <a:r>
              <a:rPr lang="ru-RU" dirty="0" smtClean="0"/>
              <a:t>может </a:t>
            </a:r>
            <a:r>
              <a:rPr lang="ru-RU" dirty="0"/>
              <a:t>гражданин РФ, признанный дееспособным:</a:t>
            </a:r>
          </a:p>
          <a:p>
            <a:r>
              <a:rPr lang="ru-RU" dirty="0" smtClean="0"/>
              <a:t>с </a:t>
            </a:r>
            <a:r>
              <a:rPr lang="ru-RU" dirty="0"/>
              <a:t>наступлением совершеннолетия, т.е. в силу достижения 18 </a:t>
            </a:r>
            <a:r>
              <a:rPr lang="ru-RU" dirty="0" smtClean="0"/>
              <a:t>летнего</a:t>
            </a:r>
            <a:r>
              <a:rPr lang="en-US" dirty="0" smtClean="0"/>
              <a:t> </a:t>
            </a:r>
            <a:r>
              <a:rPr lang="ru-RU" dirty="0" smtClean="0"/>
              <a:t>возраста</a:t>
            </a:r>
            <a:r>
              <a:rPr lang="ru-RU" dirty="0"/>
              <a:t>;</a:t>
            </a:r>
          </a:p>
          <a:p>
            <a:r>
              <a:rPr lang="ru-RU" dirty="0" smtClean="0"/>
              <a:t>вступивший </a:t>
            </a:r>
            <a:r>
              <a:rPr lang="ru-RU" dirty="0"/>
              <a:t>в брак до достижения 18-летнего возраста (когда такой </a:t>
            </a:r>
            <a:r>
              <a:rPr lang="ru-RU" dirty="0" smtClean="0"/>
              <a:t>брак</a:t>
            </a:r>
            <a:r>
              <a:rPr lang="en-US" dirty="0" smtClean="0"/>
              <a:t> </a:t>
            </a:r>
            <a:r>
              <a:rPr lang="ru-RU" dirty="0" smtClean="0"/>
              <a:t>допускается </a:t>
            </a:r>
            <a:r>
              <a:rPr lang="ru-RU" dirty="0"/>
              <a:t>законом);</a:t>
            </a:r>
          </a:p>
          <a:p>
            <a:r>
              <a:rPr lang="ru-RU" dirty="0" smtClean="0"/>
              <a:t>с </a:t>
            </a:r>
            <a:r>
              <a:rPr lang="ru-RU" dirty="0"/>
              <a:t>16 лет при наличии согласия родителей, усыновителей или попечителей </a:t>
            </a:r>
            <a:r>
              <a:rPr lang="ru-RU" dirty="0" smtClean="0"/>
              <a:t>и</a:t>
            </a:r>
            <a:r>
              <a:rPr lang="en-US" dirty="0" smtClean="0"/>
              <a:t> </a:t>
            </a:r>
            <a:r>
              <a:rPr lang="ru-RU" dirty="0" smtClean="0"/>
              <a:t>при </a:t>
            </a:r>
            <a:r>
              <a:rPr lang="ru-RU" dirty="0"/>
              <a:t>решении о признании органами опеки и попечительства </a:t>
            </a:r>
            <a:r>
              <a:rPr lang="ru-RU" dirty="0" smtClean="0"/>
              <a:t>такого</a:t>
            </a:r>
            <a:r>
              <a:rPr lang="en-US" dirty="0" smtClean="0"/>
              <a:t> </a:t>
            </a:r>
            <a:r>
              <a:rPr lang="ru-RU" dirty="0" smtClean="0"/>
              <a:t>гражданина </a:t>
            </a:r>
            <a:r>
              <a:rPr lang="ru-RU" dirty="0"/>
              <a:t>дееспособным;</a:t>
            </a:r>
          </a:p>
          <a:p>
            <a:r>
              <a:rPr lang="ru-RU" dirty="0" smtClean="0"/>
              <a:t> </a:t>
            </a:r>
            <a:r>
              <a:rPr lang="ru-RU" dirty="0"/>
              <a:t>с 16 лет при отсутствии согласия родителей, усыновителей </a:t>
            </a:r>
            <a:r>
              <a:rPr lang="ru-RU" dirty="0" smtClean="0"/>
              <a:t>или</a:t>
            </a:r>
            <a:r>
              <a:rPr lang="en-US" dirty="0" smtClean="0"/>
              <a:t> </a:t>
            </a:r>
            <a:r>
              <a:rPr lang="ru-RU" dirty="0" smtClean="0"/>
              <a:t>попечителей </a:t>
            </a:r>
            <a:r>
              <a:rPr lang="ru-RU" dirty="0"/>
              <a:t>и при решении о признании органами опеки и </a:t>
            </a:r>
            <a:r>
              <a:rPr lang="ru-RU" dirty="0" smtClean="0"/>
              <a:t>попечительства</a:t>
            </a:r>
            <a:r>
              <a:rPr lang="en-US" dirty="0" smtClean="0"/>
              <a:t> </a:t>
            </a:r>
            <a:r>
              <a:rPr lang="ru-RU" dirty="0" smtClean="0"/>
              <a:t>дееспособным </a:t>
            </a:r>
            <a:r>
              <a:rPr lang="ru-RU" dirty="0"/>
              <a:t>на основании решения суда. </a:t>
            </a:r>
          </a:p>
        </p:txBody>
      </p:sp>
    </p:spTree>
    <p:extLst>
      <p:ext uri="{BB962C8B-B14F-4D97-AF65-F5344CB8AC3E}">
        <p14:creationId xmlns:p14="http://schemas.microsoft.com/office/powerpoint/2010/main" val="15312136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a:bodyPr>
          <a:lstStyle/>
          <a:p>
            <a:pPr marL="0" indent="342900">
              <a:spcBef>
                <a:spcPts val="0"/>
              </a:spcBef>
              <a:buNone/>
            </a:pPr>
            <a:r>
              <a:rPr lang="ru-RU" dirty="0" smtClean="0"/>
              <a:t>Предприниматель постоянно находится под воздействием самых разнообразных факторов, оказывающих влияние на те или иные стороны его деятельности.</a:t>
            </a:r>
          </a:p>
          <a:p>
            <a:pPr marL="0" indent="342900">
              <a:spcBef>
                <a:spcPts val="0"/>
              </a:spcBef>
              <a:buNone/>
            </a:pPr>
            <a:r>
              <a:rPr lang="ru-RU" u="sng" dirty="0" smtClean="0"/>
              <a:t>Факторы предпринимательства</a:t>
            </a:r>
            <a:r>
              <a:rPr lang="ru-RU" dirty="0" smtClean="0"/>
              <a:t> - это параметры, определяющие возможности и характер проявления  свойств  предпринимательства.</a:t>
            </a:r>
          </a:p>
          <a:p>
            <a:pPr marL="0" indent="342900">
              <a:spcBef>
                <a:spcPts val="0"/>
              </a:spcBef>
              <a:buNone/>
            </a:pPr>
            <a:endParaRPr lang="ru-RU" dirty="0"/>
          </a:p>
        </p:txBody>
      </p:sp>
      <p:sp>
        <p:nvSpPr>
          <p:cNvPr id="4" name="Прямоугольник 3"/>
          <p:cNvSpPr/>
          <p:nvPr/>
        </p:nvSpPr>
        <p:spPr>
          <a:xfrm>
            <a:off x="-31249" y="2420888"/>
            <a:ext cx="4143372" cy="335756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ru-RU" sz="2200" b="1" dirty="0" smtClean="0">
                <a:solidFill>
                  <a:schemeClr val="tx1"/>
                </a:solidFill>
              </a:rPr>
              <a:t>Внешние факторы</a:t>
            </a:r>
            <a:endParaRPr lang="ru-RU" sz="2200" dirty="0" smtClean="0">
              <a:solidFill>
                <a:schemeClr val="tx1"/>
              </a:solidFill>
            </a:endParaRPr>
          </a:p>
          <a:p>
            <a:pPr>
              <a:buNone/>
            </a:pPr>
            <a:r>
              <a:rPr lang="ru-RU" sz="2200" dirty="0" smtClean="0">
                <a:solidFill>
                  <a:schemeClr val="tx1"/>
                </a:solidFill>
              </a:rPr>
              <a:t>1. Природно-демографические факторы</a:t>
            </a:r>
          </a:p>
          <a:p>
            <a:pPr>
              <a:buNone/>
            </a:pPr>
            <a:r>
              <a:rPr lang="ru-RU" sz="2200" dirty="0" smtClean="0">
                <a:solidFill>
                  <a:schemeClr val="tx1"/>
                </a:solidFill>
              </a:rPr>
              <a:t>2. Социально-культурные факторы</a:t>
            </a:r>
          </a:p>
          <a:p>
            <a:pPr>
              <a:buNone/>
            </a:pPr>
            <a:r>
              <a:rPr lang="ru-RU" sz="2200" dirty="0" smtClean="0">
                <a:solidFill>
                  <a:schemeClr val="tx1"/>
                </a:solidFill>
              </a:rPr>
              <a:t>3. Технологические факторы</a:t>
            </a:r>
          </a:p>
          <a:p>
            <a:pPr>
              <a:buNone/>
            </a:pPr>
            <a:r>
              <a:rPr lang="ru-RU" sz="2200" dirty="0" smtClean="0">
                <a:solidFill>
                  <a:schemeClr val="tx1"/>
                </a:solidFill>
              </a:rPr>
              <a:t>4. Экономические факторы</a:t>
            </a:r>
          </a:p>
          <a:p>
            <a:pPr>
              <a:buNone/>
            </a:pPr>
            <a:r>
              <a:rPr lang="ru-RU" sz="2200" dirty="0" smtClean="0">
                <a:solidFill>
                  <a:schemeClr val="tx1"/>
                </a:solidFill>
              </a:rPr>
              <a:t>5. Институциональные факторы</a:t>
            </a:r>
          </a:p>
          <a:p>
            <a:pPr>
              <a:buNone/>
            </a:pPr>
            <a:r>
              <a:rPr lang="ru-RU" sz="2200" dirty="0" smtClean="0">
                <a:solidFill>
                  <a:schemeClr val="tx1"/>
                </a:solidFill>
              </a:rPr>
              <a:t>6. Правовые факторы</a:t>
            </a:r>
          </a:p>
          <a:p>
            <a:pPr>
              <a:buNone/>
            </a:pPr>
            <a:r>
              <a:rPr lang="ru-RU" sz="2200" dirty="0" smtClean="0">
                <a:solidFill>
                  <a:schemeClr val="tx1"/>
                </a:solidFill>
              </a:rPr>
              <a:t>7. Политические факторы</a:t>
            </a:r>
          </a:p>
        </p:txBody>
      </p:sp>
      <p:sp>
        <p:nvSpPr>
          <p:cNvPr id="5" name="Прямоугольник 4"/>
          <p:cNvSpPr/>
          <p:nvPr/>
        </p:nvSpPr>
        <p:spPr>
          <a:xfrm>
            <a:off x="4143372" y="2420888"/>
            <a:ext cx="5000628" cy="335756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2200" b="1" dirty="0" smtClean="0">
                <a:solidFill>
                  <a:schemeClr val="tx1"/>
                </a:solidFill>
              </a:rPr>
              <a:t>Внутренние факторы</a:t>
            </a:r>
            <a:endParaRPr lang="ru-RU" sz="2200" dirty="0" smtClean="0">
              <a:solidFill>
                <a:schemeClr val="tx1"/>
              </a:solidFill>
            </a:endParaRPr>
          </a:p>
          <a:p>
            <a:r>
              <a:rPr lang="ru-RU" sz="2200" dirty="0" smtClean="0">
                <a:solidFill>
                  <a:schemeClr val="tx1"/>
                </a:solidFill>
              </a:rPr>
              <a:t>1) развитость отношений собственности;</a:t>
            </a:r>
          </a:p>
          <a:p>
            <a:r>
              <a:rPr lang="ru-RU" sz="2200" dirty="0" smtClean="0">
                <a:solidFill>
                  <a:schemeClr val="tx1"/>
                </a:solidFill>
              </a:rPr>
              <a:t>2)особенности внутренней организации хозяйственных ячеек:</a:t>
            </a:r>
          </a:p>
          <a:p>
            <a:pPr>
              <a:buFontTx/>
              <a:buChar char="-"/>
            </a:pPr>
            <a:r>
              <a:rPr lang="ru-RU" sz="2200" dirty="0" smtClean="0">
                <a:solidFill>
                  <a:schemeClr val="tx1"/>
                </a:solidFill>
              </a:rPr>
              <a:t>масштабность организации;</a:t>
            </a:r>
          </a:p>
          <a:p>
            <a:pPr>
              <a:buFontTx/>
              <a:buChar char="-"/>
            </a:pPr>
            <a:r>
              <a:rPr lang="ru-RU" sz="2200" dirty="0" smtClean="0">
                <a:solidFill>
                  <a:schemeClr val="tx1"/>
                </a:solidFill>
              </a:rPr>
              <a:t>особенности иерархической структуры;</a:t>
            </a:r>
          </a:p>
          <a:p>
            <a:r>
              <a:rPr lang="ru-RU" sz="2200" dirty="0" smtClean="0">
                <a:solidFill>
                  <a:schemeClr val="tx1"/>
                </a:solidFill>
              </a:rPr>
              <a:t>- форма и характер управления организацией</a:t>
            </a:r>
            <a:endParaRPr lang="ru-RU" sz="2200" dirty="0">
              <a:solidFill>
                <a:schemeClr val="tx1"/>
              </a:solidFill>
            </a:endParaRPr>
          </a:p>
        </p:txBody>
      </p:sp>
    </p:spTree>
    <p:extLst>
      <p:ext uri="{BB962C8B-B14F-4D97-AF65-F5344CB8AC3E}">
        <p14:creationId xmlns:p14="http://schemas.microsoft.com/office/powerpoint/2010/main" val="1170515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90600" y="0"/>
            <a:ext cx="8153400" cy="1143000"/>
          </a:xfrm>
        </p:spPr>
        <p:txBody>
          <a:bodyPr/>
          <a:lstStyle/>
          <a:p>
            <a:pPr>
              <a:defRPr/>
            </a:pPr>
            <a:r>
              <a:rPr lang="ru-RU" sz="2400" b="1" dirty="0" smtClean="0">
                <a:solidFill>
                  <a:schemeClr val="tx1"/>
                </a:solidFill>
              </a:rPr>
              <a:t>5. Классификация предпринимательской деятельности</a:t>
            </a:r>
            <a:endParaRPr lang="ru-RU" altLang="ru-RU" sz="2400" b="1" dirty="0" smtClean="0">
              <a:solidFill>
                <a:schemeClr val="tx1">
                  <a:lumMod val="50000"/>
                </a:schemeClr>
              </a:solidFill>
            </a:endParaRPr>
          </a:p>
        </p:txBody>
      </p:sp>
      <p:sp>
        <p:nvSpPr>
          <p:cNvPr id="60419" name="Rectangle 3"/>
          <p:cNvSpPr>
            <a:spLocks noGrp="1" noChangeArrowheads="1"/>
          </p:cNvSpPr>
          <p:nvPr>
            <p:ph idx="1"/>
          </p:nvPr>
        </p:nvSpPr>
        <p:spPr>
          <a:xfrm>
            <a:off x="0" y="914400"/>
            <a:ext cx="9144000" cy="5715000"/>
          </a:xfrm>
          <a:solidFill>
            <a:schemeClr val="bg1"/>
          </a:solidFill>
        </p:spPr>
        <p:txBody>
          <a:bodyPr/>
          <a:lstStyle/>
          <a:p>
            <a:pPr>
              <a:buFontTx/>
              <a:buNone/>
              <a:defRPr/>
            </a:pPr>
            <a:r>
              <a:rPr lang="ru-RU" b="1" i="1" dirty="0" smtClean="0"/>
              <a:t>Виды предпринимательства по сфере деятельности:</a:t>
            </a:r>
            <a:endParaRPr lang="ru-RU" dirty="0" smtClean="0"/>
          </a:p>
          <a:p>
            <a:pPr>
              <a:defRPr/>
            </a:pPr>
            <a:r>
              <a:rPr lang="ru-RU" b="1" dirty="0" smtClean="0"/>
              <a:t>-производственное предпринимательство</a:t>
            </a:r>
            <a:r>
              <a:rPr lang="ru-RU" i="1" dirty="0" smtClean="0"/>
              <a:t>. </a:t>
            </a:r>
            <a:r>
              <a:rPr lang="ru-RU" dirty="0" smtClean="0"/>
              <a:t>-процесс производства конкретных товаров, осуществления работ, оказания услуг для их реализации (продажи) потребителям (покупателям).</a:t>
            </a:r>
          </a:p>
          <a:p>
            <a:pPr>
              <a:defRPr/>
            </a:pPr>
            <a:r>
              <a:rPr lang="ru-RU" dirty="0" smtClean="0"/>
              <a:t>-</a:t>
            </a:r>
            <a:r>
              <a:rPr lang="ru-RU" b="1" dirty="0" smtClean="0"/>
              <a:t>коммерческое предпринимательство. </a:t>
            </a:r>
            <a:r>
              <a:rPr lang="ru-RU" dirty="0" smtClean="0"/>
              <a:t>Вид предпринимательства, включающий операции и сделки по купле-продаже товаров (перепродаже товаров и услуг). </a:t>
            </a:r>
            <a:endParaRPr lang="en-US" altLang="ru-RU" dirty="0" smtClean="0">
              <a:solidFill>
                <a:schemeClr val="accent4">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3279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90600" y="0"/>
            <a:ext cx="8153400" cy="1143000"/>
          </a:xfrm>
        </p:spPr>
        <p:txBody>
          <a:bodyPr>
            <a:normAutofit/>
          </a:bodyPr>
          <a:lstStyle/>
          <a:p>
            <a:pPr>
              <a:defRPr/>
            </a:pPr>
            <a:r>
              <a:rPr lang="ru-RU" sz="2400" b="1" dirty="0" smtClean="0">
                <a:solidFill>
                  <a:schemeClr val="tx1"/>
                </a:solidFill>
              </a:rPr>
              <a:t>5. Классификация предпринимательской деятельности</a:t>
            </a:r>
            <a:r>
              <a:rPr lang="ru-RU" sz="2400" dirty="0" smtClean="0"/>
              <a:t/>
            </a:r>
            <a:br>
              <a:rPr lang="ru-RU" sz="2400" dirty="0" smtClean="0"/>
            </a:br>
            <a:endParaRPr lang="ru-RU" altLang="ru-RU" sz="2400" b="1" dirty="0" smtClean="0">
              <a:solidFill>
                <a:schemeClr val="tx1">
                  <a:lumMod val="50000"/>
                </a:schemeClr>
              </a:solidFill>
            </a:endParaRPr>
          </a:p>
        </p:txBody>
      </p:sp>
      <p:sp>
        <p:nvSpPr>
          <p:cNvPr id="66563" name="Rectangle 3"/>
          <p:cNvSpPr>
            <a:spLocks noGrp="1" noChangeArrowheads="1"/>
          </p:cNvSpPr>
          <p:nvPr>
            <p:ph idx="1"/>
          </p:nvPr>
        </p:nvSpPr>
        <p:spPr>
          <a:xfrm>
            <a:off x="611560" y="548680"/>
            <a:ext cx="8496944" cy="6192688"/>
          </a:xfrm>
          <a:solidFill>
            <a:schemeClr val="bg1"/>
          </a:solidFill>
        </p:spPr>
        <p:txBody>
          <a:bodyPr>
            <a:normAutofit/>
          </a:bodyPr>
          <a:lstStyle/>
          <a:p>
            <a:pPr>
              <a:spcBef>
                <a:spcPct val="0"/>
              </a:spcBef>
            </a:pPr>
            <a:r>
              <a:rPr lang="ru-RU" altLang="ru-RU" sz="2800" b="1" dirty="0" smtClean="0"/>
              <a:t>-финансовое предпринимательство </a:t>
            </a:r>
            <a:r>
              <a:rPr lang="ru-RU" altLang="ru-RU" sz="2800" dirty="0" smtClean="0"/>
              <a:t>-разновидность коммерческого предпринимательства, но объектом купли-продажи выступает специфический товар: деньги, валюта, ценные бумаги (акции, облигации, векселя, ваучеры и т.д.), т.е. происходит продажа одних ценных бумаг на другие по ценам, обеспечивающим получение прибыли.</a:t>
            </a:r>
          </a:p>
          <a:p>
            <a:pPr>
              <a:spcBef>
                <a:spcPct val="0"/>
              </a:spcBef>
            </a:pPr>
            <a:r>
              <a:rPr lang="ru-RU" altLang="ru-RU" sz="2800" b="1" dirty="0" smtClean="0"/>
              <a:t>-консультативное предпринимательство. </a:t>
            </a:r>
            <a:r>
              <a:rPr lang="ru-RU" altLang="ru-RU" sz="2800" dirty="0" smtClean="0"/>
              <a:t>Предпринимательство в сфере деловых услуг. Консультанты, являющиеся квалифицированными специалистами в какой-либо области, дают на платной основе советы и рекомендации другим предпринимателям или гражданам по вопросам своей компетентности.</a:t>
            </a:r>
          </a:p>
          <a:p>
            <a:endParaRPr lang="ru-RU" altLang="ru-RU" sz="2000" dirty="0" smtClean="0"/>
          </a:p>
        </p:txBody>
      </p:sp>
      <p:sp>
        <p:nvSpPr>
          <p:cNvPr id="4" name="Rectangle 2"/>
          <p:cNvSpPr txBox="1">
            <a:spLocks noChangeArrowheads="1"/>
          </p:cNvSpPr>
          <p:nvPr/>
        </p:nvSpPr>
        <p:spPr bwMode="auto">
          <a:xfrm>
            <a:off x="1004888" y="-14288"/>
            <a:ext cx="8153400" cy="1143001"/>
          </a:xfrm>
          <a:prstGeom prst="rect">
            <a:avLst/>
          </a:prstGeom>
          <a:noFill/>
          <a:ln>
            <a:noFill/>
          </a:ln>
          <a:effectLst/>
          <a:extLst/>
        </p:spPr>
        <p:txBody>
          <a:bodyPr anchor="ctr"/>
          <a:lstStyle>
            <a:lvl1pPr algn="ctr" rtl="0" eaLnBrk="0" fontAlgn="base" hangingPunct="0">
              <a:spcBef>
                <a:spcPct val="0"/>
              </a:spcBef>
              <a:spcAft>
                <a:spcPct val="0"/>
              </a:spcAft>
              <a:defRPr sz="4400" kern="12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Microsoft Sans Serif" panose="020B0604020202020204" pitchFamily="34" charset="0"/>
              </a:defRPr>
            </a:lvl2pPr>
            <a:lvl3pPr algn="ctr" rtl="0" eaLnBrk="0" fontAlgn="base" hangingPunct="0">
              <a:spcBef>
                <a:spcPct val="0"/>
              </a:spcBef>
              <a:spcAft>
                <a:spcPct val="0"/>
              </a:spcAft>
              <a:defRPr sz="4400">
                <a:solidFill>
                  <a:schemeClr val="bg2"/>
                </a:solidFill>
                <a:latin typeface="Microsoft Sans Serif" panose="020B0604020202020204" pitchFamily="34" charset="0"/>
              </a:defRPr>
            </a:lvl3pPr>
            <a:lvl4pPr algn="ctr" rtl="0" eaLnBrk="0" fontAlgn="base" hangingPunct="0">
              <a:spcBef>
                <a:spcPct val="0"/>
              </a:spcBef>
              <a:spcAft>
                <a:spcPct val="0"/>
              </a:spcAft>
              <a:defRPr sz="4400">
                <a:solidFill>
                  <a:schemeClr val="bg2"/>
                </a:solidFill>
                <a:latin typeface="Microsoft Sans Serif" panose="020B0604020202020204" pitchFamily="34" charset="0"/>
              </a:defRPr>
            </a:lvl4pPr>
            <a:lvl5pPr algn="ctr" rtl="0" eaLnBrk="0" fontAlgn="base" hangingPunct="0">
              <a:spcBef>
                <a:spcPct val="0"/>
              </a:spcBef>
              <a:spcAft>
                <a:spcPct val="0"/>
              </a:spcAft>
              <a:defRPr sz="4400">
                <a:solidFill>
                  <a:schemeClr val="bg2"/>
                </a:solidFill>
                <a:latin typeface="Microsoft Sans Serif" panose="020B0604020202020204" pitchFamily="34" charset="0"/>
              </a:defRPr>
            </a:lvl5pPr>
            <a:lvl6pPr marL="457200" algn="ctr" rtl="0" fontAlgn="base">
              <a:spcBef>
                <a:spcPct val="0"/>
              </a:spcBef>
              <a:spcAft>
                <a:spcPct val="0"/>
              </a:spcAft>
              <a:defRPr sz="4400">
                <a:solidFill>
                  <a:schemeClr val="bg2"/>
                </a:solidFill>
                <a:latin typeface="Microsoft Sans Serif" panose="020B0604020202020204" pitchFamily="34" charset="0"/>
              </a:defRPr>
            </a:lvl6pPr>
            <a:lvl7pPr marL="914400" algn="ctr" rtl="0" fontAlgn="base">
              <a:spcBef>
                <a:spcPct val="0"/>
              </a:spcBef>
              <a:spcAft>
                <a:spcPct val="0"/>
              </a:spcAft>
              <a:defRPr sz="4400">
                <a:solidFill>
                  <a:schemeClr val="bg2"/>
                </a:solidFill>
                <a:latin typeface="Microsoft Sans Serif" panose="020B0604020202020204" pitchFamily="34" charset="0"/>
              </a:defRPr>
            </a:lvl7pPr>
            <a:lvl8pPr marL="1371600" algn="ctr" rtl="0" fontAlgn="base">
              <a:spcBef>
                <a:spcPct val="0"/>
              </a:spcBef>
              <a:spcAft>
                <a:spcPct val="0"/>
              </a:spcAft>
              <a:defRPr sz="4400">
                <a:solidFill>
                  <a:schemeClr val="bg2"/>
                </a:solidFill>
                <a:latin typeface="Microsoft Sans Serif" panose="020B0604020202020204" pitchFamily="34" charset="0"/>
              </a:defRPr>
            </a:lvl8pPr>
            <a:lvl9pPr marL="1828800" algn="ctr" rtl="0" fontAlgn="base">
              <a:spcBef>
                <a:spcPct val="0"/>
              </a:spcBef>
              <a:spcAft>
                <a:spcPct val="0"/>
              </a:spcAft>
              <a:defRPr sz="4400">
                <a:solidFill>
                  <a:schemeClr val="bg2"/>
                </a:solidFill>
                <a:latin typeface="Microsoft Sans Serif" panose="020B0604020202020204" pitchFamily="34" charset="0"/>
              </a:defRPr>
            </a:lvl9pPr>
          </a:lstStyle>
          <a:p>
            <a:pPr>
              <a:defRPr/>
            </a:pPr>
            <a:endParaRPr lang="ru-RU" altLang="ru-RU" sz="2400" b="1" dirty="0" smtClean="0">
              <a:solidFill>
                <a:schemeClr val="tx1">
                  <a:lumMod val="50000"/>
                </a:schemeClr>
              </a:solidFill>
            </a:endParaRPr>
          </a:p>
        </p:txBody>
      </p:sp>
    </p:spTree>
    <p:extLst>
      <p:ext uri="{BB962C8B-B14F-4D97-AF65-F5344CB8AC3E}">
        <p14:creationId xmlns:p14="http://schemas.microsoft.com/office/powerpoint/2010/main" val="1337027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90600" y="0"/>
            <a:ext cx="8153400" cy="1143000"/>
          </a:xfrm>
        </p:spPr>
        <p:txBody>
          <a:bodyPr/>
          <a:lstStyle/>
          <a:p>
            <a:pPr>
              <a:defRPr/>
            </a:pPr>
            <a:r>
              <a:rPr lang="ru-RU" sz="2400" b="1" dirty="0" smtClean="0">
                <a:solidFill>
                  <a:schemeClr val="tx1">
                    <a:lumMod val="50000"/>
                  </a:schemeClr>
                </a:solidFill>
              </a:rPr>
              <a:t> </a:t>
            </a:r>
            <a:endParaRPr lang="ru-RU" altLang="ru-RU" sz="2400" b="1" dirty="0" smtClean="0">
              <a:solidFill>
                <a:schemeClr val="tx1">
                  <a:lumMod val="50000"/>
                </a:schemeClr>
              </a:solidFill>
            </a:endParaRPr>
          </a:p>
        </p:txBody>
      </p:sp>
      <p:sp>
        <p:nvSpPr>
          <p:cNvPr id="60419" name="Rectangle 3"/>
          <p:cNvSpPr>
            <a:spLocks noGrp="1" noChangeArrowheads="1"/>
          </p:cNvSpPr>
          <p:nvPr>
            <p:ph idx="1"/>
          </p:nvPr>
        </p:nvSpPr>
        <p:spPr>
          <a:xfrm>
            <a:off x="611560" y="1052736"/>
            <a:ext cx="8532440" cy="5805264"/>
          </a:xfrm>
          <a:solidFill>
            <a:schemeClr val="bg1"/>
          </a:solidFill>
        </p:spPr>
        <p:txBody>
          <a:bodyPr/>
          <a:lstStyle/>
          <a:p>
            <a:pPr>
              <a:buFontTx/>
              <a:buNone/>
              <a:defRPr/>
            </a:pPr>
            <a:r>
              <a:rPr lang="ru-RU" b="1" i="1" dirty="0" smtClean="0"/>
              <a:t>Виды предпринимательства по формам собственности</a:t>
            </a:r>
            <a:endParaRPr lang="ru-RU" b="1" dirty="0" smtClean="0"/>
          </a:p>
          <a:p>
            <a:pPr>
              <a:defRPr/>
            </a:pPr>
            <a:r>
              <a:rPr lang="ru-RU" b="1" dirty="0" smtClean="0"/>
              <a:t>-частное предпринимательство </a:t>
            </a:r>
            <a:r>
              <a:rPr lang="ru-RU" dirty="0" smtClean="0"/>
              <a:t>(негосударственное) - имуществом пользуются и распоряжаются отдельные граждане (физические лица) или группы граждан ( юридические лица).</a:t>
            </a:r>
          </a:p>
          <a:p>
            <a:pPr>
              <a:defRPr/>
            </a:pPr>
            <a:r>
              <a:rPr lang="ru-RU" b="1" dirty="0" smtClean="0"/>
              <a:t>-государственное предпринимательство - </a:t>
            </a:r>
            <a:r>
              <a:rPr lang="ru-RU" dirty="0" smtClean="0"/>
              <a:t>имущество, принадлежащее РФ, а также субъектам РФ.</a:t>
            </a:r>
          </a:p>
          <a:p>
            <a:pPr marL="0" indent="0" algn="ctr" eaLnBrk="1" hangingPunct="1">
              <a:lnSpc>
                <a:spcPct val="80000"/>
              </a:lnSpc>
              <a:spcBef>
                <a:spcPts val="0"/>
              </a:spcBef>
              <a:buFontTx/>
              <a:buNone/>
              <a:defRPr/>
            </a:pPr>
            <a:endParaRPr lang="ru-RU" altLang="ru-RU" sz="2800" dirty="0" smtClean="0">
              <a:solidFill>
                <a:schemeClr val="accent4">
                  <a:lumMod val="50000"/>
                </a:schemeClr>
              </a:solidFill>
              <a:cs typeface="Segoe UI Semilight" panose="020B0402040204020203" pitchFamily="34" charset="0"/>
            </a:endParaRPr>
          </a:p>
        </p:txBody>
      </p:sp>
      <p:sp>
        <p:nvSpPr>
          <p:cNvPr id="68612" name="Rectangle 2"/>
          <p:cNvSpPr txBox="1">
            <a:spLocks noChangeArrowheads="1"/>
          </p:cNvSpPr>
          <p:nvPr/>
        </p:nvSpPr>
        <p:spPr bwMode="auto">
          <a:xfrm>
            <a:off x="1004888" y="-14288"/>
            <a:ext cx="81534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Microsoft Sans Serif" panose="020B0604020202020204" pitchFamily="34" charset="0"/>
              </a:defRPr>
            </a:lvl1pPr>
            <a:lvl2pPr marL="742950" indent="-285750">
              <a:spcBef>
                <a:spcPct val="20000"/>
              </a:spcBef>
              <a:buChar char="–"/>
              <a:defRPr sz="2800">
                <a:solidFill>
                  <a:schemeClr val="tx1"/>
                </a:solidFill>
                <a:latin typeface="Microsoft Sans Serif" panose="020B0604020202020204" pitchFamily="34" charset="0"/>
              </a:defRPr>
            </a:lvl2pPr>
            <a:lvl3pPr marL="1143000" indent="-228600">
              <a:spcBef>
                <a:spcPct val="20000"/>
              </a:spcBef>
              <a:buChar char="•"/>
              <a:defRPr sz="2400">
                <a:solidFill>
                  <a:schemeClr val="tx1"/>
                </a:solidFill>
                <a:latin typeface="Microsoft Sans Serif" panose="020B0604020202020204" pitchFamily="34" charset="0"/>
              </a:defRPr>
            </a:lvl3pPr>
            <a:lvl4pPr marL="1600200" indent="-228600">
              <a:spcBef>
                <a:spcPct val="20000"/>
              </a:spcBef>
              <a:buChar char="–"/>
              <a:defRPr sz="2000">
                <a:solidFill>
                  <a:schemeClr val="tx1"/>
                </a:solidFill>
                <a:latin typeface="Microsoft Sans Serif" panose="020B0604020202020204" pitchFamily="34" charset="0"/>
              </a:defRPr>
            </a:lvl4pPr>
            <a:lvl5pPr marL="2057400" indent="-228600">
              <a:spcBef>
                <a:spcPct val="20000"/>
              </a:spcBef>
              <a:buChar char="»"/>
              <a:defRPr sz="2000">
                <a:solidFill>
                  <a:schemeClr val="tx1"/>
                </a:solidFill>
                <a:latin typeface="Microsoft Sans Serif"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Microsoft Sans Serif"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Microsoft Sans Serif"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Microsoft Sans Serif"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Microsoft Sans Serif" panose="020B0604020202020204" pitchFamily="34" charset="0"/>
              </a:defRPr>
            </a:lvl9pPr>
          </a:lstStyle>
          <a:p>
            <a:pPr algn="ctr">
              <a:spcBef>
                <a:spcPct val="0"/>
              </a:spcBef>
              <a:buFontTx/>
              <a:buNone/>
            </a:pPr>
            <a:r>
              <a:rPr lang="ru-RU" altLang="ru-RU" sz="2400" b="1"/>
              <a:t>5. Классификация предпринимательской деятельности</a:t>
            </a:r>
            <a:endParaRPr lang="ru-RU" altLang="ru-RU" sz="2400"/>
          </a:p>
        </p:txBody>
      </p:sp>
    </p:spTree>
    <p:extLst>
      <p:ext uri="{BB962C8B-B14F-4D97-AF65-F5344CB8AC3E}">
        <p14:creationId xmlns:p14="http://schemas.microsoft.com/office/powerpoint/2010/main" val="4106988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90600" y="0"/>
            <a:ext cx="8153400" cy="1143000"/>
          </a:xfrm>
        </p:spPr>
        <p:txBody>
          <a:bodyPr>
            <a:normAutofit/>
          </a:bodyPr>
          <a:lstStyle/>
          <a:p>
            <a:pPr>
              <a:defRPr/>
            </a:pPr>
            <a:r>
              <a:rPr lang="ru-RU" sz="2400" b="1" dirty="0" smtClean="0">
                <a:solidFill>
                  <a:schemeClr val="tx1"/>
                </a:solidFill>
              </a:rPr>
              <a:t>5. Классификация предпринимательской деятельности</a:t>
            </a:r>
            <a:r>
              <a:rPr lang="ru-RU" sz="2400" dirty="0" smtClean="0"/>
              <a:t/>
            </a:r>
            <a:br>
              <a:rPr lang="ru-RU" sz="2400" dirty="0" smtClean="0"/>
            </a:br>
            <a:endParaRPr lang="ru-RU" altLang="ru-RU" sz="2400" b="1" dirty="0" smtClean="0">
              <a:solidFill>
                <a:schemeClr val="tx1">
                  <a:lumMod val="50000"/>
                </a:schemeClr>
              </a:solidFill>
            </a:endParaRPr>
          </a:p>
        </p:txBody>
      </p:sp>
      <p:sp>
        <p:nvSpPr>
          <p:cNvPr id="60419" name="Rectangle 3"/>
          <p:cNvSpPr>
            <a:spLocks noGrp="1" noChangeArrowheads="1"/>
          </p:cNvSpPr>
          <p:nvPr>
            <p:ph idx="1"/>
          </p:nvPr>
        </p:nvSpPr>
        <p:spPr>
          <a:xfrm>
            <a:off x="35496" y="548680"/>
            <a:ext cx="9108504" cy="6120680"/>
          </a:xfrm>
          <a:solidFill>
            <a:schemeClr val="bg1"/>
          </a:solidFill>
        </p:spPr>
        <p:txBody>
          <a:bodyPr/>
          <a:lstStyle/>
          <a:p>
            <a:pPr>
              <a:spcBef>
                <a:spcPts val="0"/>
              </a:spcBef>
              <a:defRPr/>
            </a:pPr>
            <a:r>
              <a:rPr lang="ru-RU" sz="2800" b="1" dirty="0" smtClean="0"/>
              <a:t>-муниципальное предпринимательство </a:t>
            </a:r>
            <a:r>
              <a:rPr lang="ru-RU" sz="2800" dirty="0" smtClean="0"/>
              <a:t>- имущество городов, посёлков. Представлено объектами, обеспечивающим и повседневную жизнь местного населения, которую по разным причинам решено не передавать в частную собственность( школы, системы </a:t>
            </a:r>
            <a:r>
              <a:rPr lang="ru-RU" sz="2800" dirty="0" err="1" smtClean="0"/>
              <a:t>энерго</a:t>
            </a:r>
            <a:r>
              <a:rPr lang="ru-RU" sz="2800" dirty="0" smtClean="0"/>
              <a:t>- и водоснабжения, коммунальные службы, социальные объекты).</a:t>
            </a:r>
          </a:p>
          <a:p>
            <a:pPr>
              <a:spcBef>
                <a:spcPts val="0"/>
              </a:spcBef>
              <a:defRPr/>
            </a:pPr>
            <a:r>
              <a:rPr lang="ru-RU" sz="2800" b="1" dirty="0" smtClean="0"/>
              <a:t>-другие виды </a:t>
            </a:r>
            <a:r>
              <a:rPr lang="ru-RU" sz="2800" dirty="0" smtClean="0"/>
              <a:t>(предприятие общественной организации религиозной организации, различных объединений и фондов) . Главная особенность этой формы-собственники могут использовать приобретённое ими имущество лишь для достижения целей, предусмотренных их учредительными документами.</a:t>
            </a:r>
          </a:p>
          <a:p>
            <a:pPr marL="0" indent="0" algn="just" eaLnBrk="1" hangingPunct="1">
              <a:lnSpc>
                <a:spcPct val="80000"/>
              </a:lnSpc>
              <a:spcBef>
                <a:spcPts val="0"/>
              </a:spcBef>
              <a:buFontTx/>
              <a:buNone/>
              <a:defRPr/>
            </a:pPr>
            <a:endParaRPr lang="en-US" altLang="ru-RU" sz="2800" dirty="0" smtClean="0">
              <a:solidFill>
                <a:schemeClr val="accent4">
                  <a:lumMod val="50000"/>
                </a:schemeClr>
              </a:solidFill>
              <a:latin typeface="+mj-lt"/>
              <a:cs typeface="Segoe UI Semilight" panose="020B0402040204020203" pitchFamily="34" charset="0"/>
            </a:endParaRPr>
          </a:p>
        </p:txBody>
      </p:sp>
      <p:sp>
        <p:nvSpPr>
          <p:cNvPr id="4" name="Rectangle 2"/>
          <p:cNvSpPr txBox="1">
            <a:spLocks noChangeArrowheads="1"/>
          </p:cNvSpPr>
          <p:nvPr/>
        </p:nvSpPr>
        <p:spPr bwMode="auto">
          <a:xfrm>
            <a:off x="1004888" y="-14288"/>
            <a:ext cx="8153400" cy="1143001"/>
          </a:xfrm>
          <a:prstGeom prst="rect">
            <a:avLst/>
          </a:prstGeom>
          <a:noFill/>
          <a:ln>
            <a:noFill/>
          </a:ln>
          <a:effectLst/>
          <a:extLst/>
        </p:spPr>
        <p:txBody>
          <a:bodyPr anchor="ctr"/>
          <a:lstStyle>
            <a:lvl1pPr algn="ctr" rtl="0" eaLnBrk="0" fontAlgn="base" hangingPunct="0">
              <a:spcBef>
                <a:spcPct val="0"/>
              </a:spcBef>
              <a:spcAft>
                <a:spcPct val="0"/>
              </a:spcAft>
              <a:defRPr sz="4400" kern="12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Microsoft Sans Serif" panose="020B0604020202020204" pitchFamily="34" charset="0"/>
              </a:defRPr>
            </a:lvl2pPr>
            <a:lvl3pPr algn="ctr" rtl="0" eaLnBrk="0" fontAlgn="base" hangingPunct="0">
              <a:spcBef>
                <a:spcPct val="0"/>
              </a:spcBef>
              <a:spcAft>
                <a:spcPct val="0"/>
              </a:spcAft>
              <a:defRPr sz="4400">
                <a:solidFill>
                  <a:schemeClr val="bg2"/>
                </a:solidFill>
                <a:latin typeface="Microsoft Sans Serif" panose="020B0604020202020204" pitchFamily="34" charset="0"/>
              </a:defRPr>
            </a:lvl3pPr>
            <a:lvl4pPr algn="ctr" rtl="0" eaLnBrk="0" fontAlgn="base" hangingPunct="0">
              <a:spcBef>
                <a:spcPct val="0"/>
              </a:spcBef>
              <a:spcAft>
                <a:spcPct val="0"/>
              </a:spcAft>
              <a:defRPr sz="4400">
                <a:solidFill>
                  <a:schemeClr val="bg2"/>
                </a:solidFill>
                <a:latin typeface="Microsoft Sans Serif" panose="020B0604020202020204" pitchFamily="34" charset="0"/>
              </a:defRPr>
            </a:lvl4pPr>
            <a:lvl5pPr algn="ctr" rtl="0" eaLnBrk="0" fontAlgn="base" hangingPunct="0">
              <a:spcBef>
                <a:spcPct val="0"/>
              </a:spcBef>
              <a:spcAft>
                <a:spcPct val="0"/>
              </a:spcAft>
              <a:defRPr sz="4400">
                <a:solidFill>
                  <a:schemeClr val="bg2"/>
                </a:solidFill>
                <a:latin typeface="Microsoft Sans Serif" panose="020B0604020202020204" pitchFamily="34" charset="0"/>
              </a:defRPr>
            </a:lvl5pPr>
            <a:lvl6pPr marL="457200" algn="ctr" rtl="0" fontAlgn="base">
              <a:spcBef>
                <a:spcPct val="0"/>
              </a:spcBef>
              <a:spcAft>
                <a:spcPct val="0"/>
              </a:spcAft>
              <a:defRPr sz="4400">
                <a:solidFill>
                  <a:schemeClr val="bg2"/>
                </a:solidFill>
                <a:latin typeface="Microsoft Sans Serif" panose="020B0604020202020204" pitchFamily="34" charset="0"/>
              </a:defRPr>
            </a:lvl6pPr>
            <a:lvl7pPr marL="914400" algn="ctr" rtl="0" fontAlgn="base">
              <a:spcBef>
                <a:spcPct val="0"/>
              </a:spcBef>
              <a:spcAft>
                <a:spcPct val="0"/>
              </a:spcAft>
              <a:defRPr sz="4400">
                <a:solidFill>
                  <a:schemeClr val="bg2"/>
                </a:solidFill>
                <a:latin typeface="Microsoft Sans Serif" panose="020B0604020202020204" pitchFamily="34" charset="0"/>
              </a:defRPr>
            </a:lvl7pPr>
            <a:lvl8pPr marL="1371600" algn="ctr" rtl="0" fontAlgn="base">
              <a:spcBef>
                <a:spcPct val="0"/>
              </a:spcBef>
              <a:spcAft>
                <a:spcPct val="0"/>
              </a:spcAft>
              <a:defRPr sz="4400">
                <a:solidFill>
                  <a:schemeClr val="bg2"/>
                </a:solidFill>
                <a:latin typeface="Microsoft Sans Serif" panose="020B0604020202020204" pitchFamily="34" charset="0"/>
              </a:defRPr>
            </a:lvl8pPr>
            <a:lvl9pPr marL="1828800" algn="ctr" rtl="0" fontAlgn="base">
              <a:spcBef>
                <a:spcPct val="0"/>
              </a:spcBef>
              <a:spcAft>
                <a:spcPct val="0"/>
              </a:spcAft>
              <a:defRPr sz="4400">
                <a:solidFill>
                  <a:schemeClr val="bg2"/>
                </a:solidFill>
                <a:latin typeface="Microsoft Sans Serif" panose="020B0604020202020204" pitchFamily="34" charset="0"/>
              </a:defRPr>
            </a:lvl9pPr>
          </a:lstStyle>
          <a:p>
            <a:pPr>
              <a:defRPr/>
            </a:pPr>
            <a:endParaRPr lang="ru-RU" altLang="ru-RU" sz="2400" b="1" dirty="0" smtClean="0">
              <a:solidFill>
                <a:schemeClr val="tx1">
                  <a:lumMod val="50000"/>
                </a:schemeClr>
              </a:solidFill>
            </a:endParaRPr>
          </a:p>
        </p:txBody>
      </p:sp>
    </p:spTree>
    <p:extLst>
      <p:ext uri="{BB962C8B-B14F-4D97-AF65-F5344CB8AC3E}">
        <p14:creationId xmlns:p14="http://schemas.microsoft.com/office/powerpoint/2010/main" val="23608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ru-RU" sz="2800" dirty="0">
                <a:solidFill>
                  <a:schemeClr val="tx1"/>
                </a:solidFill>
              </a:rPr>
              <a:t>Источники предпринимательского права</a:t>
            </a:r>
          </a:p>
        </p:txBody>
      </p:sp>
      <p:sp>
        <p:nvSpPr>
          <p:cNvPr id="28675" name="Rectangle 3"/>
          <p:cNvSpPr>
            <a:spLocks noGrp="1" noChangeArrowheads="1"/>
          </p:cNvSpPr>
          <p:nvPr>
            <p:ph idx="1"/>
          </p:nvPr>
        </p:nvSpPr>
        <p:spPr>
          <a:xfrm>
            <a:off x="1066800" y="1524000"/>
            <a:ext cx="7543800" cy="5105400"/>
          </a:xfrm>
        </p:spPr>
        <p:txBody>
          <a:bodyPr>
            <a:normAutofit lnSpcReduction="10000"/>
          </a:bodyPr>
          <a:lstStyle/>
          <a:p>
            <a:r>
              <a:rPr lang="ru-RU" sz="2000" dirty="0"/>
              <a:t>Конституция РФ</a:t>
            </a:r>
          </a:p>
          <a:p>
            <a:r>
              <a:rPr lang="ru-RU" sz="2000" dirty="0"/>
              <a:t>Гражданский кодекс</a:t>
            </a:r>
          </a:p>
          <a:p>
            <a:r>
              <a:rPr lang="ru-RU" sz="2000" dirty="0"/>
              <a:t>Налоговый кодекс</a:t>
            </a:r>
          </a:p>
          <a:p>
            <a:r>
              <a:rPr lang="ru-RU" sz="2000" dirty="0"/>
              <a:t>Бюджетный кодекс</a:t>
            </a:r>
          </a:p>
          <a:p>
            <a:r>
              <a:rPr lang="ru-RU" sz="2000" dirty="0"/>
              <a:t>Кодекс об административных правонарушениях</a:t>
            </a:r>
          </a:p>
          <a:p>
            <a:r>
              <a:rPr lang="ru-RU" sz="2000" dirty="0"/>
              <a:t>Уголовный кодекс</a:t>
            </a:r>
          </a:p>
          <a:p>
            <a:pPr algn="ctr">
              <a:buFont typeface="Wingdings" pitchFamily="2" charset="2"/>
              <a:buNone/>
            </a:pPr>
            <a:r>
              <a:rPr lang="ru-RU" sz="2000" b="1" dirty="0"/>
              <a:t>Законы:</a:t>
            </a:r>
          </a:p>
          <a:p>
            <a:r>
              <a:rPr lang="ru-RU" sz="2000" dirty="0"/>
              <a:t>«О государственной регистрации юридических лиц и индивидуальных предпринимателей»</a:t>
            </a:r>
          </a:p>
          <a:p>
            <a:r>
              <a:rPr lang="ru-RU" sz="2000" dirty="0"/>
              <a:t>«О лицензировании отдельных видов деятельности»</a:t>
            </a:r>
          </a:p>
          <a:p>
            <a:r>
              <a:rPr lang="ru-RU" sz="2000" dirty="0"/>
              <a:t>«Об акционерных обществах»</a:t>
            </a:r>
          </a:p>
          <a:p>
            <a:r>
              <a:rPr lang="ru-RU" sz="2000" dirty="0"/>
              <a:t>«О производственных кооперативах»</a:t>
            </a:r>
          </a:p>
          <a:p>
            <a:r>
              <a:rPr lang="ru-RU" sz="2000" dirty="0"/>
              <a:t>«О финансово-промышленных группах» </a:t>
            </a:r>
          </a:p>
          <a:p>
            <a:r>
              <a:rPr lang="ru-RU" sz="2000" dirty="0"/>
              <a:t>И т.д.</a:t>
            </a:r>
          </a:p>
        </p:txBody>
      </p:sp>
    </p:spTree>
    <p:extLst>
      <p:ext uri="{BB962C8B-B14F-4D97-AF65-F5344CB8AC3E}">
        <p14:creationId xmlns:p14="http://schemas.microsoft.com/office/powerpoint/2010/main" val="9069927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ChangeArrowheads="1"/>
          </p:cNvSpPr>
          <p:nvPr/>
        </p:nvSpPr>
        <p:spPr bwMode="auto">
          <a:xfrm>
            <a:off x="1524000" y="533400"/>
            <a:ext cx="6096000" cy="914400"/>
          </a:xfrm>
          <a:prstGeom prst="rect">
            <a:avLst/>
          </a:prstGeom>
          <a:noFill/>
          <a:ln w="88900" cmpd="thickThin">
            <a:solidFill>
              <a:srgbClr val="FFCC00"/>
            </a:solidFill>
            <a:miter lim="800000"/>
            <a:headEnd/>
            <a:tailEnd/>
          </a:ln>
          <a:effectLst/>
        </p:spPr>
        <p:txBody>
          <a:bodyPr wrap="none" anchor="ctr"/>
          <a:lstStyle/>
          <a:p>
            <a:pPr algn="ctr"/>
            <a:r>
              <a:rPr lang="ru-RU" sz="2400" b="1" dirty="0"/>
              <a:t>Государственное регулирование </a:t>
            </a:r>
          </a:p>
          <a:p>
            <a:pPr algn="ctr"/>
            <a:r>
              <a:rPr lang="ru-RU" sz="2400" b="1" dirty="0"/>
              <a:t>предпринимательской деятельности</a:t>
            </a:r>
          </a:p>
        </p:txBody>
      </p:sp>
      <p:sp>
        <p:nvSpPr>
          <p:cNvPr id="31749" name="Text Box 5"/>
          <p:cNvSpPr txBox="1">
            <a:spLocks noChangeArrowheads="1"/>
          </p:cNvSpPr>
          <p:nvPr/>
        </p:nvSpPr>
        <p:spPr bwMode="auto">
          <a:xfrm>
            <a:off x="974725" y="2012950"/>
            <a:ext cx="184150" cy="366713"/>
          </a:xfrm>
          <a:prstGeom prst="rect">
            <a:avLst/>
          </a:prstGeom>
          <a:noFill/>
          <a:ln w="88900" cmpd="thickThin">
            <a:noFill/>
            <a:miter lim="800000"/>
            <a:headEnd/>
            <a:tailEnd/>
          </a:ln>
          <a:effectLst/>
        </p:spPr>
        <p:txBody>
          <a:bodyPr wrap="none">
            <a:spAutoFit/>
          </a:bodyPr>
          <a:lstStyle/>
          <a:p>
            <a:endParaRPr lang="ru-RU"/>
          </a:p>
        </p:txBody>
      </p:sp>
      <p:sp>
        <p:nvSpPr>
          <p:cNvPr id="31753" name="Line 9"/>
          <p:cNvSpPr>
            <a:spLocks noChangeShapeType="1"/>
          </p:cNvSpPr>
          <p:nvPr/>
        </p:nvSpPr>
        <p:spPr bwMode="auto">
          <a:xfrm flipH="1">
            <a:off x="2057400" y="1524000"/>
            <a:ext cx="1905000" cy="762000"/>
          </a:xfrm>
          <a:prstGeom prst="line">
            <a:avLst/>
          </a:prstGeom>
          <a:noFill/>
          <a:ln w="88900" cmpd="thickThin">
            <a:solidFill>
              <a:srgbClr val="FFCC00"/>
            </a:solidFill>
            <a:round/>
            <a:headEnd/>
            <a:tailEnd type="triangle" w="med" len="med"/>
          </a:ln>
          <a:effectLst/>
        </p:spPr>
        <p:txBody>
          <a:bodyPr/>
          <a:lstStyle/>
          <a:p>
            <a:endParaRPr lang="ru-RU"/>
          </a:p>
        </p:txBody>
      </p:sp>
      <p:sp>
        <p:nvSpPr>
          <p:cNvPr id="31757" name="Line 13"/>
          <p:cNvSpPr>
            <a:spLocks noChangeShapeType="1"/>
          </p:cNvSpPr>
          <p:nvPr/>
        </p:nvSpPr>
        <p:spPr bwMode="auto">
          <a:xfrm>
            <a:off x="5257800" y="1524000"/>
            <a:ext cx="1905000" cy="838200"/>
          </a:xfrm>
          <a:prstGeom prst="line">
            <a:avLst/>
          </a:prstGeom>
          <a:noFill/>
          <a:ln w="88900" cmpd="thickThin">
            <a:solidFill>
              <a:srgbClr val="FFCC00"/>
            </a:solidFill>
            <a:round/>
            <a:headEnd/>
            <a:tailEnd type="triangle" w="med" len="med"/>
          </a:ln>
          <a:effectLst/>
        </p:spPr>
        <p:txBody>
          <a:bodyPr/>
          <a:lstStyle/>
          <a:p>
            <a:endParaRPr lang="ru-RU"/>
          </a:p>
        </p:txBody>
      </p:sp>
      <p:sp>
        <p:nvSpPr>
          <p:cNvPr id="31758" name="Rectangle 14"/>
          <p:cNvSpPr>
            <a:spLocks noChangeArrowheads="1"/>
          </p:cNvSpPr>
          <p:nvPr/>
        </p:nvSpPr>
        <p:spPr bwMode="auto">
          <a:xfrm>
            <a:off x="685800" y="2362200"/>
            <a:ext cx="3276600" cy="914400"/>
          </a:xfrm>
          <a:prstGeom prst="rect">
            <a:avLst/>
          </a:prstGeom>
          <a:noFill/>
          <a:ln w="88900" cmpd="thickThin">
            <a:solidFill>
              <a:srgbClr val="FFCC00"/>
            </a:solidFill>
            <a:miter lim="800000"/>
            <a:headEnd/>
            <a:tailEnd/>
          </a:ln>
          <a:effectLst/>
        </p:spPr>
        <p:txBody>
          <a:bodyPr wrap="none" anchor="ctr"/>
          <a:lstStyle/>
          <a:p>
            <a:pPr algn="ctr"/>
            <a:endParaRPr lang="ru-RU"/>
          </a:p>
        </p:txBody>
      </p:sp>
      <p:sp>
        <p:nvSpPr>
          <p:cNvPr id="31759" name="Rectangle 15"/>
          <p:cNvSpPr>
            <a:spLocks noChangeArrowheads="1"/>
          </p:cNvSpPr>
          <p:nvPr/>
        </p:nvSpPr>
        <p:spPr bwMode="auto">
          <a:xfrm>
            <a:off x="5410200" y="2438400"/>
            <a:ext cx="3276600" cy="914400"/>
          </a:xfrm>
          <a:prstGeom prst="rect">
            <a:avLst/>
          </a:prstGeom>
          <a:noFill/>
          <a:ln w="88900" cmpd="thickThin">
            <a:solidFill>
              <a:srgbClr val="FFCC00"/>
            </a:solidFill>
            <a:miter lim="800000"/>
            <a:headEnd/>
            <a:tailEnd/>
          </a:ln>
          <a:effectLst/>
        </p:spPr>
        <p:txBody>
          <a:bodyPr wrap="none" anchor="ctr"/>
          <a:lstStyle/>
          <a:p>
            <a:endParaRPr lang="ru-RU"/>
          </a:p>
        </p:txBody>
      </p:sp>
      <p:sp>
        <p:nvSpPr>
          <p:cNvPr id="31760" name="Text Box 16"/>
          <p:cNvSpPr txBox="1">
            <a:spLocks noChangeArrowheads="1"/>
          </p:cNvSpPr>
          <p:nvPr/>
        </p:nvSpPr>
        <p:spPr bwMode="auto">
          <a:xfrm>
            <a:off x="1564299" y="2592388"/>
            <a:ext cx="1317990" cy="461665"/>
          </a:xfrm>
          <a:prstGeom prst="rect">
            <a:avLst/>
          </a:prstGeom>
          <a:noFill/>
          <a:ln w="88900" cmpd="thickThin">
            <a:noFill/>
            <a:miter lim="800000"/>
            <a:headEnd/>
            <a:tailEnd/>
          </a:ln>
          <a:effectLst/>
        </p:spPr>
        <p:txBody>
          <a:bodyPr wrap="none">
            <a:spAutoFit/>
          </a:bodyPr>
          <a:lstStyle/>
          <a:p>
            <a:pPr algn="ctr"/>
            <a:r>
              <a:rPr lang="ru-RU" sz="2400" b="1" dirty="0"/>
              <a:t>Прямое</a:t>
            </a:r>
          </a:p>
        </p:txBody>
      </p:sp>
      <p:sp>
        <p:nvSpPr>
          <p:cNvPr id="31761" name="Text Box 17"/>
          <p:cNvSpPr txBox="1">
            <a:spLocks noChangeArrowheads="1"/>
          </p:cNvSpPr>
          <p:nvPr/>
        </p:nvSpPr>
        <p:spPr bwMode="auto">
          <a:xfrm>
            <a:off x="6096000" y="2668588"/>
            <a:ext cx="1879600" cy="457200"/>
          </a:xfrm>
          <a:prstGeom prst="rect">
            <a:avLst/>
          </a:prstGeom>
          <a:noFill/>
          <a:ln w="88900" cmpd="thickThin">
            <a:noFill/>
            <a:miter lim="800000"/>
            <a:headEnd/>
            <a:tailEnd/>
          </a:ln>
          <a:effectLst/>
        </p:spPr>
        <p:txBody>
          <a:bodyPr wrap="none">
            <a:spAutoFit/>
          </a:bodyPr>
          <a:lstStyle/>
          <a:p>
            <a:r>
              <a:rPr lang="ru-RU" sz="2400" b="1"/>
              <a:t>Косвенное</a:t>
            </a:r>
          </a:p>
        </p:txBody>
      </p:sp>
      <p:sp>
        <p:nvSpPr>
          <p:cNvPr id="31762" name="Text Box 18"/>
          <p:cNvSpPr txBox="1">
            <a:spLocks noChangeArrowheads="1"/>
          </p:cNvSpPr>
          <p:nvPr/>
        </p:nvSpPr>
        <p:spPr bwMode="auto">
          <a:xfrm>
            <a:off x="441325" y="3740150"/>
            <a:ext cx="4651375" cy="2530475"/>
          </a:xfrm>
          <a:prstGeom prst="rect">
            <a:avLst/>
          </a:prstGeom>
          <a:noFill/>
          <a:ln w="88900" cmpd="thickThin">
            <a:noFill/>
            <a:miter lim="800000"/>
            <a:headEnd/>
            <a:tailEnd/>
          </a:ln>
          <a:effectLst/>
        </p:spPr>
        <p:txBody>
          <a:bodyPr wrap="none">
            <a:spAutoFit/>
          </a:bodyPr>
          <a:lstStyle/>
          <a:p>
            <a:r>
              <a:rPr lang="ru-RU" sz="2000" b="1"/>
              <a:t>Необходимость государственной</a:t>
            </a:r>
          </a:p>
          <a:p>
            <a:r>
              <a:rPr lang="ru-RU" sz="2000" b="1"/>
              <a:t>регистрации предпринимателей,</a:t>
            </a:r>
          </a:p>
          <a:p>
            <a:r>
              <a:rPr lang="ru-RU" sz="2000" b="1"/>
              <a:t>получение лицензии как условие</a:t>
            </a:r>
          </a:p>
          <a:p>
            <a:r>
              <a:rPr lang="ru-RU" sz="2000" b="1"/>
              <a:t>осуществления лицензируемого</a:t>
            </a:r>
          </a:p>
          <a:p>
            <a:r>
              <a:rPr lang="ru-RU" sz="2000" b="1"/>
              <a:t>вида деятельности, получение</a:t>
            </a:r>
          </a:p>
          <a:p>
            <a:r>
              <a:rPr lang="ru-RU" sz="2000" b="1"/>
              <a:t>сертификата в случае обязатель-</a:t>
            </a:r>
          </a:p>
          <a:p>
            <a:r>
              <a:rPr lang="ru-RU" sz="2000" b="1"/>
              <a:t>ной сертификации продукции,</a:t>
            </a:r>
          </a:p>
          <a:p>
            <a:r>
              <a:rPr lang="ru-RU" sz="2000" b="1"/>
              <a:t>товаров и услуг.</a:t>
            </a:r>
          </a:p>
        </p:txBody>
      </p:sp>
      <p:sp>
        <p:nvSpPr>
          <p:cNvPr id="31765" name="Text Box 21"/>
          <p:cNvSpPr txBox="1">
            <a:spLocks noChangeArrowheads="1"/>
          </p:cNvSpPr>
          <p:nvPr/>
        </p:nvSpPr>
        <p:spPr bwMode="auto">
          <a:xfrm>
            <a:off x="5181600" y="3733800"/>
            <a:ext cx="3808413" cy="1006475"/>
          </a:xfrm>
          <a:prstGeom prst="rect">
            <a:avLst/>
          </a:prstGeom>
          <a:noFill/>
          <a:ln w="88900" cmpd="thickThin">
            <a:noFill/>
            <a:miter lim="800000"/>
            <a:headEnd/>
            <a:tailEnd/>
          </a:ln>
          <a:effectLst/>
        </p:spPr>
        <p:txBody>
          <a:bodyPr wrap="none">
            <a:spAutoFit/>
          </a:bodyPr>
          <a:lstStyle/>
          <a:p>
            <a:r>
              <a:rPr lang="ru-RU" sz="2000" b="1"/>
              <a:t>Предоставление льготных</a:t>
            </a:r>
          </a:p>
          <a:p>
            <a:r>
              <a:rPr lang="ru-RU" sz="2000" b="1"/>
              <a:t>кредитов, льгот по налого-</a:t>
            </a:r>
          </a:p>
          <a:p>
            <a:r>
              <a:rPr lang="ru-RU" sz="2000" b="1"/>
              <a:t>обложению.</a:t>
            </a:r>
          </a:p>
        </p:txBody>
      </p:sp>
    </p:spTree>
    <p:extLst>
      <p:ext uri="{BB962C8B-B14F-4D97-AF65-F5344CB8AC3E}">
        <p14:creationId xmlns:p14="http://schemas.microsoft.com/office/powerpoint/2010/main" val="12812217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83568" y="0"/>
            <a:ext cx="8460432" cy="6237312"/>
          </a:xfrm>
        </p:spPr>
        <p:txBody>
          <a:bodyPr>
            <a:noAutofit/>
          </a:bodyPr>
          <a:lstStyle/>
          <a:p>
            <a:pPr marL="0" indent="457200" algn="just">
              <a:spcBef>
                <a:spcPts val="0"/>
              </a:spcBef>
              <a:buNone/>
            </a:pPr>
            <a:r>
              <a:rPr lang="ru-RU" sz="2100" b="1" dirty="0"/>
              <a:t>Фирма - </a:t>
            </a:r>
            <a:r>
              <a:rPr lang="ru-RU" sz="2100" dirty="0"/>
              <a:t>коммерческая организация, </a:t>
            </a:r>
            <a:r>
              <a:rPr lang="ru-RU" sz="2100" dirty="0" smtClean="0"/>
              <a:t>приобретающая факторы </a:t>
            </a:r>
            <a:r>
              <a:rPr lang="ru-RU" sz="2100" dirty="0"/>
              <a:t>производства с целью создания и продажи </a:t>
            </a:r>
            <a:r>
              <a:rPr lang="ru-RU" sz="2100" dirty="0" smtClean="0"/>
              <a:t>товаров и </a:t>
            </a:r>
            <a:r>
              <a:rPr lang="ru-RU" sz="2100" dirty="0"/>
              <a:t>услуг и получения прибыли.</a:t>
            </a:r>
          </a:p>
          <a:p>
            <a:pPr marL="0" indent="0" algn="just">
              <a:buNone/>
            </a:pPr>
            <a:endParaRPr lang="ru-RU" sz="2000" dirty="0" smtClean="0"/>
          </a:p>
          <a:p>
            <a:pPr marL="0" indent="457200" algn="just">
              <a:lnSpc>
                <a:spcPct val="120000"/>
              </a:lnSpc>
              <a:spcBef>
                <a:spcPts val="0"/>
              </a:spcBef>
              <a:buNone/>
            </a:pPr>
            <a:r>
              <a:rPr lang="ru-RU" sz="2000" b="1" dirty="0" smtClean="0"/>
              <a:t>Значимость </a:t>
            </a:r>
            <a:r>
              <a:rPr lang="ru-RU" sz="2000" b="1" dirty="0"/>
              <a:t>фирмы как основного звена экономики определяется следующим:</a:t>
            </a:r>
          </a:p>
          <a:p>
            <a:pPr marL="0" indent="457200" algn="just">
              <a:lnSpc>
                <a:spcPct val="120000"/>
              </a:lnSpc>
              <a:spcBef>
                <a:spcPts val="0"/>
              </a:spcBef>
              <a:buNone/>
            </a:pPr>
            <a:r>
              <a:rPr lang="ru-RU" sz="2000" dirty="0"/>
              <a:t>-	 фирма производит продукцию, выполняет работу, оказывает услуги, </a:t>
            </a:r>
            <a:r>
              <a:rPr lang="ru-RU" sz="2000" dirty="0" smtClean="0"/>
              <a:t>составляющие </a:t>
            </a:r>
            <a:r>
              <a:rPr lang="ru-RU" sz="2000" dirty="0"/>
              <a:t>основу жизнедеятельности каждого человека и общества в целом;</a:t>
            </a:r>
          </a:p>
          <a:p>
            <a:pPr marL="0" indent="457200" algn="just">
              <a:lnSpc>
                <a:spcPct val="120000"/>
              </a:lnSpc>
              <a:spcBef>
                <a:spcPts val="0"/>
              </a:spcBef>
              <a:buNone/>
            </a:pPr>
            <a:r>
              <a:rPr lang="ru-RU" sz="2000" dirty="0"/>
              <a:t>-	 фирма является одним из основных источников формирования доходов бюджетов всех уровней;</a:t>
            </a:r>
          </a:p>
          <a:p>
            <a:pPr marL="0" indent="457200" algn="just">
              <a:lnSpc>
                <a:spcPct val="120000"/>
              </a:lnSpc>
              <a:spcBef>
                <a:spcPts val="0"/>
              </a:spcBef>
              <a:buNone/>
            </a:pPr>
            <a:r>
              <a:rPr lang="ru-RU" sz="2000" dirty="0"/>
              <a:t>-	 фирма — главный субъект отношений, складывающихся в обществе в процессе производства, распределения, обмена и потребления продукции;</a:t>
            </a:r>
          </a:p>
          <a:p>
            <a:pPr marL="0" indent="457200" algn="just">
              <a:lnSpc>
                <a:spcPct val="120000"/>
              </a:lnSpc>
              <a:spcBef>
                <a:spcPts val="0"/>
              </a:spcBef>
              <a:buNone/>
            </a:pPr>
            <a:r>
              <a:rPr lang="ru-RU" sz="2000" dirty="0"/>
              <a:t>-	 фирма формирует спрос на факторы производства, технологические и продуктовые инновации, организационно-управленческие нововведения;</a:t>
            </a:r>
          </a:p>
          <a:p>
            <a:pPr marL="0" indent="457200" algn="just">
              <a:lnSpc>
                <a:spcPct val="120000"/>
              </a:lnSpc>
              <a:spcBef>
                <a:spcPts val="0"/>
              </a:spcBef>
              <a:buNone/>
            </a:pPr>
            <a:r>
              <a:rPr lang="ru-RU" sz="2000" dirty="0"/>
              <a:t>-	 в фирмах подавляющая часть населения получает вознаграждение за свой труд, материально обеспечивая себя и близких;</a:t>
            </a:r>
          </a:p>
          <a:p>
            <a:pPr marL="0" indent="457200" algn="just">
              <a:lnSpc>
                <a:spcPct val="120000"/>
              </a:lnSpc>
              <a:spcBef>
                <a:spcPts val="0"/>
              </a:spcBef>
              <a:buNone/>
            </a:pPr>
            <a:r>
              <a:rPr lang="ru-RU" sz="2000" dirty="0"/>
              <a:t>-	 в фирмах граждане проходят социальную адаптацию, формируются основы трудовой дисциплины, взаимоотношения руководства с подчиненными и пр.</a:t>
            </a:r>
          </a:p>
          <a:p>
            <a:pPr marL="0" indent="0" algn="just">
              <a:buNone/>
            </a:pPr>
            <a:endParaRPr lang="ru-RU" sz="2000" dirty="0"/>
          </a:p>
        </p:txBody>
      </p:sp>
    </p:spTree>
    <p:extLst>
      <p:ext uri="{BB962C8B-B14F-4D97-AF65-F5344CB8AC3E}">
        <p14:creationId xmlns:p14="http://schemas.microsoft.com/office/powerpoint/2010/main" val="1979367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type="title"/>
          </p:nvPr>
        </p:nvSpPr>
        <p:spPr/>
        <p:txBody>
          <a:bodyPr>
            <a:normAutofit/>
          </a:bodyPr>
          <a:lstStyle/>
          <a:p>
            <a:r>
              <a:rPr lang="ru-RU" sz="2800" dirty="0">
                <a:solidFill>
                  <a:schemeClr val="tx1"/>
                </a:solidFill>
              </a:rPr>
              <a:t>Юридическим лицом признается организация, которая:</a:t>
            </a:r>
            <a:br>
              <a:rPr lang="ru-RU" sz="2800" dirty="0">
                <a:solidFill>
                  <a:schemeClr val="tx1"/>
                </a:solidFill>
              </a:rPr>
            </a:br>
            <a:endParaRPr lang="ru-RU" sz="2800" dirty="0">
              <a:solidFill>
                <a:schemeClr val="tx1"/>
              </a:solidFill>
            </a:endParaRPr>
          </a:p>
        </p:txBody>
      </p:sp>
      <p:sp>
        <p:nvSpPr>
          <p:cNvPr id="35845" name="Rectangle 5"/>
          <p:cNvSpPr>
            <a:spLocks noGrp="1" noChangeArrowheads="1"/>
          </p:cNvSpPr>
          <p:nvPr>
            <p:ph idx="1"/>
          </p:nvPr>
        </p:nvSpPr>
        <p:spPr/>
        <p:txBody>
          <a:bodyPr>
            <a:normAutofit/>
          </a:bodyPr>
          <a:lstStyle/>
          <a:p>
            <a:pPr>
              <a:lnSpc>
                <a:spcPct val="90000"/>
              </a:lnSpc>
            </a:pPr>
            <a:r>
              <a:rPr lang="ru-RU" sz="2400" dirty="0"/>
              <a:t>Имеет обособленное имущество (в собственности, хозяйственном ведении, оперативном управлении)</a:t>
            </a:r>
          </a:p>
          <a:p>
            <a:pPr>
              <a:lnSpc>
                <a:spcPct val="90000"/>
              </a:lnSpc>
            </a:pPr>
            <a:r>
              <a:rPr lang="ru-RU" sz="2400" dirty="0"/>
              <a:t>Отвечает этим имуществом по своим обязательствам</a:t>
            </a:r>
          </a:p>
          <a:p>
            <a:pPr>
              <a:lnSpc>
                <a:spcPct val="90000"/>
              </a:lnSpc>
            </a:pPr>
            <a:r>
              <a:rPr lang="ru-RU" sz="2400" dirty="0"/>
              <a:t>Может от своего имени приобретать имущественные и личные неимущественные права, нести обязанности</a:t>
            </a:r>
          </a:p>
          <a:p>
            <a:pPr>
              <a:lnSpc>
                <a:spcPct val="90000"/>
              </a:lnSpc>
            </a:pPr>
            <a:r>
              <a:rPr lang="ru-RU" sz="2400" dirty="0"/>
              <a:t>Может быть истцом и ответчиком в суде</a:t>
            </a:r>
          </a:p>
          <a:p>
            <a:pPr>
              <a:lnSpc>
                <a:spcPct val="90000"/>
              </a:lnSpc>
            </a:pPr>
            <a:r>
              <a:rPr lang="ru-RU" sz="2400" dirty="0"/>
              <a:t>Юридическое лицо должно иметь самостоятельный баланс или смету</a:t>
            </a:r>
          </a:p>
        </p:txBody>
      </p:sp>
    </p:spTree>
    <p:extLst>
      <p:ext uri="{BB962C8B-B14F-4D97-AF65-F5344CB8AC3E}">
        <p14:creationId xmlns:p14="http://schemas.microsoft.com/office/powerpoint/2010/main" val="31329961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44624"/>
            <a:ext cx="9108504" cy="6768752"/>
          </a:xfrm>
        </p:spPr>
        <p:txBody>
          <a:bodyPr>
            <a:normAutofit/>
          </a:bodyPr>
          <a:lstStyle/>
          <a:p>
            <a:pPr marL="0" indent="0">
              <a:buNone/>
            </a:pPr>
            <a:r>
              <a:rPr lang="ru-RU" b="1" dirty="0"/>
              <a:t>Целью деятельности фирмы является получение прибыли.</a:t>
            </a:r>
          </a:p>
          <a:p>
            <a:pPr marL="0" indent="457200" algn="just">
              <a:lnSpc>
                <a:spcPct val="120000"/>
              </a:lnSpc>
              <a:spcBef>
                <a:spcPts val="0"/>
              </a:spcBef>
              <a:buNone/>
            </a:pPr>
            <a:r>
              <a:rPr lang="ru-RU" dirty="0"/>
              <a:t>В русле этой основной цели может существовать еще целый спектр целей производства, в частности:</a:t>
            </a:r>
          </a:p>
          <a:p>
            <a:pPr marL="0" indent="457200" algn="just">
              <a:lnSpc>
                <a:spcPct val="120000"/>
              </a:lnSpc>
              <a:spcBef>
                <a:spcPts val="0"/>
              </a:spcBef>
              <a:buNone/>
            </a:pPr>
            <a:r>
              <a:rPr lang="ru-RU" dirty="0"/>
              <a:t>-	 увеличение выпуска продукции, работ, услуг;</a:t>
            </a:r>
          </a:p>
          <a:p>
            <a:pPr marL="0" indent="457200" algn="just">
              <a:lnSpc>
                <a:spcPct val="120000"/>
              </a:lnSpc>
              <a:spcBef>
                <a:spcPts val="0"/>
              </a:spcBef>
              <a:buNone/>
            </a:pPr>
            <a:r>
              <a:rPr lang="ru-RU" dirty="0"/>
              <a:t>-	 рациональное использование всех ресурсов, снижение себестоимости и обеспечение высокоэффективного производства;</a:t>
            </a:r>
          </a:p>
          <a:p>
            <a:pPr marL="0" indent="457200" algn="just">
              <a:lnSpc>
                <a:spcPct val="120000"/>
              </a:lnSpc>
              <a:spcBef>
                <a:spcPts val="0"/>
              </a:spcBef>
              <a:buNone/>
            </a:pPr>
            <a:r>
              <a:rPr lang="ru-RU" dirty="0"/>
              <a:t>-	 гибкая ценовая политика;</a:t>
            </a:r>
          </a:p>
          <a:p>
            <a:pPr marL="0" indent="457200" algn="just">
              <a:lnSpc>
                <a:spcPct val="120000"/>
              </a:lnSpc>
              <a:spcBef>
                <a:spcPts val="0"/>
              </a:spcBef>
              <a:buNone/>
            </a:pPr>
            <a:r>
              <a:rPr lang="ru-RU" dirty="0"/>
              <a:t>-	 кардинальное повышение качества продукции, работ, услуг;</a:t>
            </a:r>
          </a:p>
          <a:p>
            <a:pPr marL="0" indent="457200" algn="just">
              <a:lnSpc>
                <a:spcPct val="120000"/>
              </a:lnSpc>
              <a:spcBef>
                <a:spcPts val="0"/>
              </a:spcBef>
              <a:buNone/>
            </a:pPr>
            <a:r>
              <a:rPr lang="ru-RU" dirty="0"/>
              <a:t>-	 полное использование отходов производства;</a:t>
            </a:r>
          </a:p>
          <a:p>
            <a:pPr marL="0" indent="457200" algn="just">
              <a:lnSpc>
                <a:spcPct val="120000"/>
              </a:lnSpc>
              <a:spcBef>
                <a:spcPts val="0"/>
              </a:spcBef>
              <a:buNone/>
            </a:pPr>
            <a:r>
              <a:rPr lang="ru-RU" dirty="0"/>
              <a:t>-	 обеспечение оптимальных условий труда и социального развития участников производства</a:t>
            </a:r>
          </a:p>
          <a:p>
            <a:pPr marL="0" indent="0">
              <a:buNone/>
            </a:pPr>
            <a:endParaRPr lang="ru-RU" dirty="0"/>
          </a:p>
        </p:txBody>
      </p:sp>
    </p:spTree>
    <p:extLst>
      <p:ext uri="{BB962C8B-B14F-4D97-AF65-F5344CB8AC3E}">
        <p14:creationId xmlns:p14="http://schemas.microsoft.com/office/powerpoint/2010/main" val="1066236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normAutofit/>
          </a:bodyPr>
          <a:lstStyle/>
          <a:p>
            <a:pPr marL="0" indent="457200" algn="just">
              <a:lnSpc>
                <a:spcPct val="120000"/>
              </a:lnSpc>
              <a:spcBef>
                <a:spcPts val="0"/>
              </a:spcBef>
              <a:buNone/>
            </a:pPr>
            <a:r>
              <a:rPr lang="ru-RU" dirty="0"/>
              <a:t>Целая многоуровневая система целей фирмы, которые взаимоувязаны между собой, требует выработки специальной стратегии развития для каждой конкретной фирмы с учетом особенностей ее целей и их иерархии.</a:t>
            </a:r>
          </a:p>
          <a:p>
            <a:pPr marL="0" indent="457200" algn="just">
              <a:lnSpc>
                <a:spcPct val="120000"/>
              </a:lnSpc>
              <a:spcBef>
                <a:spcPts val="0"/>
              </a:spcBef>
              <a:buNone/>
            </a:pPr>
            <a:r>
              <a:rPr lang="ru-RU" dirty="0"/>
              <a:t>Деятельность фирмы, нацеленная на получение прибыли, одновременно:</a:t>
            </a:r>
          </a:p>
          <a:p>
            <a:pPr marL="0" indent="457200" algn="just">
              <a:lnSpc>
                <a:spcPct val="120000"/>
              </a:lnSpc>
              <a:spcBef>
                <a:spcPts val="0"/>
              </a:spcBef>
              <a:buNone/>
            </a:pPr>
            <a:r>
              <a:rPr lang="ru-RU" dirty="0"/>
              <a:t>-	 служит насыщению потребительского рынка товарами и услугами;</a:t>
            </a:r>
          </a:p>
          <a:p>
            <a:pPr marL="0" indent="457200" algn="just">
              <a:lnSpc>
                <a:spcPct val="120000"/>
              </a:lnSpc>
              <a:spcBef>
                <a:spcPts val="0"/>
              </a:spcBef>
              <a:buNone/>
            </a:pPr>
            <a:r>
              <a:rPr lang="ru-RU" dirty="0"/>
              <a:t>-	 способствует активизации структурной перестройки экономики;</a:t>
            </a:r>
          </a:p>
          <a:p>
            <a:pPr marL="0" indent="457200" algn="just">
              <a:lnSpc>
                <a:spcPct val="120000"/>
              </a:lnSpc>
              <a:spcBef>
                <a:spcPts val="0"/>
              </a:spcBef>
              <a:buNone/>
            </a:pPr>
            <a:r>
              <a:rPr lang="ru-RU" dirty="0"/>
              <a:t>-	 стимулирует внедрение научно-технических достижений;</a:t>
            </a:r>
          </a:p>
          <a:p>
            <a:pPr marL="0" indent="457200" algn="just">
              <a:lnSpc>
                <a:spcPct val="120000"/>
              </a:lnSpc>
              <a:spcBef>
                <a:spcPts val="0"/>
              </a:spcBef>
              <a:buNone/>
            </a:pPr>
            <a:r>
              <a:rPr lang="ru-RU" dirty="0"/>
              <a:t>-	 способствует повышению эффективности </a:t>
            </a:r>
            <a:r>
              <a:rPr lang="ru-RU" dirty="0" smtClean="0"/>
              <a:t>производства</a:t>
            </a:r>
            <a:r>
              <a:rPr lang="ru-RU" dirty="0"/>
              <a:t>.</a:t>
            </a:r>
          </a:p>
          <a:p>
            <a:pPr marL="0" indent="457200" algn="just">
              <a:lnSpc>
                <a:spcPct val="120000"/>
              </a:lnSpc>
              <a:spcBef>
                <a:spcPts val="0"/>
              </a:spcBef>
              <a:buNone/>
            </a:pPr>
            <a:r>
              <a:rPr lang="ru-RU" dirty="0"/>
              <a:t>То есть, служит удовлетворению общественных потребностей.</a:t>
            </a:r>
          </a:p>
          <a:p>
            <a:pPr marL="0" indent="457200" algn="just">
              <a:lnSpc>
                <a:spcPct val="120000"/>
              </a:lnSpc>
              <a:spcBef>
                <a:spcPts val="0"/>
              </a:spcBef>
              <a:buNone/>
            </a:pPr>
            <a:endParaRPr lang="ru-RU" dirty="0"/>
          </a:p>
        </p:txBody>
      </p:sp>
    </p:spTree>
    <p:extLst>
      <p:ext uri="{BB962C8B-B14F-4D97-AF65-F5344CB8AC3E}">
        <p14:creationId xmlns:p14="http://schemas.microsoft.com/office/powerpoint/2010/main" val="1532188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normAutofit/>
          </a:bodyPr>
          <a:lstStyle/>
          <a:p>
            <a:pPr marL="0" indent="457200" algn="ctr">
              <a:lnSpc>
                <a:spcPct val="120000"/>
              </a:lnSpc>
              <a:spcBef>
                <a:spcPts val="0"/>
              </a:spcBef>
              <a:buNone/>
            </a:pPr>
            <a:r>
              <a:rPr lang="ru-RU" b="1" dirty="0"/>
              <a:t>К функциям предприятия можно отнести:</a:t>
            </a:r>
          </a:p>
          <a:p>
            <a:pPr marL="0" indent="457200" algn="just">
              <a:lnSpc>
                <a:spcPct val="120000"/>
              </a:lnSpc>
              <a:spcBef>
                <a:spcPts val="0"/>
              </a:spcBef>
              <a:buNone/>
            </a:pPr>
            <a:r>
              <a:rPr lang="ru-RU" dirty="0"/>
              <a:t>1</a:t>
            </a:r>
            <a:r>
              <a:rPr lang="ru-RU" dirty="0" smtClean="0"/>
              <a:t>) </a:t>
            </a:r>
            <a:r>
              <a:rPr lang="ru-RU" dirty="0"/>
              <a:t>изготовление продукции для производственного и личного потребления в соответствии с профилем предприятия и рыночным спросом;</a:t>
            </a:r>
          </a:p>
          <a:p>
            <a:pPr marL="0" indent="457200" algn="just">
              <a:lnSpc>
                <a:spcPct val="120000"/>
              </a:lnSpc>
              <a:spcBef>
                <a:spcPts val="0"/>
              </a:spcBef>
              <a:buNone/>
            </a:pPr>
            <a:r>
              <a:rPr lang="ru-RU" dirty="0"/>
              <a:t>2</a:t>
            </a:r>
            <a:r>
              <a:rPr lang="ru-RU" dirty="0" smtClean="0"/>
              <a:t>) </a:t>
            </a:r>
            <a:r>
              <a:rPr lang="ru-RU" dirty="0"/>
              <a:t>продажу и поставку продукции потребителю:</a:t>
            </a:r>
          </a:p>
          <a:p>
            <a:pPr marL="0" indent="457200" algn="just">
              <a:lnSpc>
                <a:spcPct val="120000"/>
              </a:lnSpc>
              <a:spcBef>
                <a:spcPts val="0"/>
              </a:spcBef>
              <a:buNone/>
            </a:pPr>
            <a:r>
              <a:rPr lang="ru-RU" dirty="0"/>
              <a:t>3</a:t>
            </a:r>
            <a:r>
              <a:rPr lang="ru-RU" dirty="0" smtClean="0"/>
              <a:t>) </a:t>
            </a:r>
            <a:r>
              <a:rPr lang="ru-RU" dirty="0"/>
              <a:t>послепродажное обслуживание продукции;</a:t>
            </a:r>
          </a:p>
          <a:p>
            <a:pPr marL="0" indent="457200" algn="just">
              <a:lnSpc>
                <a:spcPct val="120000"/>
              </a:lnSpc>
              <a:spcBef>
                <a:spcPts val="0"/>
              </a:spcBef>
              <a:buNone/>
            </a:pPr>
            <a:r>
              <a:rPr lang="ru-RU" dirty="0"/>
              <a:t>4</a:t>
            </a:r>
            <a:r>
              <a:rPr lang="ru-RU" dirty="0" smtClean="0"/>
              <a:t>) </a:t>
            </a:r>
            <a:r>
              <a:rPr lang="ru-RU" dirty="0"/>
              <a:t>материально-техническое обеспечение производственного процесса на предприятии;</a:t>
            </a:r>
          </a:p>
          <a:p>
            <a:pPr marL="0" indent="457200" algn="just">
              <a:lnSpc>
                <a:spcPct val="120000"/>
              </a:lnSpc>
              <a:spcBef>
                <a:spcPts val="0"/>
              </a:spcBef>
              <a:buNone/>
            </a:pPr>
            <a:r>
              <a:rPr lang="ru-RU" dirty="0"/>
              <a:t>5</a:t>
            </a:r>
            <a:r>
              <a:rPr lang="ru-RU" dirty="0" smtClean="0"/>
              <a:t>) </a:t>
            </a:r>
            <a:r>
              <a:rPr lang="ru-RU" dirty="0"/>
              <a:t>управление по организации труда </a:t>
            </a:r>
            <a:r>
              <a:rPr lang="ru-RU" dirty="0" smtClean="0"/>
              <a:t>персоналом;</a:t>
            </a:r>
            <a:endParaRPr lang="ru-RU" dirty="0"/>
          </a:p>
          <a:p>
            <a:pPr marL="0" indent="457200" algn="just">
              <a:lnSpc>
                <a:spcPct val="120000"/>
              </a:lnSpc>
              <a:spcBef>
                <a:spcPts val="0"/>
              </a:spcBef>
              <a:buNone/>
            </a:pPr>
            <a:r>
              <a:rPr lang="ru-RU" dirty="0"/>
              <a:t>6</a:t>
            </a:r>
            <a:r>
              <a:rPr lang="ru-RU" dirty="0" smtClean="0"/>
              <a:t>) </a:t>
            </a:r>
            <a:r>
              <a:rPr lang="ru-RU" dirty="0"/>
              <a:t>повышение качества продукции;</a:t>
            </a:r>
          </a:p>
          <a:p>
            <a:pPr marL="0" indent="457200" algn="just">
              <a:lnSpc>
                <a:spcPct val="120000"/>
              </a:lnSpc>
              <a:spcBef>
                <a:spcPts val="0"/>
              </a:spcBef>
              <a:buNone/>
            </a:pPr>
            <a:r>
              <a:rPr lang="ru-RU" dirty="0"/>
              <a:t>7</a:t>
            </a:r>
            <a:r>
              <a:rPr lang="ru-RU" dirty="0" smtClean="0"/>
              <a:t>) </a:t>
            </a:r>
            <a:r>
              <a:rPr lang="ru-RU" dirty="0"/>
              <a:t>снижение удельных издержек и рост объема производства;</a:t>
            </a:r>
          </a:p>
          <a:p>
            <a:pPr marL="0" indent="457200" algn="just">
              <a:lnSpc>
                <a:spcPct val="120000"/>
              </a:lnSpc>
              <a:spcBef>
                <a:spcPts val="0"/>
              </a:spcBef>
              <a:buNone/>
            </a:pPr>
            <a:r>
              <a:rPr lang="ru-RU" dirty="0"/>
              <a:t>8</a:t>
            </a:r>
            <a:r>
              <a:rPr lang="ru-RU" dirty="0" smtClean="0"/>
              <a:t>) </a:t>
            </a:r>
            <a:r>
              <a:rPr lang="ru-RU" dirty="0"/>
              <a:t>предпринимательство;</a:t>
            </a:r>
          </a:p>
          <a:p>
            <a:pPr marL="0" indent="457200" algn="just">
              <a:lnSpc>
                <a:spcPct val="120000"/>
              </a:lnSpc>
              <a:spcBef>
                <a:spcPts val="0"/>
              </a:spcBef>
              <a:buNone/>
            </a:pPr>
            <a:r>
              <a:rPr lang="ru-RU" dirty="0"/>
              <a:t>9</a:t>
            </a:r>
            <a:r>
              <a:rPr lang="ru-RU" dirty="0" smtClean="0"/>
              <a:t>) </a:t>
            </a:r>
            <a:r>
              <a:rPr lang="ru-RU" dirty="0"/>
              <a:t>уплату налогов, внесение обязательных и добровольных взносов и осуществление платежей в бюджет и др.;</a:t>
            </a:r>
          </a:p>
          <a:p>
            <a:pPr marL="0" indent="457200" algn="just">
              <a:lnSpc>
                <a:spcPct val="120000"/>
              </a:lnSpc>
              <a:spcBef>
                <a:spcPts val="0"/>
              </a:spcBef>
              <a:buNone/>
            </a:pPr>
            <a:r>
              <a:rPr lang="ru-RU" dirty="0" smtClean="0"/>
              <a:t>10) соблюдение </a:t>
            </a:r>
            <a:r>
              <a:rPr lang="ru-RU" dirty="0"/>
              <a:t>действующих стандартов, нормативов, государственных законов.</a:t>
            </a:r>
          </a:p>
          <a:p>
            <a:pPr marL="0" indent="457200" algn="just">
              <a:lnSpc>
                <a:spcPct val="120000"/>
              </a:lnSpc>
              <a:spcBef>
                <a:spcPts val="0"/>
              </a:spcBef>
              <a:buNone/>
            </a:pPr>
            <a:endParaRPr lang="ru-RU" dirty="0"/>
          </a:p>
        </p:txBody>
      </p:sp>
    </p:spTree>
    <p:extLst>
      <p:ext uri="{BB962C8B-B14F-4D97-AF65-F5344CB8AC3E}">
        <p14:creationId xmlns:p14="http://schemas.microsoft.com/office/powerpoint/2010/main" val="3925199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5496" y="0"/>
            <a:ext cx="9108504" cy="6858000"/>
          </a:xfrm>
        </p:spPr>
        <p:txBody>
          <a:bodyPr>
            <a:normAutofit/>
          </a:bodyPr>
          <a:lstStyle/>
          <a:p>
            <a:pPr marL="0" indent="457200" algn="ctr">
              <a:spcBef>
                <a:spcPts val="0"/>
              </a:spcBef>
              <a:buNone/>
            </a:pPr>
            <a:r>
              <a:rPr lang="ru-RU" b="1" dirty="0"/>
              <a:t>Функции предприятия зависят от</a:t>
            </a:r>
            <a:r>
              <a:rPr lang="ru-RU" b="1" dirty="0" smtClean="0"/>
              <a:t>:</a:t>
            </a:r>
          </a:p>
          <a:p>
            <a:pPr marL="0" indent="457200" algn="ctr">
              <a:spcBef>
                <a:spcPts val="0"/>
              </a:spcBef>
              <a:buNone/>
            </a:pPr>
            <a:endParaRPr lang="ru-RU" b="1" dirty="0" smtClean="0"/>
          </a:p>
          <a:p>
            <a:pPr algn="just">
              <a:spcBef>
                <a:spcPts val="0"/>
              </a:spcBef>
              <a:buFontTx/>
              <a:buChar char="-"/>
            </a:pPr>
            <a:r>
              <a:rPr lang="ru-RU" dirty="0" smtClean="0"/>
              <a:t>размера</a:t>
            </a:r>
            <a:r>
              <a:rPr lang="ru-RU" dirty="0"/>
              <a:t>, который определяется объемом </a:t>
            </a:r>
            <a:r>
              <a:rPr lang="ru-RU" dirty="0" smtClean="0"/>
              <a:t>производства;</a:t>
            </a:r>
          </a:p>
          <a:p>
            <a:pPr algn="just">
              <a:spcBef>
                <a:spcPts val="0"/>
              </a:spcBef>
              <a:buFontTx/>
              <a:buChar char="-"/>
            </a:pPr>
            <a:endParaRPr lang="ru-RU" dirty="0" smtClean="0"/>
          </a:p>
          <a:p>
            <a:pPr algn="just">
              <a:spcBef>
                <a:spcPts val="0"/>
              </a:spcBef>
              <a:buFontTx/>
              <a:buChar char="-"/>
            </a:pPr>
            <a:r>
              <a:rPr lang="ru-RU" dirty="0" smtClean="0"/>
              <a:t> отраслевой принадлежности;</a:t>
            </a:r>
          </a:p>
          <a:p>
            <a:pPr algn="just">
              <a:spcBef>
                <a:spcPts val="0"/>
              </a:spcBef>
              <a:buFontTx/>
              <a:buChar char="-"/>
            </a:pPr>
            <a:endParaRPr lang="ru-RU" dirty="0" smtClean="0"/>
          </a:p>
          <a:p>
            <a:pPr algn="just">
              <a:spcBef>
                <a:spcPts val="0"/>
              </a:spcBef>
              <a:buFontTx/>
              <a:buChar char="-"/>
            </a:pPr>
            <a:r>
              <a:rPr lang="ru-RU" dirty="0" smtClean="0"/>
              <a:t>наличия степени </a:t>
            </a:r>
            <a:r>
              <a:rPr lang="ru-RU" dirty="0"/>
              <a:t>специализации и кооперирования</a:t>
            </a:r>
            <a:r>
              <a:rPr lang="ru-RU" dirty="0" smtClean="0"/>
              <a:t>;</a:t>
            </a:r>
          </a:p>
          <a:p>
            <a:pPr algn="just">
              <a:spcBef>
                <a:spcPts val="0"/>
              </a:spcBef>
              <a:buFontTx/>
              <a:buChar char="-"/>
            </a:pPr>
            <a:endParaRPr lang="ru-RU" dirty="0" smtClean="0"/>
          </a:p>
          <a:p>
            <a:pPr algn="just">
              <a:spcBef>
                <a:spcPts val="0"/>
              </a:spcBef>
              <a:buFontTx/>
              <a:buChar char="-"/>
            </a:pPr>
            <a:r>
              <a:rPr lang="ru-RU" dirty="0" smtClean="0"/>
              <a:t>коммерческой </a:t>
            </a:r>
            <a:r>
              <a:rPr lang="ru-RU" dirty="0"/>
              <a:t>и социальной </a:t>
            </a:r>
            <a:r>
              <a:rPr lang="ru-RU" dirty="0" smtClean="0"/>
              <a:t>инфраструктур;</a:t>
            </a:r>
          </a:p>
          <a:p>
            <a:pPr algn="just">
              <a:spcBef>
                <a:spcPts val="0"/>
              </a:spcBef>
              <a:buFontTx/>
              <a:buChar char="-"/>
            </a:pPr>
            <a:endParaRPr lang="ru-RU" dirty="0" smtClean="0"/>
          </a:p>
          <a:p>
            <a:pPr algn="just">
              <a:spcBef>
                <a:spcPts val="0"/>
              </a:spcBef>
              <a:buFontTx/>
              <a:buChar char="-"/>
            </a:pPr>
            <a:r>
              <a:rPr lang="ru-RU" dirty="0" smtClean="0"/>
              <a:t> формы собственности;</a:t>
            </a:r>
          </a:p>
          <a:p>
            <a:pPr marL="0" indent="0" algn="just">
              <a:spcBef>
                <a:spcPts val="0"/>
              </a:spcBef>
              <a:buNone/>
            </a:pPr>
            <a:endParaRPr lang="ru-RU" dirty="0" smtClean="0"/>
          </a:p>
          <a:p>
            <a:pPr algn="just">
              <a:spcBef>
                <a:spcPts val="0"/>
              </a:spcBef>
              <a:buFontTx/>
              <a:buChar char="-"/>
            </a:pPr>
            <a:r>
              <a:rPr lang="ru-RU" dirty="0" smtClean="0"/>
              <a:t> взаимоотношений </a:t>
            </a:r>
            <a:r>
              <a:rPr lang="ru-RU" dirty="0"/>
              <a:t>с местными органами </a:t>
            </a:r>
            <a:r>
              <a:rPr lang="ru-RU" dirty="0" smtClean="0"/>
              <a:t>власти.</a:t>
            </a:r>
            <a:endParaRPr lang="ru-RU" dirty="0"/>
          </a:p>
          <a:p>
            <a:pPr marL="0" indent="457200">
              <a:spcBef>
                <a:spcPts val="0"/>
              </a:spcBef>
              <a:buNone/>
            </a:pPr>
            <a:endParaRPr lang="ru-RU" dirty="0"/>
          </a:p>
        </p:txBody>
      </p:sp>
    </p:spTree>
    <p:extLst>
      <p:ext uri="{BB962C8B-B14F-4D97-AF65-F5344CB8AC3E}">
        <p14:creationId xmlns:p14="http://schemas.microsoft.com/office/powerpoint/2010/main" val="38549699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512" y="404664"/>
            <a:ext cx="8784976" cy="6120680"/>
          </a:xfrm>
        </p:spPr>
        <p:txBody>
          <a:bodyPr>
            <a:normAutofit/>
          </a:bodyPr>
          <a:lstStyle/>
          <a:p>
            <a:pPr marL="0" indent="457200" algn="just">
              <a:spcBef>
                <a:spcPts val="0"/>
              </a:spcBef>
              <a:buNone/>
            </a:pPr>
            <a:r>
              <a:rPr lang="ru-RU" b="1" dirty="0"/>
              <a:t>Предприятие </a:t>
            </a:r>
            <a:r>
              <a:rPr lang="ru-RU" dirty="0"/>
              <a:t>- основанная	на </a:t>
            </a:r>
            <a:r>
              <a:rPr lang="ru-RU" dirty="0" smtClean="0"/>
              <a:t>сложной кооперации форма организации производства, выступающая </a:t>
            </a:r>
            <a:r>
              <a:rPr lang="ru-RU" dirty="0"/>
              <a:t>в качестве </a:t>
            </a:r>
            <a:r>
              <a:rPr lang="ru-RU" dirty="0" smtClean="0"/>
              <a:t>экономически обособленного </a:t>
            </a:r>
            <a:r>
              <a:rPr lang="ru-RU" dirty="0"/>
              <a:t>субъекта хозяйствования.</a:t>
            </a:r>
          </a:p>
          <a:p>
            <a:pPr marL="0" indent="457200" algn="just">
              <a:spcBef>
                <a:spcPts val="0"/>
              </a:spcBef>
              <a:buNone/>
            </a:pPr>
            <a:r>
              <a:rPr lang="ru-RU" dirty="0"/>
              <a:t> </a:t>
            </a:r>
          </a:p>
          <a:p>
            <a:pPr marL="0" indent="457200" algn="just">
              <a:spcBef>
                <a:spcPts val="0"/>
              </a:spcBef>
              <a:buNone/>
            </a:pPr>
            <a:r>
              <a:rPr lang="ru-RU" b="1" dirty="0"/>
              <a:t>Фирма </a:t>
            </a:r>
            <a:r>
              <a:rPr lang="ru-RU" dirty="0"/>
              <a:t>- это основной субъект </a:t>
            </a:r>
            <a:r>
              <a:rPr lang="ru-RU" dirty="0" smtClean="0"/>
              <a:t>предпринимательской деятельности,  обособленный </a:t>
            </a:r>
            <a:r>
              <a:rPr lang="ru-RU" dirty="0"/>
              <a:t>субъект </a:t>
            </a:r>
            <a:r>
              <a:rPr lang="ru-RU" dirty="0" smtClean="0"/>
              <a:t>рынка, обладающий производственной </a:t>
            </a:r>
            <a:r>
              <a:rPr lang="ru-RU" dirty="0"/>
              <a:t>и </a:t>
            </a:r>
            <a:r>
              <a:rPr lang="ru-RU" dirty="0" smtClean="0"/>
              <a:t>финансовой  самостоятельностью</a:t>
            </a:r>
            <a:r>
              <a:rPr lang="ru-RU" dirty="0"/>
              <a:t>, зарегистрированный как </a:t>
            </a:r>
            <a:r>
              <a:rPr lang="ru-RU" dirty="0" smtClean="0"/>
              <a:t>юридическое </a:t>
            </a:r>
            <a:r>
              <a:rPr lang="ru-RU" dirty="0"/>
              <a:t>лицо, планомерно комбинирующий факторы производства, имеющее счет в банке и другие нормативно закрепленные атрибуты.</a:t>
            </a:r>
          </a:p>
          <a:p>
            <a:pPr marL="0" indent="457200" algn="just">
              <a:spcBef>
                <a:spcPts val="0"/>
              </a:spcBef>
              <a:buNone/>
            </a:pPr>
            <a:endParaRPr lang="ru-RU" dirty="0"/>
          </a:p>
        </p:txBody>
      </p:sp>
    </p:spTree>
    <p:extLst>
      <p:ext uri="{BB962C8B-B14F-4D97-AF65-F5344CB8AC3E}">
        <p14:creationId xmlns:p14="http://schemas.microsoft.com/office/powerpoint/2010/main" val="2140698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normAutofit fontScale="92500" lnSpcReduction="20000"/>
          </a:bodyPr>
          <a:lstStyle/>
          <a:p>
            <a:pPr marL="0" indent="457200" algn="ctr">
              <a:lnSpc>
                <a:spcPct val="170000"/>
              </a:lnSpc>
              <a:spcBef>
                <a:spcPts val="0"/>
              </a:spcBef>
              <a:buNone/>
            </a:pPr>
            <a:r>
              <a:rPr lang="ru-RU" b="1" dirty="0"/>
              <a:t>Понятия «предприятие» и «фирма» </a:t>
            </a:r>
            <a:r>
              <a:rPr lang="ru-RU" b="1" dirty="0" smtClean="0"/>
              <a:t>не тождественны </a:t>
            </a:r>
            <a:r>
              <a:rPr lang="ru-RU" b="1" dirty="0"/>
              <a:t>друг другу.</a:t>
            </a:r>
          </a:p>
          <a:p>
            <a:pPr marL="0" indent="457200" algn="just">
              <a:lnSpc>
                <a:spcPct val="170000"/>
              </a:lnSpc>
              <a:spcBef>
                <a:spcPts val="0"/>
              </a:spcBef>
              <a:buNone/>
            </a:pPr>
            <a:r>
              <a:rPr lang="ru-RU" b="1" dirty="0"/>
              <a:t>Во-первых</a:t>
            </a:r>
            <a:r>
              <a:rPr lang="ru-RU" dirty="0"/>
              <a:t>, различны их конституирующие признаки. Предприятие представляет собой форму организации производства, в то время как фирма - тип организации обмена деятельностью.</a:t>
            </a:r>
          </a:p>
          <a:p>
            <a:pPr marL="0" indent="457200" algn="just">
              <a:lnSpc>
                <a:spcPct val="170000"/>
              </a:lnSpc>
              <a:spcBef>
                <a:spcPts val="0"/>
              </a:spcBef>
              <a:buNone/>
            </a:pPr>
            <a:r>
              <a:rPr lang="ru-RU" b="1" dirty="0" smtClean="0"/>
              <a:t>Во-вторых</a:t>
            </a:r>
            <a:r>
              <a:rPr lang="ru-RU" dirty="0"/>
              <a:t>, понятие «фирма» шире. Ею может выступать любая хозяйственная единица независимо от характера внутренней организации, в то время как к предприятиям могут быть отнесены только те из фирм, которые опираются на разделение труда внутри производства. В этом смысле, любое предприятие является фирмой, но не всякая фирма представляет собой предприятие.</a:t>
            </a:r>
          </a:p>
          <a:p>
            <a:pPr marL="0" indent="457200" algn="just">
              <a:lnSpc>
                <a:spcPct val="170000"/>
              </a:lnSpc>
              <a:spcBef>
                <a:spcPts val="0"/>
              </a:spcBef>
              <a:buNone/>
            </a:pPr>
            <a:r>
              <a:rPr lang="ru-RU" b="1" dirty="0" smtClean="0"/>
              <a:t>В-третьих</a:t>
            </a:r>
            <a:r>
              <a:rPr lang="ru-RU" dirty="0"/>
              <a:t>. Если в основе формирования размеров фирмы лежит принцип экономии </a:t>
            </a:r>
            <a:r>
              <a:rPr lang="ru-RU" dirty="0" smtClean="0"/>
              <a:t>транзакционных </a:t>
            </a:r>
            <a:r>
              <a:rPr lang="ru-RU" dirty="0"/>
              <a:t>издержек (операционные издержки сверх основных затрат на производство и обращение; косвенные сопряженные затраты, расходы, связанные с организацией дела, получением информации, ведением </a:t>
            </a:r>
            <a:r>
              <a:rPr lang="ru-RU" dirty="0" smtClean="0"/>
              <a:t>переговоров</a:t>
            </a:r>
            <a:r>
              <a:rPr lang="ru-RU" dirty="0"/>
              <a:t>, поиском поставщиков</a:t>
            </a:r>
            <a:r>
              <a:rPr lang="ru-RU" dirty="0" smtClean="0"/>
              <a:t>, </a:t>
            </a:r>
            <a:r>
              <a:rPr lang="ru-RU" dirty="0"/>
              <a:t>заключением контрактов, обеспечением юридической защиты), то масштабы предприятия предопределены рамками внутренней кооперации.</a:t>
            </a:r>
          </a:p>
          <a:p>
            <a:pPr marL="0" indent="457200" algn="just">
              <a:lnSpc>
                <a:spcPct val="170000"/>
              </a:lnSpc>
              <a:spcBef>
                <a:spcPts val="0"/>
              </a:spcBef>
              <a:buNone/>
            </a:pPr>
            <a:endParaRPr lang="ru-RU" dirty="0"/>
          </a:p>
        </p:txBody>
      </p:sp>
    </p:spTree>
    <p:extLst>
      <p:ext uri="{BB962C8B-B14F-4D97-AF65-F5344CB8AC3E}">
        <p14:creationId xmlns:p14="http://schemas.microsoft.com/office/powerpoint/2010/main" val="3894533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normAutofit lnSpcReduction="10000"/>
          </a:bodyPr>
          <a:lstStyle/>
          <a:p>
            <a:pPr marL="0" indent="0" algn="ctr">
              <a:lnSpc>
                <a:spcPct val="120000"/>
              </a:lnSpc>
              <a:spcBef>
                <a:spcPts val="0"/>
              </a:spcBef>
              <a:buNone/>
            </a:pPr>
            <a:r>
              <a:rPr lang="ru-RU" b="1" dirty="0"/>
              <a:t>Фирма выражает широкий спектр экономических отношений. </a:t>
            </a:r>
            <a:endParaRPr lang="ru-RU" b="1" dirty="0" smtClean="0"/>
          </a:p>
          <a:p>
            <a:pPr marL="0" indent="0" algn="ctr">
              <a:lnSpc>
                <a:spcPct val="120000"/>
              </a:lnSpc>
              <a:spcBef>
                <a:spcPts val="0"/>
              </a:spcBef>
              <a:buNone/>
            </a:pPr>
            <a:r>
              <a:rPr lang="ru-RU" dirty="0" smtClean="0"/>
              <a:t>Среди </a:t>
            </a:r>
            <a:r>
              <a:rPr lang="ru-RU" dirty="0"/>
              <a:t>них необходимо выделить следующие:</a:t>
            </a:r>
          </a:p>
          <a:p>
            <a:pPr marL="0" indent="0" algn="just">
              <a:lnSpc>
                <a:spcPct val="120000"/>
              </a:lnSpc>
              <a:spcBef>
                <a:spcPts val="0"/>
              </a:spcBef>
              <a:buNone/>
            </a:pPr>
            <a:r>
              <a:rPr lang="ru-RU" b="1" dirty="0"/>
              <a:t>1</a:t>
            </a:r>
            <a:r>
              <a:rPr lang="ru-RU" b="1" dirty="0" smtClean="0"/>
              <a:t>) отношения </a:t>
            </a:r>
            <a:r>
              <a:rPr lang="ru-RU" b="1" dirty="0"/>
              <a:t>между обществом в целом и фирмой</a:t>
            </a:r>
            <a:r>
              <a:rPr lang="ru-RU" dirty="0"/>
              <a:t>. Эти отношения выражаются: а) в доведении фирмам со стороны общества индикативных планов, экономических прогнозов, а иногда и производственных </a:t>
            </a:r>
            <a:r>
              <a:rPr lang="ru-RU" dirty="0" smtClean="0"/>
              <a:t>заданий; б) в </a:t>
            </a:r>
            <a:r>
              <a:rPr lang="ru-RU" dirty="0"/>
              <a:t>изъятии в пользу общества части прибавочного продукта фирмы; в) в предоставлении фирмам со стороны государства бюджетных ассигнований и кредитов; г) в регулировании цен на производимую продукцию и закупаемое сырье;</a:t>
            </a:r>
          </a:p>
          <a:p>
            <a:pPr marL="0" indent="0" algn="just">
              <a:lnSpc>
                <a:spcPct val="120000"/>
              </a:lnSpc>
              <a:spcBef>
                <a:spcPts val="0"/>
              </a:spcBef>
              <a:buNone/>
            </a:pPr>
            <a:endParaRPr lang="ru-RU" dirty="0" smtClean="0"/>
          </a:p>
          <a:p>
            <a:pPr marL="0" indent="0" algn="just">
              <a:lnSpc>
                <a:spcPct val="120000"/>
              </a:lnSpc>
              <a:spcBef>
                <a:spcPts val="0"/>
              </a:spcBef>
              <a:buNone/>
            </a:pPr>
            <a:r>
              <a:rPr lang="ru-RU" b="1" dirty="0" smtClean="0"/>
              <a:t>2) </a:t>
            </a:r>
            <a:r>
              <a:rPr lang="ru-RU" b="1" dirty="0"/>
              <a:t>отношения между отдельными фирмами</a:t>
            </a:r>
            <a:r>
              <a:rPr lang="ru-RU" dirty="0"/>
              <a:t>. Они складываются как между предприятиями одной отрасли, так и различных отраслей по поводу закупок техники, сырья, материалов и продажи собственной готовой продукции;</a:t>
            </a:r>
          </a:p>
          <a:p>
            <a:pPr marL="0" indent="0" algn="just">
              <a:lnSpc>
                <a:spcPct val="120000"/>
              </a:lnSpc>
              <a:spcBef>
                <a:spcPts val="0"/>
              </a:spcBef>
              <a:buNone/>
            </a:pPr>
            <a:endParaRPr lang="ru-RU" dirty="0" smtClean="0"/>
          </a:p>
          <a:p>
            <a:pPr marL="0" indent="0" algn="just">
              <a:lnSpc>
                <a:spcPct val="120000"/>
              </a:lnSpc>
              <a:spcBef>
                <a:spcPts val="0"/>
              </a:spcBef>
              <a:buNone/>
            </a:pPr>
            <a:r>
              <a:rPr lang="ru-RU" b="1" dirty="0" smtClean="0"/>
              <a:t>3) </a:t>
            </a:r>
            <a:r>
              <a:rPr lang="ru-RU" b="1" dirty="0"/>
              <a:t>отношения между фирмой и ее работниками</a:t>
            </a:r>
            <a:r>
              <a:rPr lang="ru-RU" dirty="0"/>
              <a:t>. Эти отношения охватывают </a:t>
            </a:r>
            <a:r>
              <a:rPr lang="ru-RU" dirty="0" err="1"/>
              <a:t>найм</a:t>
            </a:r>
            <a:r>
              <a:rPr lang="ru-RU" dirty="0"/>
              <a:t> работников, организацию труда и его оплату, участие работников в производственных совещаниях, материальное стимулирование и премирование работников, технику безопасности и улучшение условий труда.</a:t>
            </a:r>
          </a:p>
          <a:p>
            <a:pPr marL="0" indent="0" algn="just">
              <a:lnSpc>
                <a:spcPct val="120000"/>
              </a:lnSpc>
              <a:spcBef>
                <a:spcPts val="0"/>
              </a:spcBef>
              <a:buNone/>
            </a:pPr>
            <a:endParaRPr lang="ru-RU" dirty="0"/>
          </a:p>
        </p:txBody>
      </p:sp>
    </p:spTree>
    <p:extLst>
      <p:ext uri="{BB962C8B-B14F-4D97-AF65-F5344CB8AC3E}">
        <p14:creationId xmlns:p14="http://schemas.microsoft.com/office/powerpoint/2010/main" val="2014176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normAutofit fontScale="92500" lnSpcReduction="20000"/>
          </a:bodyPr>
          <a:lstStyle/>
          <a:p>
            <a:pPr marL="0" indent="457200" algn="ctr">
              <a:lnSpc>
                <a:spcPct val="120000"/>
              </a:lnSpc>
              <a:spcBef>
                <a:spcPts val="0"/>
              </a:spcBef>
              <a:buNone/>
            </a:pPr>
            <a:r>
              <a:rPr lang="ru-RU" i="1" dirty="0"/>
              <a:t>Фирму как экономическую категорию характеризует, прежде </a:t>
            </a:r>
            <a:r>
              <a:rPr lang="ru-RU" i="1" dirty="0" smtClean="0"/>
              <a:t>всего, то</a:t>
            </a:r>
            <a:r>
              <a:rPr lang="ru-RU" i="1" dirty="0"/>
              <a:t>, что в ней происходит соединение рабочей силы со средствами производства. От характера этого соединения </a:t>
            </a:r>
            <a:r>
              <a:rPr lang="ru-RU" i="1" dirty="0" smtClean="0"/>
              <a:t> зависит </a:t>
            </a:r>
            <a:r>
              <a:rPr lang="ru-RU" i="1" dirty="0"/>
              <a:t>тип фирмы.</a:t>
            </a:r>
          </a:p>
          <a:p>
            <a:pPr marL="0" indent="457200" algn="ctr">
              <a:lnSpc>
                <a:spcPct val="120000"/>
              </a:lnSpc>
              <a:spcBef>
                <a:spcPts val="0"/>
              </a:spcBef>
              <a:buNone/>
            </a:pPr>
            <a:r>
              <a:rPr lang="ru-RU" i="1" dirty="0"/>
              <a:t>Существуют:</a:t>
            </a:r>
          </a:p>
          <a:p>
            <a:pPr marL="0" indent="457200" algn="just">
              <a:lnSpc>
                <a:spcPct val="120000"/>
              </a:lnSpc>
              <a:spcBef>
                <a:spcPts val="0"/>
              </a:spcBef>
              <a:buNone/>
            </a:pPr>
            <a:r>
              <a:rPr lang="ru-RU" b="1" dirty="0"/>
              <a:t>1</a:t>
            </a:r>
            <a:r>
              <a:rPr lang="ru-RU" b="1" dirty="0" smtClean="0"/>
              <a:t>) </a:t>
            </a:r>
            <a:r>
              <a:rPr lang="ru-RU" b="1" dirty="0"/>
              <a:t>общественные фирмы, основанные на непосредственном соединении средств производства и рабочей силы. </a:t>
            </a:r>
            <a:r>
              <a:rPr lang="ru-RU" dirty="0"/>
              <a:t>В этих условиях производство основано на собственных средствах производства и собственном труде товаропроизводителей. Сюда относятся:</a:t>
            </a:r>
          </a:p>
          <a:p>
            <a:pPr marL="0" indent="457200" algn="just">
              <a:lnSpc>
                <a:spcPct val="120000"/>
              </a:lnSpc>
              <a:spcBef>
                <a:spcPts val="0"/>
              </a:spcBef>
              <a:buNone/>
            </a:pPr>
            <a:r>
              <a:rPr lang="ru-RU" dirty="0"/>
              <a:t>а) государственные фирмы (средства производства обобществлены в масштабах всей экономики);</a:t>
            </a:r>
          </a:p>
          <a:p>
            <a:pPr marL="0" indent="457200" algn="just">
              <a:lnSpc>
                <a:spcPct val="120000"/>
              </a:lnSpc>
              <a:spcBef>
                <a:spcPts val="0"/>
              </a:spcBef>
              <a:buNone/>
            </a:pPr>
            <a:r>
              <a:rPr lang="ru-RU" dirty="0"/>
              <a:t>б) фирмы, принадлежащие работникам («самоуправляющиеся»), </a:t>
            </a:r>
            <a:r>
              <a:rPr lang="ru-RU" dirty="0" err="1"/>
              <a:t>максимизирующие</a:t>
            </a:r>
            <a:r>
              <a:rPr lang="ru-RU" dirty="0"/>
              <a:t> трудовой доход.</a:t>
            </a:r>
          </a:p>
          <a:p>
            <a:pPr marL="0" indent="457200" algn="just">
              <a:lnSpc>
                <a:spcPct val="120000"/>
              </a:lnSpc>
              <a:spcBef>
                <a:spcPts val="0"/>
              </a:spcBef>
              <a:buNone/>
            </a:pPr>
            <a:endParaRPr lang="ru-RU" dirty="0" smtClean="0"/>
          </a:p>
          <a:p>
            <a:pPr marL="0" indent="457200" algn="just">
              <a:lnSpc>
                <a:spcPct val="120000"/>
              </a:lnSpc>
              <a:spcBef>
                <a:spcPts val="0"/>
              </a:spcBef>
              <a:buNone/>
            </a:pPr>
            <a:r>
              <a:rPr lang="ru-RU" b="1" dirty="0" smtClean="0"/>
              <a:t>2) </a:t>
            </a:r>
            <a:r>
              <a:rPr lang="ru-RU" b="1" dirty="0"/>
              <a:t>частные фирмы </a:t>
            </a:r>
            <a:r>
              <a:rPr lang="ru-RU" dirty="0"/>
              <a:t>(если это соединение осуществляется посредством рынка труда и подчинено производству прибавочной стоимости на основе использования наемной рабочей силы). Частные фирмы в свою очередь, различаются по типу собственности:</a:t>
            </a:r>
          </a:p>
          <a:p>
            <a:pPr marL="0" indent="457200" algn="just">
              <a:lnSpc>
                <a:spcPct val="120000"/>
              </a:lnSpc>
              <a:spcBef>
                <a:spcPts val="0"/>
              </a:spcBef>
              <a:buNone/>
            </a:pPr>
            <a:r>
              <a:rPr lang="ru-RU" dirty="0"/>
              <a:t>а) предпринимательские фирмы - фирмы, находящиеся в собственности предпринимателя, который покупает на рынке все необходимые факторы производства. Целью таких фирм является максимизация прибыли собственника.</a:t>
            </a:r>
          </a:p>
          <a:p>
            <a:pPr marL="0" indent="457200" algn="just">
              <a:lnSpc>
                <a:spcPct val="120000"/>
              </a:lnSpc>
              <a:spcBef>
                <a:spcPts val="0"/>
              </a:spcBef>
              <a:buNone/>
            </a:pPr>
            <a:r>
              <a:rPr lang="ru-RU" dirty="0"/>
              <a:t>б) капиталистические фирмы, которые принадлежат владельцам капитала. Их целью является максимизация отдачи на вложенный капитал.</a:t>
            </a:r>
          </a:p>
          <a:p>
            <a:pPr marL="0" indent="457200" algn="just">
              <a:lnSpc>
                <a:spcPct val="120000"/>
              </a:lnSpc>
              <a:spcBef>
                <a:spcPts val="0"/>
              </a:spcBef>
              <a:buNone/>
            </a:pPr>
            <a:endParaRPr lang="ru-RU" dirty="0"/>
          </a:p>
        </p:txBody>
      </p:sp>
    </p:spTree>
    <p:extLst>
      <p:ext uri="{BB962C8B-B14F-4D97-AF65-F5344CB8AC3E}">
        <p14:creationId xmlns:p14="http://schemas.microsoft.com/office/powerpoint/2010/main" val="39067693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Объект 3"/>
          <p:cNvGraphicFramePr>
            <a:graphicFrameLocks noGrp="1"/>
          </p:cNvGraphicFramePr>
          <p:nvPr>
            <p:ph idx="1"/>
            <p:extLst>
              <p:ext uri="{D42A27DB-BD31-4B8C-83A1-F6EECF244321}">
                <p14:modId xmlns:p14="http://schemas.microsoft.com/office/powerpoint/2010/main" val="3859315403"/>
              </p:ext>
            </p:extLst>
          </p:nvPr>
        </p:nvGraphicFramePr>
        <p:xfrm>
          <a:off x="0" y="-2"/>
          <a:ext cx="9144000" cy="6921946"/>
        </p:xfrm>
        <a:graphic>
          <a:graphicData uri="http://schemas.openxmlformats.org/drawingml/2006/table">
            <a:tbl>
              <a:tblPr firstRow="1" bandRow="1">
                <a:tableStyleId>{2A488322-F2BA-4B5B-9748-0D474271808F}</a:tableStyleId>
              </a:tblPr>
              <a:tblGrid>
                <a:gridCol w="4572000">
                  <a:extLst>
                    <a:ext uri="{9D8B030D-6E8A-4147-A177-3AD203B41FA5}">
                      <a16:colId xmlns:a16="http://schemas.microsoft.com/office/drawing/2014/main" val="49612364"/>
                    </a:ext>
                  </a:extLst>
                </a:gridCol>
                <a:gridCol w="4572000">
                  <a:extLst>
                    <a:ext uri="{9D8B030D-6E8A-4147-A177-3AD203B41FA5}">
                      <a16:colId xmlns:a16="http://schemas.microsoft.com/office/drawing/2014/main" val="126383599"/>
                    </a:ext>
                  </a:extLst>
                </a:gridCol>
              </a:tblGrid>
              <a:tr h="420113">
                <a:tc gridSpan="2">
                  <a:txBody>
                    <a:bodyPr/>
                    <a:lstStyle/>
                    <a:p>
                      <a:pPr indent="0" algn="ctr">
                        <a:lnSpc>
                          <a:spcPct val="100000"/>
                        </a:lnSpc>
                      </a:pPr>
                      <a:r>
                        <a:rPr lang="ru-RU" sz="1800" dirty="0" smtClean="0"/>
                        <a:t>КЛАССИФИКАЦИЯ ФИРМ</a:t>
                      </a:r>
                      <a:endParaRPr lang="ru-RU" sz="1800" dirty="0">
                        <a:solidFill>
                          <a:schemeClr val="tx1"/>
                        </a:solidFill>
                        <a:latin typeface="+mn-lt"/>
                      </a:endParaRPr>
                    </a:p>
                  </a:txBody>
                  <a:tcPr/>
                </a:tc>
                <a:tc hMerge="1">
                  <a:txBody>
                    <a:bodyPr/>
                    <a:lstStyle/>
                    <a:p>
                      <a:endParaRPr lang="ru-RU" dirty="0"/>
                    </a:p>
                  </a:txBody>
                  <a:tcPr/>
                </a:tc>
                <a:extLst>
                  <a:ext uri="{0D108BD9-81ED-4DB2-BD59-A6C34878D82A}">
                    <a16:rowId xmlns:a16="http://schemas.microsoft.com/office/drawing/2014/main" val="1956594867"/>
                  </a:ext>
                </a:extLst>
              </a:tr>
              <a:tr h="420113">
                <a:tc>
                  <a:txBody>
                    <a:bodyPr/>
                    <a:lstStyle/>
                    <a:p>
                      <a:pPr indent="0" algn="ctr">
                        <a:lnSpc>
                          <a:spcPct val="100000"/>
                        </a:lnSpc>
                      </a:pPr>
                      <a:r>
                        <a:rPr lang="ru-RU" sz="2000" dirty="0" smtClean="0"/>
                        <a:t>Классификационный признак</a:t>
                      </a:r>
                      <a:endParaRPr lang="ru-RU" sz="2000" b="1" dirty="0">
                        <a:latin typeface="+mn-lt"/>
                      </a:endParaRPr>
                    </a:p>
                  </a:txBody>
                  <a:tcPr/>
                </a:tc>
                <a:tc>
                  <a:txBody>
                    <a:bodyPr/>
                    <a:lstStyle/>
                    <a:p>
                      <a:pPr indent="0" algn="ctr">
                        <a:lnSpc>
                          <a:spcPct val="100000"/>
                        </a:lnSpc>
                      </a:pPr>
                      <a:r>
                        <a:rPr lang="ru-RU" sz="2000" dirty="0" smtClean="0"/>
                        <a:t>Виды фирм</a:t>
                      </a:r>
                      <a:endParaRPr lang="ru-RU" sz="2000" b="1" dirty="0">
                        <a:latin typeface="+mn-lt"/>
                      </a:endParaRPr>
                    </a:p>
                  </a:txBody>
                  <a:tcPr/>
                </a:tc>
                <a:extLst>
                  <a:ext uri="{0D108BD9-81ED-4DB2-BD59-A6C34878D82A}">
                    <a16:rowId xmlns:a16="http://schemas.microsoft.com/office/drawing/2014/main" val="4095959772"/>
                  </a:ext>
                </a:extLst>
              </a:tr>
              <a:tr h="1035894">
                <a:tc>
                  <a:txBody>
                    <a:bodyPr/>
                    <a:lstStyle/>
                    <a:p>
                      <a:pPr indent="0" algn="ctr">
                        <a:lnSpc>
                          <a:spcPct val="100000"/>
                        </a:lnSpc>
                      </a:pPr>
                      <a:r>
                        <a:rPr lang="ru-RU" sz="2000" dirty="0" smtClean="0"/>
                        <a:t>По виду хозяйственной деятельности</a:t>
                      </a:r>
                      <a:endParaRPr lang="ru-RU" sz="2000" b="1" dirty="0">
                        <a:latin typeface="+mn-lt"/>
                      </a:endParaRPr>
                    </a:p>
                  </a:txBody>
                  <a:tcPr/>
                </a:tc>
                <a:tc>
                  <a:txBody>
                    <a:bodyPr/>
                    <a:lstStyle/>
                    <a:p>
                      <a:pPr indent="0" algn="ctr">
                        <a:lnSpc>
                          <a:spcPct val="100000"/>
                        </a:lnSpc>
                      </a:pPr>
                      <a:r>
                        <a:rPr lang="ru-RU" sz="2000" dirty="0" smtClean="0"/>
                        <a:t>Промышленные; сельскохозяйственные; торговые: транспортные; страховые и т.д.</a:t>
                      </a:r>
                      <a:endParaRPr lang="ru-RU" sz="2000" b="1" dirty="0">
                        <a:latin typeface="+mn-lt"/>
                      </a:endParaRPr>
                    </a:p>
                  </a:txBody>
                  <a:tcPr/>
                </a:tc>
                <a:extLst>
                  <a:ext uri="{0D108BD9-81ED-4DB2-BD59-A6C34878D82A}">
                    <a16:rowId xmlns:a16="http://schemas.microsoft.com/office/drawing/2014/main" val="552087667"/>
                  </a:ext>
                </a:extLst>
              </a:tr>
              <a:tr h="1968199">
                <a:tc>
                  <a:txBody>
                    <a:bodyPr/>
                    <a:lstStyle/>
                    <a:p>
                      <a:pPr indent="0" algn="ctr">
                        <a:lnSpc>
                          <a:spcPct val="100000"/>
                        </a:lnSpc>
                      </a:pPr>
                      <a:r>
                        <a:rPr lang="ru-RU" sz="2000" dirty="0" smtClean="0"/>
                        <a:t>По отраслевой сфере видов деятельности</a:t>
                      </a:r>
                      <a:endParaRPr lang="ru-RU" sz="2000" b="1" dirty="0">
                        <a:latin typeface="+mn-lt"/>
                      </a:endParaRPr>
                    </a:p>
                  </a:txBody>
                  <a:tcPr/>
                </a:tc>
                <a:tc>
                  <a:txBody>
                    <a:bodyPr/>
                    <a:lstStyle/>
                    <a:p>
                      <a:pPr indent="0" algn="ctr">
                        <a:lnSpc>
                          <a:spcPct val="100000"/>
                        </a:lnSpc>
                      </a:pPr>
                      <a:r>
                        <a:rPr lang="ru-RU" sz="2000" dirty="0" err="1" smtClean="0"/>
                        <a:t>моноотраслевые</a:t>
                      </a:r>
                      <a:r>
                        <a:rPr lang="ru-RU" sz="2000" dirty="0" smtClean="0"/>
                        <a:t>  </a:t>
                      </a:r>
                    </a:p>
                    <a:p>
                      <a:pPr indent="0" algn="ctr">
                        <a:lnSpc>
                          <a:spcPct val="100000"/>
                        </a:lnSpc>
                      </a:pPr>
                      <a:r>
                        <a:rPr lang="ru-RU" sz="2000" dirty="0" smtClean="0"/>
                        <a:t>диверсифицированные:</a:t>
                      </a:r>
                    </a:p>
                    <a:p>
                      <a:pPr indent="0" algn="ctr">
                        <a:lnSpc>
                          <a:spcPct val="100000"/>
                        </a:lnSpc>
                      </a:pPr>
                      <a:r>
                        <a:rPr lang="ru-RU" sz="2000" dirty="0" smtClean="0"/>
                        <a:t>- с сохранением профилирующего</a:t>
                      </a:r>
                    </a:p>
                    <a:p>
                      <a:pPr indent="0" algn="ctr">
                        <a:lnSpc>
                          <a:spcPct val="100000"/>
                        </a:lnSpc>
                      </a:pPr>
                      <a:r>
                        <a:rPr lang="ru-RU" sz="2000" dirty="0" smtClean="0"/>
                        <a:t>производства (концерны)</a:t>
                      </a:r>
                    </a:p>
                    <a:p>
                      <a:pPr indent="0" algn="ctr">
                        <a:lnSpc>
                          <a:spcPct val="100000"/>
                        </a:lnSpc>
                      </a:pPr>
                      <a:r>
                        <a:rPr lang="ru-RU" sz="2000" dirty="0" smtClean="0"/>
                        <a:t>-без сохранения (конгломераты)</a:t>
                      </a:r>
                    </a:p>
                    <a:p>
                      <a:pPr indent="0" algn="ctr">
                        <a:lnSpc>
                          <a:spcPct val="100000"/>
                        </a:lnSpc>
                      </a:pPr>
                      <a:r>
                        <a:rPr lang="ru-RU" sz="2000" dirty="0" smtClean="0"/>
                        <a:t>многоотраслевые</a:t>
                      </a:r>
                      <a:endParaRPr lang="ru-RU" sz="2000" b="1" dirty="0" smtClean="0">
                        <a:latin typeface="+mn-lt"/>
                      </a:endParaRPr>
                    </a:p>
                  </a:txBody>
                  <a:tcPr/>
                </a:tc>
                <a:extLst>
                  <a:ext uri="{0D108BD9-81ED-4DB2-BD59-A6C34878D82A}">
                    <a16:rowId xmlns:a16="http://schemas.microsoft.com/office/drawing/2014/main" val="3026588687"/>
                  </a:ext>
                </a:extLst>
              </a:tr>
              <a:tr h="725125">
                <a:tc>
                  <a:txBody>
                    <a:bodyPr/>
                    <a:lstStyle/>
                    <a:p>
                      <a:pPr algn="ctr"/>
                      <a:r>
                        <a:rPr lang="ru-RU" sz="2000" dirty="0" smtClean="0"/>
                        <a:t>По территориально-национальным масштабам деятельности</a:t>
                      </a:r>
                      <a:endParaRPr lang="ru-RU" sz="2000" b="1" dirty="0">
                        <a:latin typeface="+mn-lt"/>
                      </a:endParaRPr>
                    </a:p>
                  </a:txBody>
                  <a:tcPr/>
                </a:tc>
                <a:tc>
                  <a:txBody>
                    <a:bodyPr/>
                    <a:lstStyle/>
                    <a:p>
                      <a:pPr algn="ctr"/>
                      <a:r>
                        <a:rPr lang="ru-RU" sz="2000" dirty="0" smtClean="0"/>
                        <a:t>национальные</a:t>
                      </a:r>
                    </a:p>
                    <a:p>
                      <a:pPr algn="ctr"/>
                      <a:r>
                        <a:rPr lang="ru-RU" sz="2000" dirty="0" smtClean="0"/>
                        <a:t> транснациональные</a:t>
                      </a:r>
                      <a:endParaRPr lang="ru-RU" sz="2000" b="1" dirty="0">
                        <a:latin typeface="+mn-lt"/>
                      </a:endParaRPr>
                    </a:p>
                  </a:txBody>
                  <a:tcPr/>
                </a:tc>
                <a:extLst>
                  <a:ext uri="{0D108BD9-81ED-4DB2-BD59-A6C34878D82A}">
                    <a16:rowId xmlns:a16="http://schemas.microsoft.com/office/drawing/2014/main" val="1741275193"/>
                  </a:ext>
                </a:extLst>
              </a:tr>
              <a:tr h="1346662">
                <a:tc>
                  <a:txBody>
                    <a:bodyPr/>
                    <a:lstStyle/>
                    <a:p>
                      <a:pPr algn="ctr"/>
                      <a:r>
                        <a:rPr lang="ru-RU" sz="2000" dirty="0" smtClean="0"/>
                        <a:t>По количественным признакам (численности занятых, размера собственного капитала, объему выпускаемой</a:t>
                      </a:r>
                      <a:r>
                        <a:rPr lang="ru-RU" sz="2000" baseline="0" dirty="0" smtClean="0"/>
                        <a:t> продукции и т.д.</a:t>
                      </a:r>
                      <a:r>
                        <a:rPr lang="ru-RU" sz="2000" dirty="0" smtClean="0"/>
                        <a:t>)</a:t>
                      </a:r>
                      <a:endParaRPr lang="ru-RU" sz="2000" b="1" dirty="0"/>
                    </a:p>
                  </a:txBody>
                  <a:tcPr/>
                </a:tc>
                <a:tc>
                  <a:txBody>
                    <a:bodyPr/>
                    <a:lstStyle/>
                    <a:p>
                      <a:pPr algn="ctr"/>
                      <a:r>
                        <a:rPr lang="ru-RU" sz="2000" dirty="0" smtClean="0"/>
                        <a:t>крупные</a:t>
                      </a:r>
                    </a:p>
                    <a:p>
                      <a:pPr algn="ctr"/>
                      <a:r>
                        <a:rPr lang="ru-RU" sz="2000" dirty="0" smtClean="0"/>
                        <a:t>средние</a:t>
                      </a:r>
                    </a:p>
                    <a:p>
                      <a:pPr algn="ctr"/>
                      <a:r>
                        <a:rPr lang="ru-RU" sz="2000" dirty="0" smtClean="0"/>
                        <a:t>мелкие</a:t>
                      </a:r>
                      <a:endParaRPr lang="ru-RU" sz="2000" b="1" dirty="0"/>
                    </a:p>
                  </a:txBody>
                  <a:tcPr/>
                </a:tc>
                <a:extLst>
                  <a:ext uri="{0D108BD9-81ED-4DB2-BD59-A6C34878D82A}">
                    <a16:rowId xmlns:a16="http://schemas.microsoft.com/office/drawing/2014/main" val="888815376"/>
                  </a:ext>
                </a:extLst>
              </a:tr>
              <a:tr h="941895">
                <a:tc>
                  <a:txBody>
                    <a:bodyPr/>
                    <a:lstStyle/>
                    <a:p>
                      <a:pPr algn="ctr"/>
                      <a:r>
                        <a:rPr lang="ru-RU" sz="2000" dirty="0" smtClean="0"/>
                        <a:t>По организационным формам</a:t>
                      </a:r>
                      <a:endParaRPr lang="ru-RU" sz="2000" b="1" dirty="0"/>
                    </a:p>
                  </a:txBody>
                  <a:tcPr/>
                </a:tc>
                <a:tc>
                  <a:txBody>
                    <a:bodyPr/>
                    <a:lstStyle/>
                    <a:p>
                      <a:pPr algn="ctr"/>
                      <a:r>
                        <a:rPr lang="ru-RU" sz="2000" dirty="0" smtClean="0"/>
                        <a:t>единоличное владение</a:t>
                      </a:r>
                    </a:p>
                    <a:p>
                      <a:pPr algn="ctr"/>
                      <a:r>
                        <a:rPr lang="ru-RU" sz="2000" dirty="0" smtClean="0"/>
                        <a:t>партнерство</a:t>
                      </a:r>
                    </a:p>
                    <a:p>
                      <a:pPr algn="ctr"/>
                      <a:r>
                        <a:rPr lang="ru-RU" sz="2000" dirty="0" smtClean="0"/>
                        <a:t>акционерное общество</a:t>
                      </a:r>
                      <a:r>
                        <a:rPr lang="ru-RU" sz="2000" baseline="0" dirty="0" smtClean="0"/>
                        <a:t> или корпорация</a:t>
                      </a:r>
                      <a:endParaRPr lang="ru-RU" sz="2000" b="1" dirty="0"/>
                    </a:p>
                  </a:txBody>
                  <a:tcPr/>
                </a:tc>
                <a:extLst>
                  <a:ext uri="{0D108BD9-81ED-4DB2-BD59-A6C34878D82A}">
                    <a16:rowId xmlns:a16="http://schemas.microsoft.com/office/drawing/2014/main" val="2077272814"/>
                  </a:ext>
                </a:extLst>
              </a:tr>
            </a:tbl>
          </a:graphicData>
        </a:graphic>
      </p:graphicFrame>
    </p:spTree>
    <p:extLst>
      <p:ext uri="{BB962C8B-B14F-4D97-AF65-F5344CB8AC3E}">
        <p14:creationId xmlns:p14="http://schemas.microsoft.com/office/powerpoint/2010/main" val="3291310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9144000" cy="6858000"/>
          </a:xfrm>
        </p:spPr>
        <p:txBody>
          <a:bodyPr/>
          <a:lstStyle/>
          <a:p>
            <a:pPr>
              <a:buNone/>
            </a:pPr>
            <a:r>
              <a:rPr lang="ru-RU" dirty="0" smtClean="0"/>
              <a:t>В теории фирмы принято различать вертикально и горизонтально интегрированную фирму.</a:t>
            </a:r>
          </a:p>
          <a:p>
            <a:pPr>
              <a:buNone/>
            </a:pPr>
            <a:endParaRPr lang="ru-RU" dirty="0"/>
          </a:p>
        </p:txBody>
      </p:sp>
      <p:sp>
        <p:nvSpPr>
          <p:cNvPr id="4" name="Прямоугольник 3"/>
          <p:cNvSpPr/>
          <p:nvPr/>
        </p:nvSpPr>
        <p:spPr>
          <a:xfrm>
            <a:off x="107504" y="1357298"/>
            <a:ext cx="4250182" cy="4572032"/>
          </a:xfrm>
          <a:prstGeom prst="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b="1" u="sng" spc="25" dirty="0" smtClean="0">
                <a:solidFill>
                  <a:srgbClr val="000000"/>
                </a:solidFill>
                <a:ea typeface="Arial"/>
                <a:cs typeface="Arial"/>
              </a:rPr>
              <a:t>Вертикальная интеграция</a:t>
            </a:r>
            <a:endParaRPr lang="ru-RU" sz="2800" b="1" dirty="0" smtClean="0">
              <a:solidFill>
                <a:srgbClr val="000000"/>
              </a:solidFill>
              <a:ea typeface="Courier New"/>
            </a:endParaRPr>
          </a:p>
          <a:p>
            <a:pPr algn="ctr">
              <a:spcBef>
                <a:spcPts val="900"/>
              </a:spcBef>
              <a:spcAft>
                <a:spcPts val="0"/>
              </a:spcAft>
            </a:pPr>
            <a:r>
              <a:rPr lang="ru-RU" sz="2800" dirty="0" smtClean="0">
                <a:solidFill>
                  <a:srgbClr val="000000"/>
                </a:solidFill>
                <a:ea typeface="Arial"/>
              </a:rPr>
              <a:t>обозначает объединение фирм, занятых в целом ряде этапов производственного процесса снизу доверху (например, от добычи нефти до торговли нефтепродуктами).</a:t>
            </a:r>
            <a:endParaRPr lang="ru-RU" sz="2800" dirty="0">
              <a:ea typeface="Arial"/>
            </a:endParaRPr>
          </a:p>
        </p:txBody>
      </p:sp>
      <p:sp>
        <p:nvSpPr>
          <p:cNvPr id="6" name="Прямоугольник 5"/>
          <p:cNvSpPr/>
          <p:nvPr/>
        </p:nvSpPr>
        <p:spPr>
          <a:xfrm>
            <a:off x="4429124" y="1357298"/>
            <a:ext cx="4572032" cy="4572032"/>
          </a:xfrm>
          <a:prstGeom prst="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b="1" u="sng" dirty="0" smtClean="0">
                <a:solidFill>
                  <a:schemeClr val="tx1"/>
                </a:solidFill>
              </a:rPr>
              <a:t>Горизонтальная интеграция</a:t>
            </a:r>
            <a:endParaRPr lang="ru-RU" sz="2800" b="1" dirty="0" smtClean="0">
              <a:solidFill>
                <a:schemeClr val="tx1"/>
              </a:solidFill>
            </a:endParaRPr>
          </a:p>
          <a:p>
            <a:pPr algn="ctr"/>
            <a:r>
              <a:rPr lang="ru-RU" sz="2800" dirty="0" smtClean="0">
                <a:solidFill>
                  <a:schemeClr val="tx1"/>
                </a:solidFill>
              </a:rPr>
              <a:t>сопровождается приобретением одной фирмой продукции других фирм занимающихся одним и тем же бизнесом.</a:t>
            </a:r>
          </a:p>
          <a:p>
            <a:pPr algn="ctr"/>
            <a:r>
              <a:rPr lang="ru-RU" sz="2800" dirty="0" smtClean="0">
                <a:solidFill>
                  <a:schemeClr val="tx1"/>
                </a:solidFill>
              </a:rPr>
              <a:t>Разновидностью горизонтальной интеграции является диверсификация.</a:t>
            </a:r>
            <a:endParaRPr lang="ru-RU" sz="2800" dirty="0">
              <a:solidFill>
                <a:schemeClr val="tx1"/>
              </a:solidFill>
            </a:endParaRPr>
          </a:p>
        </p:txBody>
      </p:sp>
      <p:cxnSp>
        <p:nvCxnSpPr>
          <p:cNvPr id="8" name="Прямая со стрелкой 7"/>
          <p:cNvCxnSpPr>
            <a:endCxn id="4" idx="0"/>
          </p:cNvCxnSpPr>
          <p:nvPr/>
        </p:nvCxnSpPr>
        <p:spPr>
          <a:xfrm flipH="1">
            <a:off x="2232595" y="1000108"/>
            <a:ext cx="2267972" cy="357190"/>
          </a:xfrm>
          <a:prstGeom prst="straightConnector1">
            <a:avLst/>
          </a:prstGeom>
          <a:ln>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Прямая со стрелкой 9"/>
          <p:cNvCxnSpPr>
            <a:endCxn id="6" idx="0"/>
          </p:cNvCxnSpPr>
          <p:nvPr/>
        </p:nvCxnSpPr>
        <p:spPr>
          <a:xfrm>
            <a:off x="4500562" y="1000108"/>
            <a:ext cx="2214578" cy="357190"/>
          </a:xfrm>
          <a:prstGeom prst="straightConnector1">
            <a:avLst/>
          </a:prstGeom>
          <a:ln>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212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57158" y="285728"/>
            <a:ext cx="8229600" cy="5429288"/>
          </a:xfrm>
        </p:spPr>
        <p:txBody>
          <a:bodyPr/>
          <a:lstStyle/>
          <a:p>
            <a:pPr algn="ctr">
              <a:buNone/>
            </a:pPr>
            <a:r>
              <a:rPr lang="ru-RU" b="1" dirty="0" smtClean="0"/>
              <a:t>Основные формы организации бизнеса в современной рыночной экономике:</a:t>
            </a:r>
          </a:p>
          <a:p>
            <a:pPr>
              <a:lnSpc>
                <a:spcPct val="150000"/>
              </a:lnSpc>
              <a:buNone/>
            </a:pPr>
            <a:r>
              <a:rPr lang="ru-RU" dirty="0" smtClean="0"/>
              <a:t>- партнерство</a:t>
            </a:r>
          </a:p>
          <a:p>
            <a:pPr>
              <a:lnSpc>
                <a:spcPct val="150000"/>
              </a:lnSpc>
              <a:buNone/>
            </a:pPr>
            <a:r>
              <a:rPr lang="ru-RU" dirty="0" smtClean="0"/>
              <a:t>- корпорация (акционерное общество) </a:t>
            </a:r>
          </a:p>
          <a:p>
            <a:pPr>
              <a:lnSpc>
                <a:spcPct val="150000"/>
              </a:lnSpc>
              <a:buNone/>
            </a:pPr>
            <a:r>
              <a:rPr lang="ru-RU" dirty="0" smtClean="0"/>
              <a:t>- государственное предпринимательство</a:t>
            </a:r>
          </a:p>
          <a:p>
            <a:pPr>
              <a:lnSpc>
                <a:spcPct val="150000"/>
              </a:lnSpc>
              <a:buNone/>
            </a:pPr>
            <a:r>
              <a:rPr lang="ru-RU" dirty="0" smtClean="0"/>
              <a:t>- индивидуальное предприятие</a:t>
            </a:r>
          </a:p>
          <a:p>
            <a:pPr>
              <a:buNone/>
            </a:pPr>
            <a:endParaRPr lang="ru-RU" dirty="0" smtClean="0"/>
          </a:p>
          <a:p>
            <a:pPr>
              <a:buNone/>
            </a:pPr>
            <a:endParaRPr lang="ru-RU"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a:bodyPr>
          <a:lstStyle/>
          <a:p>
            <a:pPr marL="0" indent="342900">
              <a:lnSpc>
                <a:spcPct val="120000"/>
              </a:lnSpc>
              <a:spcBef>
                <a:spcPts val="0"/>
              </a:spcBef>
              <a:buNone/>
            </a:pPr>
            <a:r>
              <a:rPr lang="ru-RU" b="1" dirty="0" smtClean="0"/>
              <a:t>Индивидуальное предприятие - это форма организации бизнеса, при которой владельцем фирмы является один человек и он же одновременно выполняет функции менеджера и несет неограниченную имущественную ответственность.</a:t>
            </a:r>
          </a:p>
          <a:p>
            <a:pPr marL="0" indent="342900">
              <a:lnSpc>
                <a:spcPct val="120000"/>
              </a:lnSpc>
              <a:spcBef>
                <a:spcPts val="0"/>
              </a:spcBef>
              <a:buNone/>
            </a:pPr>
            <a:endParaRPr lang="ru-RU" dirty="0" smtClean="0"/>
          </a:p>
          <a:p>
            <a:pPr marL="0" indent="342900">
              <a:lnSpc>
                <a:spcPct val="120000"/>
              </a:lnSpc>
              <a:spcBef>
                <a:spcPts val="0"/>
              </a:spcBef>
              <a:buNone/>
            </a:pPr>
            <a:r>
              <a:rPr lang="ru-RU" dirty="0" smtClean="0"/>
              <a:t>Капитал у индивидуального предпринимателя невелик, фирма нестабильна - в этом недостаток индивидуального предпринимательства.</a:t>
            </a:r>
          </a:p>
          <a:p>
            <a:pPr marL="0" indent="342900">
              <a:lnSpc>
                <a:spcPct val="120000"/>
              </a:lnSpc>
              <a:spcBef>
                <a:spcPts val="0"/>
              </a:spcBef>
              <a:buNone/>
            </a:pPr>
            <a:r>
              <a:rPr lang="ru-RU" b="1" dirty="0" smtClean="0"/>
              <a:t>Преимущества:</a:t>
            </a:r>
          </a:p>
          <a:p>
            <a:pPr marL="0" indent="342900">
              <a:lnSpc>
                <a:spcPct val="120000"/>
              </a:lnSpc>
              <a:spcBef>
                <a:spcPts val="0"/>
              </a:spcBef>
              <a:buNone/>
            </a:pPr>
            <a:r>
              <a:rPr lang="ru-RU" dirty="0" smtClean="0"/>
              <a:t>-каждый собственник владеет всей прибылью, сам может производить любые изменения;</a:t>
            </a:r>
          </a:p>
          <a:p>
            <a:pPr marL="0" indent="342900">
              <a:lnSpc>
                <a:spcPct val="120000"/>
              </a:lnSpc>
              <a:spcBef>
                <a:spcPts val="0"/>
              </a:spcBef>
              <a:buNone/>
            </a:pPr>
            <a:r>
              <a:rPr lang="ru-RU" dirty="0" smtClean="0"/>
              <a:t>-легко создать; </a:t>
            </a:r>
          </a:p>
          <a:p>
            <a:pPr marL="0" indent="342900">
              <a:lnSpc>
                <a:spcPct val="120000"/>
              </a:lnSpc>
              <a:spcBef>
                <a:spcPts val="0"/>
              </a:spcBef>
              <a:buNone/>
            </a:pPr>
            <a:r>
              <a:rPr lang="ru-RU" dirty="0" smtClean="0"/>
              <a:t>- легко контролировать;</a:t>
            </a:r>
          </a:p>
          <a:p>
            <a:pPr marL="0" indent="342900">
              <a:lnSpc>
                <a:spcPct val="120000"/>
              </a:lnSpc>
              <a:spcBef>
                <a:spcPts val="0"/>
              </a:spcBef>
              <a:buNone/>
            </a:pPr>
            <a:r>
              <a:rPr lang="ru-RU" dirty="0" smtClean="0"/>
              <a:t>-обладает свободой действий ;</a:t>
            </a:r>
          </a:p>
          <a:p>
            <a:pPr marL="0" indent="342900">
              <a:lnSpc>
                <a:spcPct val="120000"/>
              </a:lnSpc>
              <a:spcBef>
                <a:spcPts val="0"/>
              </a:spcBef>
              <a:buNone/>
            </a:pPr>
            <a:r>
              <a:rPr lang="ru-RU" dirty="0" smtClean="0"/>
              <a:t>- наиболее распространенная форма бизнеса, характерная для мелких магазинов, сферы услуг, ферм, а также профессиональной деятельности юристов, врачей и т.д.</a:t>
            </a:r>
          </a:p>
          <a:p>
            <a:pPr marL="0" indent="342900">
              <a:lnSpc>
                <a:spcPct val="120000"/>
              </a:lnSpc>
              <a:spcBef>
                <a:spcPts val="0"/>
              </a:spcBef>
              <a:buNone/>
            </a:pPr>
            <a:endParaRPr lang="ru-RU"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fontScale="92500"/>
          </a:bodyPr>
          <a:lstStyle/>
          <a:p>
            <a:pPr marL="0" indent="342900" algn="just">
              <a:lnSpc>
                <a:spcPct val="120000"/>
              </a:lnSpc>
              <a:spcBef>
                <a:spcPts val="0"/>
              </a:spcBef>
              <a:buNone/>
            </a:pPr>
            <a:r>
              <a:rPr lang="ru-RU" b="1" dirty="0" smtClean="0"/>
              <a:t>Партнерство (товарищество) </a:t>
            </a:r>
            <a:r>
              <a:rPr lang="ru-RU" dirty="0" smtClean="0"/>
              <a:t>- это объединение закрытого типа с ограниченным числом участников, осуществляющих совместную деятельность на основе долевой собственности и принимающих непосредственное участие в управлении. </a:t>
            </a:r>
          </a:p>
          <a:p>
            <a:pPr marL="0" indent="342900" algn="just">
              <a:lnSpc>
                <a:spcPct val="120000"/>
              </a:lnSpc>
              <a:spcBef>
                <a:spcPts val="0"/>
              </a:spcBef>
              <a:buNone/>
            </a:pPr>
            <a:r>
              <a:rPr lang="ru-RU" b="1" i="1" u="sng" dirty="0" smtClean="0"/>
              <a:t>Достоинства партнерства:</a:t>
            </a:r>
            <a:endParaRPr lang="ru-RU" dirty="0" smtClean="0"/>
          </a:p>
          <a:p>
            <a:pPr marL="0" indent="342900" algn="just">
              <a:lnSpc>
                <a:spcPct val="120000"/>
              </a:lnSpc>
              <a:spcBef>
                <a:spcPts val="0"/>
              </a:spcBef>
              <a:buNone/>
            </a:pPr>
            <a:r>
              <a:rPr lang="ru-RU" dirty="0" smtClean="0"/>
              <a:t>-  его легко организовать;</a:t>
            </a:r>
          </a:p>
          <a:p>
            <a:pPr marL="0" indent="342900" algn="just">
              <a:lnSpc>
                <a:spcPct val="120000"/>
              </a:lnSpc>
              <a:spcBef>
                <a:spcPts val="0"/>
              </a:spcBef>
              <a:buNone/>
            </a:pPr>
            <a:r>
              <a:rPr lang="ru-RU" dirty="0" smtClean="0"/>
              <a:t>- объединение партнеров позволяет привлечь дополнительные средства и новые идеи;</a:t>
            </a:r>
          </a:p>
          <a:p>
            <a:pPr marL="0" indent="342900" algn="just">
              <a:lnSpc>
                <a:spcPct val="120000"/>
              </a:lnSpc>
              <a:spcBef>
                <a:spcPts val="0"/>
              </a:spcBef>
              <a:buNone/>
            </a:pPr>
            <a:r>
              <a:rPr lang="ru-RU" dirty="0" smtClean="0"/>
              <a:t>-  работа по управлению фирмой может быть разделена;</a:t>
            </a:r>
          </a:p>
          <a:p>
            <a:pPr marL="0" indent="342900" algn="just">
              <a:lnSpc>
                <a:spcPct val="120000"/>
              </a:lnSpc>
              <a:spcBef>
                <a:spcPts val="0"/>
              </a:spcBef>
              <a:buNone/>
            </a:pPr>
            <a:r>
              <a:rPr lang="ru-RU" dirty="0" smtClean="0"/>
              <a:t>- государство не жестко регулирует деятельность.</a:t>
            </a:r>
          </a:p>
          <a:p>
            <a:pPr marL="0" indent="342900" algn="just">
              <a:lnSpc>
                <a:spcPct val="120000"/>
              </a:lnSpc>
              <a:spcBef>
                <a:spcPts val="0"/>
              </a:spcBef>
              <a:buNone/>
            </a:pPr>
            <a:r>
              <a:rPr lang="ru-RU" b="1" i="1" u="sng" dirty="0" smtClean="0"/>
              <a:t>Недостатки:</a:t>
            </a:r>
          </a:p>
          <a:p>
            <a:pPr marL="0" indent="0" algn="just">
              <a:lnSpc>
                <a:spcPct val="120000"/>
              </a:lnSpc>
              <a:spcBef>
                <a:spcPts val="0"/>
              </a:spcBef>
              <a:buNone/>
            </a:pPr>
            <a:r>
              <a:rPr lang="ru-RU" dirty="0" smtClean="0"/>
              <a:t>- ограниченность финансовых ресурсов при развивающемся деле, которое требует новых вложений капитала;</a:t>
            </a:r>
          </a:p>
          <a:p>
            <a:pPr marL="0" indent="342900" algn="just">
              <a:lnSpc>
                <a:spcPct val="120000"/>
              </a:lnSpc>
              <a:spcBef>
                <a:spcPts val="0"/>
              </a:spcBef>
              <a:buFontTx/>
              <a:buChar char="-"/>
            </a:pPr>
            <a:r>
              <a:rPr lang="ru-RU" dirty="0" smtClean="0"/>
              <a:t>неоднозначное понимание целей деятельности фирмы ее участниками;</a:t>
            </a:r>
          </a:p>
          <a:p>
            <a:pPr marL="0" indent="342900" algn="just">
              <a:lnSpc>
                <a:spcPct val="120000"/>
              </a:lnSpc>
              <a:spcBef>
                <a:spcPts val="0"/>
              </a:spcBef>
              <a:buFontTx/>
              <a:buChar char="-"/>
            </a:pPr>
            <a:r>
              <a:rPr lang="ru-RU" dirty="0" smtClean="0"/>
              <a:t>сложность определения меры каждого в доходе или убытке фирмы, в разделе приобретенного вместе имущества;</a:t>
            </a:r>
          </a:p>
          <a:p>
            <a:pPr marL="0" indent="342900" algn="just">
              <a:lnSpc>
                <a:spcPct val="120000"/>
              </a:lnSpc>
              <a:spcBef>
                <a:spcPts val="0"/>
              </a:spcBef>
              <a:buFontTx/>
              <a:buChar char="-"/>
            </a:pPr>
            <a:r>
              <a:rPr lang="ru-RU" dirty="0" smtClean="0"/>
              <a:t>конфликты между партнерами;</a:t>
            </a:r>
          </a:p>
          <a:p>
            <a:pPr marL="0" indent="342900" algn="just">
              <a:lnSpc>
                <a:spcPct val="120000"/>
              </a:lnSpc>
              <a:spcBef>
                <a:spcPts val="0"/>
              </a:spcBef>
              <a:buFontTx/>
              <a:buChar char="-"/>
            </a:pPr>
            <a:r>
              <a:rPr lang="ru-RU" dirty="0" smtClean="0"/>
              <a:t>выход из товарищества требует переоформления учредительных документов;</a:t>
            </a:r>
          </a:p>
          <a:p>
            <a:pPr marL="0" indent="342900" algn="just">
              <a:lnSpc>
                <a:spcPct val="120000"/>
              </a:lnSpc>
              <a:spcBef>
                <a:spcPts val="0"/>
              </a:spcBef>
              <a:buFontTx/>
              <a:buChar char="-"/>
            </a:pPr>
            <a:r>
              <a:rPr lang="ru-RU" dirty="0" smtClean="0"/>
              <a:t>ответственность несут имуществом члены товарищества.</a:t>
            </a:r>
          </a:p>
          <a:p>
            <a:pPr marL="0" indent="342900" algn="just">
              <a:lnSpc>
                <a:spcPct val="120000"/>
              </a:lnSpc>
              <a:spcBef>
                <a:spcPts val="0"/>
              </a:spcBef>
              <a:buNone/>
            </a:pPr>
            <a:endParaRPr lang="ru-RU"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fontScale="92500" lnSpcReduction="10000"/>
          </a:bodyPr>
          <a:lstStyle/>
          <a:p>
            <a:pPr marL="0" indent="342900" algn="just">
              <a:lnSpc>
                <a:spcPct val="120000"/>
              </a:lnSpc>
              <a:spcBef>
                <a:spcPts val="0"/>
              </a:spcBef>
              <a:buNone/>
            </a:pPr>
            <a:r>
              <a:rPr lang="ru-RU" b="1" dirty="0" smtClean="0"/>
              <a:t>Корпорация </a:t>
            </a:r>
            <a:r>
              <a:rPr lang="ru-RU" dirty="0" smtClean="0"/>
              <a:t>- совокупность лиц, объединившихся для совместной предпринимательской деятельности как одно юридическое лицо.</a:t>
            </a:r>
          </a:p>
          <a:p>
            <a:pPr marL="0" indent="342900" algn="just">
              <a:lnSpc>
                <a:spcPct val="120000"/>
              </a:lnSpc>
              <a:spcBef>
                <a:spcPts val="0"/>
              </a:spcBef>
              <a:buNone/>
            </a:pPr>
            <a:r>
              <a:rPr lang="ru-RU" b="1" i="1" u="sng" dirty="0" smtClean="0"/>
              <a:t>Преимущества корпорации:</a:t>
            </a:r>
            <a:endParaRPr lang="ru-RU" b="1" i="1" dirty="0" smtClean="0"/>
          </a:p>
          <a:p>
            <a:pPr marL="0" lvl="0" indent="342900" algn="just">
              <a:lnSpc>
                <a:spcPct val="120000"/>
              </a:lnSpc>
              <a:spcBef>
                <a:spcPts val="0"/>
              </a:spcBef>
              <a:buNone/>
            </a:pPr>
            <a:r>
              <a:rPr lang="ru-RU" dirty="0" smtClean="0"/>
              <a:t>-  неограниченные возможности привлечения капитала через продажу акций и облигаций;</a:t>
            </a:r>
          </a:p>
          <a:p>
            <a:pPr marL="0" lvl="0" indent="342900" algn="just">
              <a:lnSpc>
                <a:spcPct val="120000"/>
              </a:lnSpc>
              <a:spcBef>
                <a:spcPts val="0"/>
              </a:spcBef>
              <a:buNone/>
            </a:pPr>
            <a:r>
              <a:rPr lang="ru-RU" dirty="0" smtClean="0"/>
              <a:t>-  разделение прав акционеров на имущественные и личные;</a:t>
            </a:r>
          </a:p>
          <a:p>
            <a:pPr marL="0" lvl="0" indent="342900" algn="just">
              <a:lnSpc>
                <a:spcPct val="120000"/>
              </a:lnSpc>
              <a:spcBef>
                <a:spcPts val="0"/>
              </a:spcBef>
              <a:buNone/>
            </a:pPr>
            <a:r>
              <a:rPr lang="ru-RU" dirty="0" smtClean="0"/>
              <a:t>- привлечение профессиональных специалистов для выполнения управленческих функций;</a:t>
            </a:r>
          </a:p>
          <a:p>
            <a:pPr marL="0" lvl="0" indent="342900" algn="just">
              <a:lnSpc>
                <a:spcPct val="120000"/>
              </a:lnSpc>
              <a:spcBef>
                <a:spcPts val="0"/>
              </a:spcBef>
              <a:buNone/>
            </a:pPr>
            <a:r>
              <a:rPr lang="ru-RU" dirty="0" smtClean="0"/>
              <a:t>-  стабильность функционирования корпорации;</a:t>
            </a:r>
          </a:p>
          <a:p>
            <a:pPr marL="0" lvl="0" indent="342900" algn="just">
              <a:lnSpc>
                <a:spcPct val="120000"/>
              </a:lnSpc>
              <a:spcBef>
                <a:spcPts val="0"/>
              </a:spcBef>
              <a:buNone/>
            </a:pPr>
            <a:r>
              <a:rPr lang="ru-RU" dirty="0" smtClean="0"/>
              <a:t>-  ответственность акционеров минимальная;</a:t>
            </a:r>
          </a:p>
          <a:p>
            <a:pPr marL="0" lvl="0" indent="342900" algn="just">
              <a:lnSpc>
                <a:spcPct val="120000"/>
              </a:lnSpc>
              <a:spcBef>
                <a:spcPts val="0"/>
              </a:spcBef>
              <a:buNone/>
            </a:pPr>
            <a:r>
              <a:rPr lang="ru-RU" dirty="0" smtClean="0"/>
              <a:t>-  можно нанять профессиональных менеджеров.</a:t>
            </a:r>
          </a:p>
          <a:p>
            <a:pPr marL="0" indent="342900" algn="just">
              <a:lnSpc>
                <a:spcPct val="120000"/>
              </a:lnSpc>
              <a:spcBef>
                <a:spcPts val="0"/>
              </a:spcBef>
              <a:buNone/>
            </a:pPr>
            <a:r>
              <a:rPr lang="ru-RU" b="1" i="1" u="sng" dirty="0" smtClean="0"/>
              <a:t>Недостатки корпорации:</a:t>
            </a:r>
            <a:endParaRPr lang="ru-RU" b="1" i="1" dirty="0" smtClean="0"/>
          </a:p>
          <a:p>
            <a:pPr marL="0" lvl="0" indent="342900" algn="just">
              <a:lnSpc>
                <a:spcPct val="120000"/>
              </a:lnSpc>
              <a:spcBef>
                <a:spcPts val="0"/>
              </a:spcBef>
              <a:buNone/>
            </a:pPr>
            <a:r>
              <a:rPr lang="ru-RU" dirty="0" smtClean="0"/>
              <a:t>- двойное налогообложение той части дохода корпорации, которая выплачивается в виде дивидендов держателям акций;</a:t>
            </a:r>
          </a:p>
          <a:p>
            <a:pPr marL="0" lvl="0" indent="342900" algn="just">
              <a:lnSpc>
                <a:spcPct val="120000"/>
              </a:lnSpc>
              <a:spcBef>
                <a:spcPts val="0"/>
              </a:spcBef>
              <a:buNone/>
            </a:pPr>
            <a:r>
              <a:rPr lang="ru-RU" dirty="0" smtClean="0"/>
              <a:t>- благоприятные возможности для экономических злоупотреблений. Возможен выпуск и продажа акций, не имеющих никакой реальной стоимости;</a:t>
            </a:r>
          </a:p>
          <a:p>
            <a:pPr marL="0" lvl="0" indent="342900" algn="just">
              <a:lnSpc>
                <a:spcPct val="120000"/>
              </a:lnSpc>
              <a:spcBef>
                <a:spcPts val="0"/>
              </a:spcBef>
              <a:buNone/>
            </a:pPr>
            <a:r>
              <a:rPr lang="ru-RU" dirty="0" smtClean="0"/>
              <a:t>-  разделение функций собственности и контроля. Собственники- акционеры заинтересованы в повышении дивидендов, менеджеры- управляющие - в расширении производства;</a:t>
            </a:r>
          </a:p>
          <a:p>
            <a:pPr marL="0" indent="342900" algn="just">
              <a:lnSpc>
                <a:spcPct val="120000"/>
              </a:lnSpc>
              <a:spcBef>
                <a:spcPts val="0"/>
              </a:spcBef>
              <a:buNone/>
            </a:pPr>
            <a:r>
              <a:rPr lang="ru-RU" dirty="0" smtClean="0"/>
              <a:t>Это наиболее экономически значимая форма организации бизнеса.</a:t>
            </a:r>
          </a:p>
          <a:p>
            <a:pPr marL="0" indent="342900" algn="just">
              <a:lnSpc>
                <a:spcPct val="120000"/>
              </a:lnSpc>
              <a:spcBef>
                <a:spcPts val="0"/>
              </a:spcBef>
            </a:pPr>
            <a:endParaRPr lang="ru-RU"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Autofit/>
          </a:bodyPr>
          <a:lstStyle/>
          <a:p>
            <a:pPr marL="0" indent="342900" algn="just">
              <a:lnSpc>
                <a:spcPct val="120000"/>
              </a:lnSpc>
              <a:spcBef>
                <a:spcPts val="0"/>
              </a:spcBef>
              <a:buNone/>
            </a:pPr>
            <a:r>
              <a:rPr lang="ru-RU" sz="2200" b="1" dirty="0" smtClean="0"/>
              <a:t>Государственное предпринимательство </a:t>
            </a:r>
            <a:r>
              <a:rPr lang="ru-RU" sz="2200" dirty="0" smtClean="0"/>
              <a:t>– это непосредственное участие государства в производительной деятельности.</a:t>
            </a:r>
          </a:p>
          <a:p>
            <a:pPr marL="0" indent="342900" algn="just">
              <a:lnSpc>
                <a:spcPct val="120000"/>
              </a:lnSpc>
              <a:spcBef>
                <a:spcPts val="0"/>
              </a:spcBef>
              <a:buNone/>
            </a:pPr>
            <a:r>
              <a:rPr lang="ru-RU" sz="2200" dirty="0" smtClean="0"/>
              <a:t>В	Российской	Федерации	государственное предпринимательство осуществляется в двух формах - государственных унитарных предприятий и акционерных обществ с государственным капиталом.</a:t>
            </a:r>
          </a:p>
          <a:p>
            <a:pPr marL="0" indent="342900" algn="just">
              <a:lnSpc>
                <a:spcPct val="120000"/>
              </a:lnSpc>
              <a:spcBef>
                <a:spcPts val="0"/>
              </a:spcBef>
              <a:buNone/>
            </a:pPr>
            <a:r>
              <a:rPr lang="ru-RU" sz="2200" b="1" dirty="0" smtClean="0"/>
              <a:t>Государственные унитарные предприятия  подразделяются на:</a:t>
            </a:r>
          </a:p>
          <a:p>
            <a:pPr marL="0" indent="342900" algn="just">
              <a:lnSpc>
                <a:spcPct val="120000"/>
              </a:lnSpc>
              <a:spcBef>
                <a:spcPts val="0"/>
              </a:spcBef>
              <a:buNone/>
            </a:pPr>
            <a:r>
              <a:rPr lang="ru-RU" sz="2200" dirty="0" smtClean="0"/>
              <a:t>а) федеральные. К ним относятся те предприятия, имущественные права на которые принадлежат Государственному комитету по управлению госимуществом,</a:t>
            </a:r>
          </a:p>
          <a:p>
            <a:pPr marL="0" indent="342900" algn="just">
              <a:lnSpc>
                <a:spcPct val="120000"/>
              </a:lnSpc>
              <a:spcBef>
                <a:spcPts val="0"/>
              </a:spcBef>
              <a:buNone/>
            </a:pPr>
            <a:r>
              <a:rPr lang="ru-RU" sz="2200" dirty="0" smtClean="0"/>
              <a:t>б) государственные. Это те предприятия, имущественные права на которые переданы Комитетам по управлению имуществом республик в составе России, </a:t>
            </a:r>
            <a:r>
              <a:rPr lang="ru-RU" sz="2200" dirty="0" err="1" smtClean="0"/>
              <a:t>национально­административных</a:t>
            </a:r>
            <a:r>
              <a:rPr lang="ru-RU" sz="2200" dirty="0" smtClean="0"/>
              <a:t> образований, краев, областей, г. Москвы и С.- Петербурга,</a:t>
            </a:r>
          </a:p>
          <a:p>
            <a:pPr marL="0" indent="342900" algn="just">
              <a:lnSpc>
                <a:spcPct val="120000"/>
              </a:lnSpc>
              <a:spcBef>
                <a:spcPts val="0"/>
              </a:spcBef>
              <a:buNone/>
            </a:pPr>
            <a:r>
              <a:rPr lang="ru-RU" sz="2200" dirty="0" smtClean="0"/>
              <a:t>в) муниципальные. К ним относятся те предприятия, имущественные права на которые переданы Комитетам по управлению имуществом районных и городских властей.</a:t>
            </a:r>
          </a:p>
          <a:p>
            <a:pPr marL="0" indent="342900" algn="just">
              <a:lnSpc>
                <a:spcPct val="120000"/>
              </a:lnSpc>
              <a:spcBef>
                <a:spcPts val="0"/>
              </a:spcBef>
              <a:buNone/>
            </a:pPr>
            <a:endParaRPr lang="ru-RU" sz="22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a:bodyPr>
          <a:lstStyle/>
          <a:p>
            <a:pPr marL="0" indent="342900" algn="just">
              <a:lnSpc>
                <a:spcPct val="120000"/>
              </a:lnSpc>
              <a:spcBef>
                <a:spcPts val="0"/>
              </a:spcBef>
              <a:buNone/>
            </a:pPr>
            <a:r>
              <a:rPr lang="ru-RU" dirty="0" smtClean="0"/>
              <a:t>Гражданский Кодекс РФ подразделяет всех участников предпринимательской деятельности по юридическому статусу на физических и юридических лиц, а по цели деятельности - на коммерческие и некоммерческие организации.</a:t>
            </a:r>
          </a:p>
          <a:p>
            <a:pPr marL="0" indent="342900" algn="just">
              <a:lnSpc>
                <a:spcPct val="120000"/>
              </a:lnSpc>
              <a:spcBef>
                <a:spcPts val="0"/>
              </a:spcBef>
              <a:buNone/>
            </a:pPr>
            <a:r>
              <a:rPr lang="ru-RU" b="1" dirty="0" smtClean="0"/>
              <a:t>Физическое лицо </a:t>
            </a:r>
            <a:r>
              <a:rPr lang="ru-RU" dirty="0" smtClean="0"/>
              <a:t>- это гражданин, который занимается предпринимательской деятельностью единолично, без образования юридического лица.</a:t>
            </a:r>
          </a:p>
          <a:p>
            <a:pPr marL="0" indent="342900" algn="just">
              <a:lnSpc>
                <a:spcPct val="120000"/>
              </a:lnSpc>
              <a:spcBef>
                <a:spcPts val="0"/>
              </a:spcBef>
              <a:buNone/>
            </a:pPr>
            <a:r>
              <a:rPr lang="ru-RU" b="1" dirty="0" smtClean="0"/>
              <a:t>Юридическое лицо </a:t>
            </a:r>
            <a:r>
              <a:rPr lang="ru-RU" dirty="0" smtClean="0"/>
              <a:t>- самостоятельно хозяйствующий субъект, созданный (учрежденный) в соответствии с действующим законодательством для производства продукции, выполнения работ и оказания услуг в целях удовлетворения	общественных потребностей и получения прибыли.</a:t>
            </a:r>
            <a:endParaRPr lang="ru-RU"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0"/>
            <a:ext cx="9144000" cy="6858000"/>
          </a:xfrm>
        </p:spPr>
        <p:txBody>
          <a:bodyPr>
            <a:normAutofit fontScale="92500" lnSpcReduction="10000"/>
          </a:bodyPr>
          <a:lstStyle/>
          <a:p>
            <a:pPr marL="0" indent="342900" algn="just">
              <a:lnSpc>
                <a:spcPct val="120000"/>
              </a:lnSpc>
              <a:spcBef>
                <a:spcPts val="0"/>
              </a:spcBef>
              <a:buNone/>
            </a:pPr>
            <a:r>
              <a:rPr lang="ru-RU" b="1" dirty="0" smtClean="0"/>
              <a:t>Некоммерческие организации </a:t>
            </a:r>
            <a:r>
              <a:rPr lang="ru-RU" dirty="0" smtClean="0"/>
              <a:t>не ставят своей целью извлечение прибыли и ее распределение между участниками. Они могут создаваться в форме потребительских кооперативов, общественных или религиозных организаций, благотворительных фондов, учреждений, союзов и ассоциаций юридических лиц.</a:t>
            </a:r>
          </a:p>
          <a:p>
            <a:pPr marL="0" indent="342900" algn="just">
              <a:lnSpc>
                <a:spcPct val="120000"/>
              </a:lnSpc>
              <a:spcBef>
                <a:spcPts val="0"/>
              </a:spcBef>
              <a:buNone/>
            </a:pPr>
            <a:r>
              <a:rPr lang="ru-RU" i="1" dirty="0" smtClean="0"/>
              <a:t>Потребительским кооперативом</a:t>
            </a:r>
            <a:r>
              <a:rPr lang="ru-RU" dirty="0" smtClean="0"/>
              <a:t> называется добровольное объединение граждан на основе паевых взносов с целью удовлетворения материальных и иных потребностей. Доходы потребительских кооперативов от предпринимательской или иной деятельности распределяются между его членами.</a:t>
            </a:r>
          </a:p>
          <a:p>
            <a:pPr marL="0" indent="342900" algn="just">
              <a:lnSpc>
                <a:spcPct val="120000"/>
              </a:lnSpc>
              <a:spcBef>
                <a:spcPts val="0"/>
              </a:spcBef>
              <a:buNone/>
            </a:pPr>
            <a:r>
              <a:rPr lang="ru-RU" i="1" dirty="0" smtClean="0"/>
              <a:t>Общественными и религиозными организациями</a:t>
            </a:r>
            <a:r>
              <a:rPr lang="ru-RU" dirty="0" smtClean="0"/>
              <a:t> являются добро­вольные объединения граждан на основе общности их интересов для удовлетворения духовных и иных нематериальных потребностей.</a:t>
            </a:r>
          </a:p>
          <a:p>
            <a:pPr marL="0" indent="342900" algn="just">
              <a:lnSpc>
                <a:spcPct val="120000"/>
              </a:lnSpc>
              <a:spcBef>
                <a:spcPts val="0"/>
              </a:spcBef>
              <a:buNone/>
            </a:pPr>
            <a:r>
              <a:rPr lang="ru-RU" i="1" dirty="0" smtClean="0"/>
              <a:t>Фондом</a:t>
            </a:r>
            <a:r>
              <a:rPr lang="ru-RU" dirty="0" smtClean="0"/>
              <a:t> называется некоммерческая организация, учрежденная на основе добровольных имущественных взносов, имеющая социальные, благотворительные, культурные, образовательные или иные цели. Фонд может заниматься предпринимательской деятельностью, необходимой для достижения общественно полезных целей, ради которых он создан.</a:t>
            </a:r>
          </a:p>
          <a:p>
            <a:pPr marL="0" indent="342900" algn="just">
              <a:lnSpc>
                <a:spcPct val="120000"/>
              </a:lnSpc>
              <a:spcBef>
                <a:spcPts val="0"/>
              </a:spcBef>
              <a:buNone/>
            </a:pPr>
            <a:r>
              <a:rPr lang="ru-RU" i="1" dirty="0" smtClean="0"/>
              <a:t>Учреждение </a:t>
            </a:r>
            <a:r>
              <a:rPr lang="ru-RU" b="1" i="1" dirty="0" smtClean="0"/>
              <a:t>-</a:t>
            </a:r>
            <a:r>
              <a:rPr lang="ru-RU" dirty="0" smtClean="0"/>
              <a:t> это организация, созданная собственниками для выполнения функций некоммерческого характера и финансируемая им полностью или частично. В отличие от фондов учреждение не является собственником переданного ему имущества, а только распоряжается им на правах оперативного управления.</a:t>
            </a:r>
          </a:p>
          <a:p>
            <a:pPr marL="0" indent="342900" algn="just">
              <a:lnSpc>
                <a:spcPct val="120000"/>
              </a:lnSpc>
              <a:spcBef>
                <a:spcPts val="0"/>
              </a:spcBef>
              <a:buNone/>
            </a:pPr>
            <a:endParaRPr lang="ru-RU"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143000"/>
          </a:xfrm>
        </p:spPr>
        <p:txBody>
          <a:bodyPr>
            <a:noAutofit/>
          </a:bodyPr>
          <a:lstStyle/>
          <a:p>
            <a:pPr algn="just"/>
            <a:r>
              <a:rPr lang="ru-RU" sz="2500" b="1" dirty="0" smtClean="0"/>
              <a:t>Малый бизнес </a:t>
            </a:r>
            <a:r>
              <a:rPr lang="ru-RU" sz="2500" dirty="0" smtClean="0"/>
              <a:t>— </a:t>
            </a:r>
            <a:r>
              <a:rPr lang="ru-RU" sz="2500" dirty="0" err="1" smtClean="0"/>
              <a:t>бизнес</a:t>
            </a:r>
            <a:r>
              <a:rPr lang="ru-RU" sz="2500" dirty="0" smtClean="0"/>
              <a:t>, опирающийся на предпринимательскую деятельность небольших фирм, малых предприятий, формально не входящих в объединения.</a:t>
            </a:r>
            <a:endParaRPr lang="ru-RU" sz="2500" dirty="0"/>
          </a:p>
        </p:txBody>
      </p:sp>
      <p:graphicFrame>
        <p:nvGraphicFramePr>
          <p:cNvPr id="4" name="Содержимое 3"/>
          <p:cNvGraphicFramePr>
            <a:graphicFrameLocks noGrp="1"/>
          </p:cNvGraphicFramePr>
          <p:nvPr>
            <p:ph idx="1"/>
            <p:extLst>
              <p:ext uri="{D42A27DB-BD31-4B8C-83A1-F6EECF244321}">
                <p14:modId xmlns:p14="http://schemas.microsoft.com/office/powerpoint/2010/main" val="2492912825"/>
              </p:ext>
            </p:extLst>
          </p:nvPr>
        </p:nvGraphicFramePr>
        <p:xfrm>
          <a:off x="539552" y="1196752"/>
          <a:ext cx="8064896" cy="5577840"/>
        </p:xfrm>
        <a:graphic>
          <a:graphicData uri="http://schemas.openxmlformats.org/drawingml/2006/table">
            <a:tbl>
              <a:tblPr firstRow="1" bandRow="1">
                <a:tableStyleId>{5C22544A-7EE6-4342-B048-85BDC9FD1C3A}</a:tableStyleId>
              </a:tblPr>
              <a:tblGrid>
                <a:gridCol w="3780446">
                  <a:extLst>
                    <a:ext uri="{9D8B030D-6E8A-4147-A177-3AD203B41FA5}">
                      <a16:colId xmlns:a16="http://schemas.microsoft.com/office/drawing/2014/main" val="20000"/>
                    </a:ext>
                  </a:extLst>
                </a:gridCol>
                <a:gridCol w="4284450">
                  <a:extLst>
                    <a:ext uri="{9D8B030D-6E8A-4147-A177-3AD203B41FA5}">
                      <a16:colId xmlns:a16="http://schemas.microsoft.com/office/drawing/2014/main" val="20001"/>
                    </a:ext>
                  </a:extLst>
                </a:gridCol>
              </a:tblGrid>
              <a:tr h="678269">
                <a:tc>
                  <a:txBody>
                    <a:bodyPr/>
                    <a:lstStyle/>
                    <a:p>
                      <a:pPr marL="0" marR="127000" indent="63500" algn="ctr" defTabSz="914400" rtl="0" eaLnBrk="1" fontAlgn="auto" latinLnBrk="0" hangingPunct="1">
                        <a:lnSpc>
                          <a:spcPct val="100000"/>
                        </a:lnSpc>
                        <a:spcBef>
                          <a:spcPts val="0"/>
                        </a:spcBef>
                        <a:spcAft>
                          <a:spcPts val="0"/>
                        </a:spcAft>
                        <a:buClrTx/>
                        <a:buSzTx/>
                        <a:buFontTx/>
                        <a:buNone/>
                        <a:tabLst/>
                        <a:defRPr/>
                      </a:pPr>
                      <a:r>
                        <a:rPr lang="ru-RU" sz="2400" b="1" spc="5" dirty="0" smtClean="0">
                          <a:solidFill>
                            <a:srgbClr val="000000"/>
                          </a:solidFill>
                          <a:latin typeface="+mn-lt"/>
                          <a:ea typeface="Arial"/>
                          <a:cs typeface="Times New Roman"/>
                        </a:rPr>
                        <a:t>Сильные стороны малого бизнеса</a:t>
                      </a:r>
                      <a:endParaRPr lang="ru-RU" sz="2400" spc="5" dirty="0">
                        <a:latin typeface="+mn-lt"/>
                        <a:ea typeface="Arial"/>
                      </a:endParaRPr>
                    </a:p>
                  </a:txBody>
                  <a:tcPr marL="6350" marR="6350" marT="0" marB="0" anchor="b">
                    <a:solidFill>
                      <a:schemeClr val="bg1">
                        <a:lumMod val="95000"/>
                      </a:schemeClr>
                    </a:solidFill>
                  </a:tcPr>
                </a:tc>
                <a:tc>
                  <a:txBody>
                    <a:bodyPr/>
                    <a:lstStyle/>
                    <a:p>
                      <a:pPr indent="63500" algn="ctr">
                        <a:lnSpc>
                          <a:spcPct val="100000"/>
                        </a:lnSpc>
                        <a:spcBef>
                          <a:spcPts val="0"/>
                        </a:spcBef>
                        <a:spcAft>
                          <a:spcPts val="0"/>
                        </a:spcAft>
                      </a:pPr>
                      <a:r>
                        <a:rPr lang="ru-RU" sz="2400" b="1" spc="5" dirty="0" smtClean="0">
                          <a:solidFill>
                            <a:srgbClr val="000000"/>
                          </a:solidFill>
                          <a:latin typeface="+mn-lt"/>
                          <a:ea typeface="Arial"/>
                          <a:cs typeface="Times New Roman"/>
                        </a:rPr>
                        <a:t>Слабые стороны малого бизнеса</a:t>
                      </a:r>
                      <a:endParaRPr lang="ru-RU" sz="2400" spc="5" dirty="0">
                        <a:latin typeface="+mn-lt"/>
                        <a:ea typeface="Arial"/>
                      </a:endParaRPr>
                    </a:p>
                  </a:txBody>
                  <a:tcPr marL="6350" marR="6350" marT="0" marB="0" anchor="b">
                    <a:solidFill>
                      <a:schemeClr val="bg1">
                        <a:lumMod val="95000"/>
                      </a:schemeClr>
                    </a:solidFill>
                  </a:tcPr>
                </a:tc>
                <a:extLst>
                  <a:ext uri="{0D108BD9-81ED-4DB2-BD59-A6C34878D82A}">
                    <a16:rowId xmlns:a16="http://schemas.microsoft.com/office/drawing/2014/main" val="10000"/>
                  </a:ext>
                </a:extLst>
              </a:tr>
              <a:tr h="339134">
                <a:tc>
                  <a:txBody>
                    <a:bodyPr/>
                    <a:lstStyle/>
                    <a:p>
                      <a:pPr marL="1092200" indent="0" algn="l">
                        <a:lnSpc>
                          <a:spcPct val="100000"/>
                        </a:lnSpc>
                        <a:spcBef>
                          <a:spcPts val="14700"/>
                        </a:spcBef>
                        <a:spcAft>
                          <a:spcPts val="0"/>
                        </a:spcAft>
                      </a:pPr>
                      <a:r>
                        <a:rPr lang="ru-RU" sz="2400" spc="5" dirty="0" smtClean="0">
                          <a:latin typeface="+mn-lt"/>
                          <a:ea typeface="Arial"/>
                        </a:rPr>
                        <a:t>Гибкость</a:t>
                      </a:r>
                      <a:endParaRPr lang="ru-RU" sz="2400" spc="5" dirty="0">
                        <a:latin typeface="+mn-lt"/>
                        <a:ea typeface="Arial"/>
                      </a:endParaRPr>
                    </a:p>
                  </a:txBody>
                  <a:tcPr marL="6350" marR="6350" marT="0" marB="0">
                    <a:solidFill>
                      <a:schemeClr val="bg1">
                        <a:lumMod val="95000"/>
                      </a:schemeClr>
                    </a:solidFill>
                  </a:tcPr>
                </a:tc>
                <a:tc>
                  <a:txBody>
                    <a:bodyPr/>
                    <a:lstStyle/>
                    <a:p>
                      <a:pPr indent="457200" algn="ctr">
                        <a:lnSpc>
                          <a:spcPct val="100000"/>
                        </a:lnSpc>
                        <a:spcBef>
                          <a:spcPts val="14700"/>
                        </a:spcBef>
                        <a:spcAft>
                          <a:spcPts val="0"/>
                        </a:spcAft>
                      </a:pPr>
                      <a:r>
                        <a:rPr lang="ru-RU" sz="2400" spc="5" dirty="0" err="1" smtClean="0">
                          <a:latin typeface="+mn-lt"/>
                          <a:ea typeface="Arial"/>
                        </a:rPr>
                        <a:t>Высокорискованный</a:t>
                      </a:r>
                      <a:r>
                        <a:rPr lang="ru-RU" sz="2400" spc="5" dirty="0" smtClean="0">
                          <a:latin typeface="+mn-lt"/>
                          <a:ea typeface="Arial"/>
                        </a:rPr>
                        <a:t> характер</a:t>
                      </a:r>
                      <a:endParaRPr lang="ru-RU" sz="2400" spc="5" dirty="0">
                        <a:latin typeface="+mn-lt"/>
                        <a:ea typeface="Arial"/>
                      </a:endParaRPr>
                    </a:p>
                  </a:txBody>
                  <a:tcPr marL="6350" marR="6350" marT="0" marB="0">
                    <a:solidFill>
                      <a:schemeClr val="bg1">
                        <a:lumMod val="95000"/>
                      </a:schemeClr>
                    </a:solidFill>
                  </a:tcPr>
                </a:tc>
                <a:extLst>
                  <a:ext uri="{0D108BD9-81ED-4DB2-BD59-A6C34878D82A}">
                    <a16:rowId xmlns:a16="http://schemas.microsoft.com/office/drawing/2014/main" val="10001"/>
                  </a:ext>
                </a:extLst>
              </a:tr>
              <a:tr h="1356538">
                <a:tc>
                  <a:txBody>
                    <a:bodyPr/>
                    <a:lstStyle/>
                    <a:p>
                      <a:pPr marL="0" marR="25400" indent="0" algn="ctr" defTabSz="914400" rtl="0" eaLnBrk="1" fontAlgn="auto" latinLnBrk="0" hangingPunct="1">
                        <a:lnSpc>
                          <a:spcPct val="100000"/>
                        </a:lnSpc>
                        <a:spcBef>
                          <a:spcPts val="14700"/>
                        </a:spcBef>
                        <a:spcAft>
                          <a:spcPts val="0"/>
                        </a:spcAft>
                        <a:buClrTx/>
                        <a:buSzTx/>
                        <a:buFontTx/>
                        <a:buNone/>
                        <a:tabLst/>
                        <a:defRPr/>
                      </a:pPr>
                      <a:r>
                        <a:rPr lang="ru-RU" sz="2400" spc="10" dirty="0">
                          <a:solidFill>
                            <a:srgbClr val="000000"/>
                          </a:solidFill>
                          <a:latin typeface="+mn-lt"/>
                          <a:ea typeface="Arial"/>
                          <a:cs typeface="Times New Roman"/>
                        </a:rPr>
                        <a:t>Более высокая </a:t>
                      </a:r>
                      <a:r>
                        <a:rPr lang="ru-RU" sz="2400" spc="10" dirty="0" smtClean="0">
                          <a:solidFill>
                            <a:srgbClr val="000000"/>
                          </a:solidFill>
                          <a:latin typeface="+mn-lt"/>
                          <a:ea typeface="Arial"/>
                          <a:cs typeface="Times New Roman"/>
                        </a:rPr>
                        <a:t>рентабельность по сравнению с крупным бизнесом</a:t>
                      </a:r>
                      <a:endParaRPr lang="ru-RU" sz="2400" spc="5" dirty="0">
                        <a:latin typeface="+mn-lt"/>
                        <a:ea typeface="Arial"/>
                      </a:endParaRPr>
                    </a:p>
                  </a:txBody>
                  <a:tcPr marL="6350" marR="6350" marT="0" marB="0" anchor="b">
                    <a:solidFill>
                      <a:schemeClr val="bg1">
                        <a:lumMod val="95000"/>
                      </a:schemeClr>
                    </a:solidFill>
                  </a:tcPr>
                </a:tc>
                <a:tc>
                  <a:txBody>
                    <a:bodyPr/>
                    <a:lstStyle/>
                    <a:p>
                      <a:pPr indent="457200" algn="ctr">
                        <a:lnSpc>
                          <a:spcPct val="100000"/>
                        </a:lnSpc>
                      </a:pPr>
                      <a:r>
                        <a:rPr lang="ru-RU" sz="2400" dirty="0" smtClean="0">
                          <a:latin typeface="+mn-lt"/>
                        </a:rPr>
                        <a:t>Интуитивный характер и неспециализированное управление</a:t>
                      </a:r>
                      <a:endParaRPr lang="ru-RU" sz="2400" dirty="0">
                        <a:latin typeface="+mn-lt"/>
                      </a:endParaRPr>
                    </a:p>
                  </a:txBody>
                  <a:tcPr>
                    <a:solidFill>
                      <a:schemeClr val="bg1">
                        <a:lumMod val="95000"/>
                      </a:schemeClr>
                    </a:solidFill>
                  </a:tcPr>
                </a:tc>
                <a:extLst>
                  <a:ext uri="{0D108BD9-81ED-4DB2-BD59-A6C34878D82A}">
                    <a16:rowId xmlns:a16="http://schemas.microsoft.com/office/drawing/2014/main" val="10002"/>
                  </a:ext>
                </a:extLst>
              </a:tr>
              <a:tr h="1017403">
                <a:tc>
                  <a:txBody>
                    <a:bodyPr/>
                    <a:lstStyle/>
                    <a:p>
                      <a:pPr marL="0" marR="127000" indent="0" algn="ctr" defTabSz="914400" rtl="0" eaLnBrk="1" fontAlgn="auto" latinLnBrk="0" hangingPunct="1">
                        <a:lnSpc>
                          <a:spcPct val="100000"/>
                        </a:lnSpc>
                        <a:spcBef>
                          <a:spcPts val="0"/>
                        </a:spcBef>
                        <a:spcAft>
                          <a:spcPts val="0"/>
                        </a:spcAft>
                        <a:buClrTx/>
                        <a:buSzTx/>
                        <a:buFontTx/>
                        <a:buNone/>
                        <a:tabLst/>
                        <a:defRPr/>
                      </a:pPr>
                      <a:r>
                        <a:rPr lang="ru-RU" sz="2400" spc="10" dirty="0" smtClean="0">
                          <a:solidFill>
                            <a:srgbClr val="000000"/>
                          </a:solidFill>
                          <a:latin typeface="+mn-lt"/>
                          <a:ea typeface="Arial"/>
                          <a:cs typeface="Times New Roman"/>
                        </a:rPr>
                        <a:t>Использование незанятых ресурсов на неформальных рынков</a:t>
                      </a:r>
                      <a:endParaRPr lang="ru-RU" sz="2400" spc="5" dirty="0">
                        <a:latin typeface="+mn-lt"/>
                        <a:ea typeface="Arial"/>
                      </a:endParaRPr>
                    </a:p>
                  </a:txBody>
                  <a:tcPr marL="6350" marR="6350" marT="0" marB="0" anchor="b">
                    <a:solidFill>
                      <a:schemeClr val="bg1">
                        <a:lumMod val="95000"/>
                      </a:schemeClr>
                    </a:solidFill>
                  </a:tcPr>
                </a:tc>
                <a:tc>
                  <a:txBody>
                    <a:bodyPr/>
                    <a:lstStyle/>
                    <a:p>
                      <a:pPr indent="457200" algn="ctr">
                        <a:lnSpc>
                          <a:spcPct val="100000"/>
                        </a:lnSpc>
                      </a:pPr>
                      <a:r>
                        <a:rPr lang="ru-RU" sz="2400" dirty="0" smtClean="0">
                          <a:latin typeface="+mn-lt"/>
                        </a:rPr>
                        <a:t>Ограниченный доступ к высококачественным ресурсам</a:t>
                      </a:r>
                      <a:endParaRPr lang="ru-RU" sz="2400" dirty="0">
                        <a:latin typeface="+mn-lt"/>
                      </a:endParaRPr>
                    </a:p>
                  </a:txBody>
                  <a:tcPr>
                    <a:solidFill>
                      <a:schemeClr val="bg1">
                        <a:lumMod val="95000"/>
                      </a:schemeClr>
                    </a:solidFill>
                  </a:tcPr>
                </a:tc>
                <a:extLst>
                  <a:ext uri="{0D108BD9-81ED-4DB2-BD59-A6C34878D82A}">
                    <a16:rowId xmlns:a16="http://schemas.microsoft.com/office/drawing/2014/main" val="10003"/>
                  </a:ext>
                </a:extLst>
              </a:tr>
              <a:tr h="1441321">
                <a:tc>
                  <a:txBody>
                    <a:bodyPr/>
                    <a:lstStyle/>
                    <a:p>
                      <a:pPr marR="25400" indent="0" algn="ctr">
                        <a:lnSpc>
                          <a:spcPct val="100000"/>
                        </a:lnSpc>
                        <a:spcBef>
                          <a:spcPts val="0"/>
                        </a:spcBef>
                        <a:spcAft>
                          <a:spcPts val="0"/>
                        </a:spcAft>
                      </a:pPr>
                      <a:r>
                        <a:rPr lang="ru-RU" sz="2400" spc="5" dirty="0" smtClean="0">
                          <a:latin typeface="+mn-lt"/>
                          <a:ea typeface="Arial"/>
                        </a:rPr>
                        <a:t>Зависимость от поддержки крупных фирм и государства</a:t>
                      </a:r>
                      <a:endParaRPr lang="ru-RU" sz="2400" spc="5" dirty="0">
                        <a:latin typeface="+mn-lt"/>
                        <a:ea typeface="Arial"/>
                      </a:endParaRPr>
                    </a:p>
                  </a:txBody>
                  <a:tcPr marL="6350" marR="6350" marT="0" marB="0">
                    <a:solidFill>
                      <a:schemeClr val="bg1">
                        <a:lumMod val="95000"/>
                      </a:schemeClr>
                    </a:solidFill>
                  </a:tcPr>
                </a:tc>
                <a:tc>
                  <a:txBody>
                    <a:bodyPr/>
                    <a:lstStyle/>
                    <a:p>
                      <a:pPr indent="457200" algn="ctr">
                        <a:lnSpc>
                          <a:spcPct val="100000"/>
                        </a:lnSpc>
                      </a:pPr>
                      <a:r>
                        <a:rPr lang="ru-RU" sz="2400" dirty="0" smtClean="0">
                          <a:latin typeface="+mn-lt"/>
                        </a:rPr>
                        <a:t>Недостаток финансовых ресурсов, сложный доступ к информации и достижениям НИОКР</a:t>
                      </a:r>
                      <a:endParaRPr lang="ru-RU" sz="2400" dirty="0">
                        <a:latin typeface="+mn-lt"/>
                      </a:endParaRPr>
                    </a:p>
                  </a:txBody>
                  <a:tcPr>
                    <a:solidFill>
                      <a:schemeClr val="bg1">
                        <a:lumMod val="95000"/>
                      </a:schemeClr>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5496" y="44624"/>
            <a:ext cx="9073008" cy="6813376"/>
          </a:xfrm>
        </p:spPr>
        <p:txBody>
          <a:bodyPr>
            <a:normAutofit/>
          </a:bodyPr>
          <a:lstStyle/>
          <a:p>
            <a:pPr marL="0" indent="457200" algn="just">
              <a:lnSpc>
                <a:spcPct val="120000"/>
              </a:lnSpc>
              <a:spcBef>
                <a:spcPts val="0"/>
              </a:spcBef>
              <a:buNone/>
            </a:pPr>
            <a:r>
              <a:rPr lang="ru-RU" b="1" dirty="0"/>
              <a:t>Среднее предпринимательство </a:t>
            </a:r>
            <a:r>
              <a:rPr lang="ru-RU" dirty="0"/>
              <a:t>занимает промежуточное положение между малым и крупным бизнесом, находящимися на разных полюсах экономики и играет чрезвычайно важную роль. Оно выполняет роль посредника и связующего звена между крупным и малым бизнесом, между малым бизнесом и государством.</a:t>
            </a:r>
          </a:p>
          <a:p>
            <a:pPr marL="0" indent="457200" algn="just">
              <a:lnSpc>
                <a:spcPct val="120000"/>
              </a:lnSpc>
              <a:spcBef>
                <a:spcPts val="0"/>
              </a:spcBef>
              <a:buNone/>
            </a:pPr>
            <a:r>
              <a:rPr lang="ru-RU" dirty="0"/>
              <a:t>Компании среднего бизнеса - это компании, которые имеют уже более существенный годовой доход, количество сотрудников исчисляется сотнями и имеются более обширные и разнообразные ресурсы для деятельности.</a:t>
            </a:r>
          </a:p>
          <a:p>
            <a:pPr marL="0" indent="457200" algn="just">
              <a:lnSpc>
                <a:spcPct val="120000"/>
              </a:lnSpc>
              <a:spcBef>
                <a:spcPts val="0"/>
              </a:spcBef>
              <a:buNone/>
            </a:pPr>
            <a:r>
              <a:rPr lang="ru-RU" dirty="0"/>
              <a:t>К этой форме бизнеса относятся уже не просто частные магазины и агентства, а целые сети предприятий, которые работают на большую аудиторию и охватывают целые города и даже области. Например, сеть магазинов по региону или транспортное предприятие, организовывающее свою работу в пределах одной области - это средний бизнес.</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496" y="0"/>
            <a:ext cx="9108504" cy="2420888"/>
          </a:xfrm>
        </p:spPr>
        <p:txBody>
          <a:bodyPr>
            <a:noAutofit/>
          </a:bodyPr>
          <a:lstStyle/>
          <a:p>
            <a:pPr algn="just"/>
            <a:r>
              <a:rPr lang="ru-RU" sz="2000" b="1" dirty="0"/>
              <a:t>Крупный бизнес </a:t>
            </a:r>
            <a:r>
              <a:rPr lang="ru-RU" sz="2000" dirty="0"/>
              <a:t>- это компания, которая своей деятельностью охватывает целую страну, несколько стран или весь мир. Такие компании чаще всего известны, о них говорят СМИ и их обсуждает большое количество потребителей.</a:t>
            </a:r>
            <a:br>
              <a:rPr lang="ru-RU" sz="2000" dirty="0"/>
            </a:br>
            <a:r>
              <a:rPr lang="ru-RU" sz="2000" dirty="0"/>
              <a:t>Предприятия большого бизнеса могут позволить себе демонстрацию рекламных роликов своей продукции на самых известных телеканалах в самое востребованное время вещания. Крупный бизнес открывает свои филиалы и представительства в разных странах и предоставляет рабочие места для сотен тысяч человек</a:t>
            </a:r>
            <a:r>
              <a:rPr lang="ru-RU" sz="2000" dirty="0" smtClean="0"/>
              <a:t>.</a:t>
            </a:r>
            <a:endParaRPr lang="ru-RU" sz="2000"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3306734542"/>
              </p:ext>
            </p:extLst>
          </p:nvPr>
        </p:nvGraphicFramePr>
        <p:xfrm>
          <a:off x="107504" y="2420888"/>
          <a:ext cx="8928992" cy="4297680"/>
        </p:xfrm>
        <a:graphic>
          <a:graphicData uri="http://schemas.openxmlformats.org/drawingml/2006/table">
            <a:tbl>
              <a:tblPr firstRow="1" bandRow="1">
                <a:tableStyleId>{5C22544A-7EE6-4342-B048-85BDC9FD1C3A}</a:tableStyleId>
              </a:tblPr>
              <a:tblGrid>
                <a:gridCol w="4464496">
                  <a:extLst>
                    <a:ext uri="{9D8B030D-6E8A-4147-A177-3AD203B41FA5}">
                      <a16:colId xmlns:a16="http://schemas.microsoft.com/office/drawing/2014/main" val="2460804204"/>
                    </a:ext>
                  </a:extLst>
                </a:gridCol>
                <a:gridCol w="4464496">
                  <a:extLst>
                    <a:ext uri="{9D8B030D-6E8A-4147-A177-3AD203B41FA5}">
                      <a16:colId xmlns:a16="http://schemas.microsoft.com/office/drawing/2014/main" val="513850648"/>
                    </a:ext>
                  </a:extLst>
                </a:gridCol>
              </a:tblGrid>
              <a:tr h="370840">
                <a:tc>
                  <a:txBody>
                    <a:bodyPr/>
                    <a:lstStyle/>
                    <a:p>
                      <a:pPr algn="ctr"/>
                      <a:r>
                        <a:rPr lang="ru-RU" sz="2100" dirty="0" smtClean="0">
                          <a:solidFill>
                            <a:schemeClr val="tx1"/>
                          </a:solidFill>
                        </a:rPr>
                        <a:t>Сильные стороны крупного бизнеса </a:t>
                      </a:r>
                      <a:endParaRPr lang="ru-RU" sz="2100" dirty="0">
                        <a:solidFill>
                          <a:schemeClr val="tx1"/>
                        </a:solidFill>
                      </a:endParaRPr>
                    </a:p>
                  </a:txBody>
                  <a:tcPr>
                    <a:solidFill>
                      <a:schemeClr val="bg1">
                        <a:lumMod val="95000"/>
                      </a:schemeClr>
                    </a:solidFill>
                  </a:tcPr>
                </a:tc>
                <a:tc>
                  <a:txBody>
                    <a:bodyPr/>
                    <a:lstStyle/>
                    <a:p>
                      <a:pPr algn="ctr"/>
                      <a:r>
                        <a:rPr lang="ru-RU" sz="2100" dirty="0" smtClean="0">
                          <a:solidFill>
                            <a:schemeClr val="tx1"/>
                          </a:solidFill>
                        </a:rPr>
                        <a:t>Слабые стороны крупного бизнеса</a:t>
                      </a:r>
                      <a:endParaRPr lang="ru-RU" sz="2100" dirty="0">
                        <a:solidFill>
                          <a:schemeClr val="tx1"/>
                        </a:solidFill>
                      </a:endParaRPr>
                    </a:p>
                  </a:txBody>
                  <a:tcPr>
                    <a:solidFill>
                      <a:schemeClr val="bg1">
                        <a:lumMod val="95000"/>
                      </a:schemeClr>
                    </a:solidFill>
                  </a:tcPr>
                </a:tc>
                <a:extLst>
                  <a:ext uri="{0D108BD9-81ED-4DB2-BD59-A6C34878D82A}">
                    <a16:rowId xmlns:a16="http://schemas.microsoft.com/office/drawing/2014/main" val="2445726937"/>
                  </a:ext>
                </a:extLst>
              </a:tr>
              <a:tr h="370840">
                <a:tc>
                  <a:txBody>
                    <a:bodyPr/>
                    <a:lstStyle/>
                    <a:p>
                      <a:pPr algn="ctr"/>
                      <a:r>
                        <a:rPr lang="ru-RU" sz="2100" dirty="0" smtClean="0">
                          <a:solidFill>
                            <a:schemeClr val="tx1"/>
                          </a:solidFill>
                        </a:rPr>
                        <a:t>Способность активно изменять внешнюю среду предпринимательства</a:t>
                      </a:r>
                      <a:endParaRPr lang="ru-RU" sz="2100" dirty="0">
                        <a:solidFill>
                          <a:schemeClr val="tx1"/>
                        </a:solidFill>
                      </a:endParaRPr>
                    </a:p>
                  </a:txBody>
                  <a:tcPr>
                    <a:solidFill>
                      <a:schemeClr val="bg1">
                        <a:lumMod val="95000"/>
                      </a:schemeClr>
                    </a:solidFill>
                  </a:tcPr>
                </a:tc>
                <a:tc>
                  <a:txBody>
                    <a:bodyPr/>
                    <a:lstStyle/>
                    <a:p>
                      <a:pPr algn="ctr"/>
                      <a:r>
                        <a:rPr lang="ru-RU" sz="2100" dirty="0" smtClean="0">
                          <a:solidFill>
                            <a:schemeClr val="tx1"/>
                          </a:solidFill>
                        </a:rPr>
                        <a:t>Снижение стимулов к росту эффективности производства</a:t>
                      </a:r>
                      <a:endParaRPr lang="ru-RU" sz="2100" dirty="0">
                        <a:solidFill>
                          <a:schemeClr val="tx1"/>
                        </a:solidFill>
                      </a:endParaRPr>
                    </a:p>
                  </a:txBody>
                  <a:tcPr>
                    <a:solidFill>
                      <a:schemeClr val="bg1">
                        <a:lumMod val="95000"/>
                      </a:schemeClr>
                    </a:solidFill>
                  </a:tcPr>
                </a:tc>
                <a:extLst>
                  <a:ext uri="{0D108BD9-81ED-4DB2-BD59-A6C34878D82A}">
                    <a16:rowId xmlns:a16="http://schemas.microsoft.com/office/drawing/2014/main" val="2232865194"/>
                  </a:ext>
                </a:extLst>
              </a:tr>
              <a:tr h="370840">
                <a:tc>
                  <a:txBody>
                    <a:bodyPr/>
                    <a:lstStyle/>
                    <a:p>
                      <a:pPr algn="ctr"/>
                      <a:r>
                        <a:rPr lang="ru-RU" sz="2100" dirty="0" smtClean="0">
                          <a:solidFill>
                            <a:schemeClr val="tx1"/>
                          </a:solidFill>
                        </a:rPr>
                        <a:t>Возможности создавать и накапливать достижения НТП и процедуры и правила рационального бизнеса</a:t>
                      </a:r>
                      <a:endParaRPr lang="ru-RU" sz="2100" dirty="0">
                        <a:solidFill>
                          <a:schemeClr val="tx1"/>
                        </a:solidFill>
                      </a:endParaRPr>
                    </a:p>
                  </a:txBody>
                  <a:tcPr>
                    <a:solidFill>
                      <a:schemeClr val="bg1">
                        <a:lumMod val="95000"/>
                      </a:schemeClr>
                    </a:solidFill>
                  </a:tcPr>
                </a:tc>
                <a:tc>
                  <a:txBody>
                    <a:bodyPr/>
                    <a:lstStyle/>
                    <a:p>
                      <a:pPr algn="ctr"/>
                      <a:r>
                        <a:rPr lang="ru-RU" sz="2100" dirty="0" smtClean="0">
                          <a:solidFill>
                            <a:schemeClr val="tx1"/>
                          </a:solidFill>
                        </a:rPr>
                        <a:t>Возможность для ограничения доступа других фирм к достижениям НТП и рационального бизнеса</a:t>
                      </a:r>
                      <a:endParaRPr lang="ru-RU" sz="2100" dirty="0">
                        <a:solidFill>
                          <a:schemeClr val="tx1"/>
                        </a:solidFill>
                      </a:endParaRPr>
                    </a:p>
                  </a:txBody>
                  <a:tcPr>
                    <a:solidFill>
                      <a:schemeClr val="bg1">
                        <a:lumMod val="95000"/>
                      </a:schemeClr>
                    </a:solidFill>
                  </a:tcPr>
                </a:tc>
                <a:extLst>
                  <a:ext uri="{0D108BD9-81ED-4DB2-BD59-A6C34878D82A}">
                    <a16:rowId xmlns:a16="http://schemas.microsoft.com/office/drawing/2014/main" val="682322223"/>
                  </a:ext>
                </a:extLst>
              </a:tr>
              <a:tr h="370840">
                <a:tc>
                  <a:txBody>
                    <a:bodyPr/>
                    <a:lstStyle/>
                    <a:p>
                      <a:pPr algn="ctr"/>
                      <a:r>
                        <a:rPr lang="ru-RU" sz="2100" dirty="0" smtClean="0">
                          <a:solidFill>
                            <a:schemeClr val="tx1"/>
                          </a:solidFill>
                        </a:rPr>
                        <a:t>Экономия на издержках производства</a:t>
                      </a:r>
                      <a:endParaRPr lang="ru-RU" sz="2100" dirty="0">
                        <a:solidFill>
                          <a:schemeClr val="tx1"/>
                        </a:solidFill>
                      </a:endParaRPr>
                    </a:p>
                  </a:txBody>
                  <a:tcPr>
                    <a:solidFill>
                      <a:schemeClr val="bg1">
                        <a:lumMod val="95000"/>
                      </a:schemeClr>
                    </a:solidFill>
                  </a:tcPr>
                </a:tc>
                <a:tc>
                  <a:txBody>
                    <a:bodyPr/>
                    <a:lstStyle/>
                    <a:p>
                      <a:pPr algn="ctr"/>
                      <a:r>
                        <a:rPr lang="ru-RU" sz="2100" dirty="0" smtClean="0">
                          <a:solidFill>
                            <a:schemeClr val="tx1"/>
                          </a:solidFill>
                        </a:rPr>
                        <a:t>Падение эффективности управление с ростом объема фирмы</a:t>
                      </a:r>
                      <a:endParaRPr lang="ru-RU" sz="2100" dirty="0">
                        <a:solidFill>
                          <a:schemeClr val="tx1"/>
                        </a:solidFill>
                      </a:endParaRPr>
                    </a:p>
                  </a:txBody>
                  <a:tcPr>
                    <a:solidFill>
                      <a:schemeClr val="bg1">
                        <a:lumMod val="95000"/>
                      </a:schemeClr>
                    </a:solidFill>
                  </a:tcPr>
                </a:tc>
                <a:extLst>
                  <a:ext uri="{0D108BD9-81ED-4DB2-BD59-A6C34878D82A}">
                    <a16:rowId xmlns:a16="http://schemas.microsoft.com/office/drawing/2014/main" val="167502504"/>
                  </a:ext>
                </a:extLst>
              </a:tr>
              <a:tr h="370840">
                <a:tc>
                  <a:txBody>
                    <a:bodyPr/>
                    <a:lstStyle/>
                    <a:p>
                      <a:pPr algn="ctr"/>
                      <a:r>
                        <a:rPr lang="ru-RU" sz="2100" dirty="0" smtClean="0">
                          <a:solidFill>
                            <a:schemeClr val="tx1"/>
                          </a:solidFill>
                        </a:rPr>
                        <a:t>Устойчивость</a:t>
                      </a:r>
                      <a:endParaRPr lang="ru-RU" sz="2100" dirty="0">
                        <a:solidFill>
                          <a:schemeClr val="tx1"/>
                        </a:solidFill>
                      </a:endParaRPr>
                    </a:p>
                  </a:txBody>
                  <a:tcPr>
                    <a:solidFill>
                      <a:schemeClr val="bg1">
                        <a:lumMod val="95000"/>
                      </a:schemeClr>
                    </a:solidFill>
                  </a:tcPr>
                </a:tc>
                <a:tc>
                  <a:txBody>
                    <a:bodyPr/>
                    <a:lstStyle/>
                    <a:p>
                      <a:pPr algn="ctr"/>
                      <a:r>
                        <a:rPr lang="ru-RU" sz="2100" dirty="0" smtClean="0">
                          <a:solidFill>
                            <a:schemeClr val="tx1"/>
                          </a:solidFill>
                        </a:rPr>
                        <a:t>Негибкость, возможность потери контакта с потребителем</a:t>
                      </a:r>
                      <a:endParaRPr lang="ru-RU" sz="2100" dirty="0">
                        <a:solidFill>
                          <a:schemeClr val="tx1"/>
                        </a:solidFill>
                      </a:endParaRPr>
                    </a:p>
                  </a:txBody>
                  <a:tcPr>
                    <a:solidFill>
                      <a:schemeClr val="bg1">
                        <a:lumMod val="95000"/>
                      </a:schemeClr>
                    </a:solidFill>
                  </a:tcPr>
                </a:tc>
                <a:extLst>
                  <a:ext uri="{0D108BD9-81ED-4DB2-BD59-A6C34878D82A}">
                    <a16:rowId xmlns:a16="http://schemas.microsoft.com/office/drawing/2014/main" val="3309453323"/>
                  </a:ext>
                </a:extLst>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0216"/>
            <a:ext cx="9108504" cy="538463"/>
          </a:xfrm>
        </p:spPr>
        <p:txBody>
          <a:bodyPr>
            <a:normAutofit fontScale="90000"/>
          </a:bodyPr>
          <a:lstStyle/>
          <a:p>
            <a:pPr algn="ctr"/>
            <a:r>
              <a:rPr lang="ru-RU" dirty="0" smtClean="0"/>
              <a:t>Домашнее задание</a:t>
            </a:r>
            <a:endParaRPr lang="ru-RU" dirty="0"/>
          </a:p>
        </p:txBody>
      </p:sp>
      <p:graphicFrame>
        <p:nvGraphicFramePr>
          <p:cNvPr id="4" name="Объект 3"/>
          <p:cNvGraphicFramePr>
            <a:graphicFrameLocks noGrp="1" noChangeAspect="1"/>
          </p:cNvGraphicFramePr>
          <p:nvPr>
            <p:ph idx="1"/>
            <p:extLst>
              <p:ext uri="{D42A27DB-BD31-4B8C-83A1-F6EECF244321}">
                <p14:modId xmlns:p14="http://schemas.microsoft.com/office/powerpoint/2010/main" val="32984282"/>
              </p:ext>
            </p:extLst>
          </p:nvPr>
        </p:nvGraphicFramePr>
        <p:xfrm>
          <a:off x="899592" y="1772816"/>
          <a:ext cx="7002040" cy="1369694"/>
        </p:xfrm>
        <a:graphic>
          <a:graphicData uri="http://schemas.openxmlformats.org/presentationml/2006/ole">
            <mc:AlternateContent xmlns:mc="http://schemas.openxmlformats.org/markup-compatibility/2006">
              <mc:Choice xmlns:v="urn:schemas-microsoft-com:vml" Requires="v">
                <p:oleObj spid="_x0000_s1026" name="Объект упаковщика для оболочки" showAsIcon="1" r:id="rId3" imgW="2678040" imgH="523800" progId="Package">
                  <p:embed/>
                </p:oleObj>
              </mc:Choice>
              <mc:Fallback>
                <p:oleObj name="Объект упаковщика для оболочки" showAsIcon="1" r:id="rId3" imgW="2678040" imgH="523800" progId="Package">
                  <p:embed/>
                  <p:pic>
                    <p:nvPicPr>
                      <p:cNvPr id="0" name=""/>
                      <p:cNvPicPr/>
                      <p:nvPr/>
                    </p:nvPicPr>
                    <p:blipFill>
                      <a:blip r:embed="rId4"/>
                      <a:stretch>
                        <a:fillRect/>
                      </a:stretch>
                    </p:blipFill>
                    <p:spPr>
                      <a:xfrm>
                        <a:off x="899592" y="1772816"/>
                        <a:ext cx="7002040" cy="1369694"/>
                      </a:xfrm>
                      <a:prstGeom prst="rect">
                        <a:avLst/>
                      </a:prstGeom>
                    </p:spPr>
                  </p:pic>
                </p:oleObj>
              </mc:Fallback>
            </mc:AlternateContent>
          </a:graphicData>
        </a:graphic>
      </p:graphicFrame>
    </p:spTree>
    <p:extLst>
      <p:ext uri="{BB962C8B-B14F-4D97-AF65-F5344CB8AC3E}">
        <p14:creationId xmlns:p14="http://schemas.microsoft.com/office/powerpoint/2010/main" val="360289999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1347</TotalTime>
  <Words>2972</Words>
  <Application>Microsoft Office PowerPoint</Application>
  <PresentationFormat>Экран (4:3)</PresentationFormat>
  <Paragraphs>312</Paragraphs>
  <Slides>43</Slides>
  <Notes>14</Notes>
  <HiddenSlides>2</HiddenSlides>
  <MMClips>0</MMClips>
  <ScaleCrop>false</ScaleCrop>
  <HeadingPairs>
    <vt:vector size="8" baseType="variant">
      <vt:variant>
        <vt:lpstr>Использованные шрифты</vt:lpstr>
      </vt:variant>
      <vt:variant>
        <vt:i4>9</vt:i4>
      </vt:variant>
      <vt:variant>
        <vt:lpstr>Тема</vt:lpstr>
      </vt:variant>
      <vt:variant>
        <vt:i4>1</vt:i4>
      </vt:variant>
      <vt:variant>
        <vt:lpstr>Внедренные серверы OLE</vt:lpstr>
      </vt:variant>
      <vt:variant>
        <vt:i4>1</vt:i4>
      </vt:variant>
      <vt:variant>
        <vt:lpstr>Заголовки слайдов</vt:lpstr>
      </vt:variant>
      <vt:variant>
        <vt:i4>43</vt:i4>
      </vt:variant>
    </vt:vector>
  </HeadingPairs>
  <TitlesOfParts>
    <vt:vector size="54" baseType="lpstr">
      <vt:lpstr>Arial</vt:lpstr>
      <vt:lpstr>Calibri</vt:lpstr>
      <vt:lpstr>Calibri Light</vt:lpstr>
      <vt:lpstr>Courier New</vt:lpstr>
      <vt:lpstr>굴림</vt:lpstr>
      <vt:lpstr>Microsoft Sans Serif</vt:lpstr>
      <vt:lpstr>Segoe UI Semilight</vt:lpstr>
      <vt:lpstr>Times New Roman</vt:lpstr>
      <vt:lpstr>Wingdings</vt:lpstr>
      <vt:lpstr>Тема Office</vt:lpstr>
      <vt:lpstr>Пакет</vt:lpstr>
      <vt:lpstr>Понятие фирмы и ее функции</vt:lpstr>
      <vt:lpstr>ТЕМА 1. СОДЕРЖАНИЕ ПРЕДПРИНИМАТЕЛЬСКОЙ ДЕЯТЕЛЬНОСТИ: ОБЪЕКТЫ, СУБЪЕКТЫ И ЦЕЛИ ПРЕДПРИНИМАТЕЛЬСКОЙ ДЕЯТЕЛЬНОСТИ</vt:lpstr>
      <vt:lpstr>Согласно п. 1 ст. 2 Гражданского кодекса РФ предпринимательской деятельностью признается</vt:lpstr>
      <vt:lpstr>2. Сущность и признаки предпринимательства </vt:lpstr>
      <vt:lpstr>2. Сущность и признаки предпринимательства </vt:lpstr>
      <vt:lpstr>2. Сущность и признаки предпринимательства </vt:lpstr>
      <vt:lpstr>3. Функции предпринимательской деятельности </vt:lpstr>
      <vt:lpstr>3. Функции предпринимательской деятельности </vt:lpstr>
      <vt:lpstr>3. Функции предпринимательской деятельности </vt:lpstr>
      <vt:lpstr>4. Субъекты и объекты предпринимательской деятельности </vt:lpstr>
      <vt:lpstr>4. Субъекты и объекты предпринимательской деятельности </vt:lpstr>
      <vt:lpstr>4. Субъекты и объекты предпринимательской деятельности </vt:lpstr>
      <vt:lpstr>Презентация PowerPoint</vt:lpstr>
      <vt:lpstr>Презентация PowerPoint</vt:lpstr>
      <vt:lpstr>5. Классификация предпринимательской деятельности</vt:lpstr>
      <vt:lpstr>5. Классификация предпринимательской деятельности </vt:lpstr>
      <vt:lpstr> </vt:lpstr>
      <vt:lpstr>5. Классификация предпринимательской деятельности </vt:lpstr>
      <vt:lpstr>Источники предпринимательского права</vt:lpstr>
      <vt:lpstr>Презентация PowerPoint</vt:lpstr>
      <vt:lpstr>Презентация PowerPoint</vt:lpstr>
      <vt:lpstr>Юридическим лицом признается организация, которая: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Малый бизнес — бизнес, опирающийся на предпринимательскую деятельность небольших фирм, малых предприятий, формально не входящих в объединения.</vt:lpstr>
      <vt:lpstr>Презентация PowerPoint</vt:lpstr>
      <vt:lpstr>Крупный бизнес - это компания, которая своей деятельностью охватывает целую страну, несколько стран или весь мир. Такие компании чаще всего известны, о них говорят СМИ и их обсуждает большое количество потребителей. Предприятия большого бизнеса могут позволить себе демонстрацию рекламных роликов своей продукции на самых известных телеканалах в самое востребованное время вещания. Крупный бизнес открывает свои филиалы и представительства в разных странах и предоставляет рабочие места для сотен тысяч человек.</vt:lpstr>
      <vt:lpstr>Домашнее задание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Владимир</dc:creator>
  <cp:lastModifiedBy>Марина Леденцова</cp:lastModifiedBy>
  <cp:revision>130</cp:revision>
  <cp:lastPrinted>2018-10-03T07:28:41Z</cp:lastPrinted>
  <dcterms:created xsi:type="dcterms:W3CDTF">2018-01-06T06:28:48Z</dcterms:created>
  <dcterms:modified xsi:type="dcterms:W3CDTF">2025-09-16T17:14:07Z</dcterms:modified>
</cp:coreProperties>
</file>