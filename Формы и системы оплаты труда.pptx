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3" r:id="rId6"/>
    <p:sldId id="265" r:id="rId7"/>
    <p:sldId id="261" r:id="rId8"/>
    <p:sldId id="275" r:id="rId9"/>
    <p:sldId id="262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8" r:id="rId27"/>
    <p:sldId id="285" r:id="rId28"/>
    <p:sldId id="286" r:id="rId29"/>
    <p:sldId id="287" r:id="rId30"/>
    <p:sldId id="276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FA6"/>
    <a:srgbClr val="605AD6"/>
    <a:srgbClr val="112E4C"/>
    <a:srgbClr val="547BFE"/>
    <a:srgbClr val="587384"/>
    <a:srgbClr val="F078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90" y="8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fd.ru/articles/162241-bestarifnaya-sistema-oplaty-truda" TargetMode="External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fd.ru/articles/162241-bestarifnaya-sistema-oplaty-truda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3">
  <dgm:title val=""/>
  <dgm:desc val=""/>
  <dgm:catLst>
    <dgm:cat type="accent5" pri="11300"/>
  </dgm:catLst>
  <dgm:styleLbl name="node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shade val="80000"/>
      </a:schemeClr>
      <a:schemeClr val="accent5">
        <a:tint val="7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/>
    <dgm:txEffectClrLst/>
  </dgm:styleLbl>
  <dgm:styleLbl name="ln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9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8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C615AAA-65D4-4779-AB79-B604AB37FC3F}" type="doc">
      <dgm:prSet loTypeId="urn:microsoft.com/office/officeart/2005/8/layout/vList2" loCatId="list" qsTypeId="urn:microsoft.com/office/officeart/2005/8/quickstyle/simple5" qsCatId="simple" csTypeId="urn:microsoft.com/office/officeart/2005/8/colors/accent5_3" csCatId="accent5" phldr="1"/>
      <dgm:spPr/>
      <dgm:t>
        <a:bodyPr/>
        <a:lstStyle/>
        <a:p>
          <a:endParaRPr lang="ru-RU"/>
        </a:p>
      </dgm:t>
    </dgm:pt>
    <dgm:pt modelId="{10434A37-AD92-4FC7-9073-00B08781B57E}">
      <dgm:prSet/>
      <dgm:spPr>
        <a:solidFill>
          <a:srgbClr val="605AD6"/>
        </a:solidFill>
      </dgm:spPr>
      <dgm:t>
        <a:bodyPr/>
        <a:lstStyle/>
        <a:p>
          <a:pPr rtl="0"/>
          <a:r>
            <a:rPr lang="ru-RU" dirty="0" smtClean="0"/>
            <a:t>размер вознаграждения должен зависеть от вклада каждого работника в результаты труда;</a:t>
          </a:r>
          <a:endParaRPr lang="ru-RU" dirty="0"/>
        </a:p>
      </dgm:t>
    </dgm:pt>
    <dgm:pt modelId="{E2271058-1CA1-467D-A768-547062CFDA20}" type="parTrans" cxnId="{BDB52F58-B57E-4D31-B6AE-F6FAEEBFBA39}">
      <dgm:prSet/>
      <dgm:spPr/>
      <dgm:t>
        <a:bodyPr/>
        <a:lstStyle/>
        <a:p>
          <a:endParaRPr lang="ru-RU"/>
        </a:p>
      </dgm:t>
    </dgm:pt>
    <dgm:pt modelId="{AE90C657-E8C3-442F-9500-6CD093C8B8DF}" type="sibTrans" cxnId="{BDB52F58-B57E-4D31-B6AE-F6FAEEBFBA39}">
      <dgm:prSet/>
      <dgm:spPr/>
      <dgm:t>
        <a:bodyPr/>
        <a:lstStyle/>
        <a:p>
          <a:endParaRPr lang="ru-RU"/>
        </a:p>
      </dgm:t>
    </dgm:pt>
    <dgm:pt modelId="{EF16CA3C-21A4-4354-A7FE-57C057368D75}">
      <dgm:prSet/>
      <dgm:spPr>
        <a:ln>
          <a:solidFill>
            <a:srgbClr val="0070C0"/>
          </a:solidFill>
        </a:ln>
      </dgm:spPr>
      <dgm:t>
        <a:bodyPr/>
        <a:lstStyle/>
        <a:p>
          <a:pPr rtl="0"/>
          <a:r>
            <a:rPr lang="ru-RU" dirty="0" smtClean="0"/>
            <a:t>разрыв между результатом труда и вознаграждением за него должен быть минимальным;</a:t>
          </a:r>
          <a:endParaRPr lang="ru-RU" dirty="0"/>
        </a:p>
      </dgm:t>
    </dgm:pt>
    <dgm:pt modelId="{25B72059-D4EA-4CE7-86E6-0B7619875A17}" type="parTrans" cxnId="{34766261-8C25-48E8-B63D-9C60B91410EF}">
      <dgm:prSet/>
      <dgm:spPr/>
      <dgm:t>
        <a:bodyPr/>
        <a:lstStyle/>
        <a:p>
          <a:endParaRPr lang="ru-RU"/>
        </a:p>
      </dgm:t>
    </dgm:pt>
    <dgm:pt modelId="{03EAA590-8974-4873-8B7C-294672A00A11}" type="sibTrans" cxnId="{34766261-8C25-48E8-B63D-9C60B91410EF}">
      <dgm:prSet/>
      <dgm:spPr/>
      <dgm:t>
        <a:bodyPr/>
        <a:lstStyle/>
        <a:p>
          <a:endParaRPr lang="ru-RU"/>
        </a:p>
      </dgm:t>
    </dgm:pt>
    <dgm:pt modelId="{1C7A5763-EC73-4BA7-B45F-7988EB3CD769}">
      <dgm:prSet/>
      <dgm:spPr>
        <a:solidFill>
          <a:srgbClr val="006FA6"/>
        </a:solidFill>
        <a:ln>
          <a:solidFill>
            <a:srgbClr val="0070C0"/>
          </a:solidFill>
        </a:ln>
      </dgm:spPr>
      <dgm:t>
        <a:bodyPr/>
        <a:lstStyle/>
        <a:p>
          <a:pPr rtl="0"/>
          <a:r>
            <a:rPr lang="ru-RU" dirty="0" smtClean="0"/>
            <a:t>система заработной платы должна быть открытой и доступной для понимания каждого работника.</a:t>
          </a:r>
          <a:endParaRPr lang="ru-RU" dirty="0"/>
        </a:p>
      </dgm:t>
    </dgm:pt>
    <dgm:pt modelId="{6F723B52-8886-44A1-BE8B-1F61A4581CC3}" type="parTrans" cxnId="{38C9883C-EB46-4788-A332-ABA8CF311D67}">
      <dgm:prSet/>
      <dgm:spPr/>
      <dgm:t>
        <a:bodyPr/>
        <a:lstStyle/>
        <a:p>
          <a:endParaRPr lang="ru-RU"/>
        </a:p>
      </dgm:t>
    </dgm:pt>
    <dgm:pt modelId="{DAC2F881-B201-4BD3-8FDC-49346CB39EC3}" type="sibTrans" cxnId="{38C9883C-EB46-4788-A332-ABA8CF311D67}">
      <dgm:prSet/>
      <dgm:spPr/>
      <dgm:t>
        <a:bodyPr/>
        <a:lstStyle/>
        <a:p>
          <a:endParaRPr lang="ru-RU"/>
        </a:p>
      </dgm:t>
    </dgm:pt>
    <dgm:pt modelId="{20E13CCC-3061-4832-A265-9830ED11383C}" type="pres">
      <dgm:prSet presAssocID="{DC615AAA-65D4-4779-AB79-B604AB37FC3F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AB0A72B3-E310-4140-BA55-15E8E6547793}" type="pres">
      <dgm:prSet presAssocID="{10434A37-AD92-4FC7-9073-00B08781B57E}" presName="parentText" presStyleLbl="node1" presStyleIdx="0" presStyleCnt="3" custLinFactY="500" custLinFactNeighborY="100000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5845CFE-7499-4B11-A1AB-3636D676378D}" type="pres">
      <dgm:prSet presAssocID="{AE90C657-E8C3-442F-9500-6CD093C8B8DF}" presName="spacer" presStyleCnt="0"/>
      <dgm:spPr/>
    </dgm:pt>
    <dgm:pt modelId="{AB981751-C924-4FAE-A197-331CB51A32D6}" type="pres">
      <dgm:prSet presAssocID="{EF16CA3C-21A4-4354-A7FE-57C057368D75}" presName="parentText" presStyleLbl="node1" presStyleIdx="1" presStyleCnt="3" custLinFactY="3817" custLinFactNeighborY="100000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795B018-1344-4A88-800C-928DB23B1A69}" type="pres">
      <dgm:prSet presAssocID="{03EAA590-8974-4873-8B7C-294672A00A11}" presName="spacer" presStyleCnt="0"/>
      <dgm:spPr/>
    </dgm:pt>
    <dgm:pt modelId="{2941CA69-235D-47FE-B190-C4214FC8FFE9}" type="pres">
      <dgm:prSet presAssocID="{1C7A5763-EC73-4BA7-B45F-7988EB3CD769}" presName="parentText" presStyleLbl="node1" presStyleIdx="2" presStyleCnt="3" custScaleY="98252" custLinFactY="7133" custLinFactNeighborY="100000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34766261-8C25-48E8-B63D-9C60B91410EF}" srcId="{DC615AAA-65D4-4779-AB79-B604AB37FC3F}" destId="{EF16CA3C-21A4-4354-A7FE-57C057368D75}" srcOrd="1" destOrd="0" parTransId="{25B72059-D4EA-4CE7-86E6-0B7619875A17}" sibTransId="{03EAA590-8974-4873-8B7C-294672A00A11}"/>
    <dgm:cxn modelId="{8A1FEF82-1DBD-45A1-A2A4-681598BB77E5}" type="presOf" srcId="{DC615AAA-65D4-4779-AB79-B604AB37FC3F}" destId="{20E13CCC-3061-4832-A265-9830ED11383C}" srcOrd="0" destOrd="0" presId="urn:microsoft.com/office/officeart/2005/8/layout/vList2"/>
    <dgm:cxn modelId="{BDB52F58-B57E-4D31-B6AE-F6FAEEBFBA39}" srcId="{DC615AAA-65D4-4779-AB79-B604AB37FC3F}" destId="{10434A37-AD92-4FC7-9073-00B08781B57E}" srcOrd="0" destOrd="0" parTransId="{E2271058-1CA1-467D-A768-547062CFDA20}" sibTransId="{AE90C657-E8C3-442F-9500-6CD093C8B8DF}"/>
    <dgm:cxn modelId="{38C9883C-EB46-4788-A332-ABA8CF311D67}" srcId="{DC615AAA-65D4-4779-AB79-B604AB37FC3F}" destId="{1C7A5763-EC73-4BA7-B45F-7988EB3CD769}" srcOrd="2" destOrd="0" parTransId="{6F723B52-8886-44A1-BE8B-1F61A4581CC3}" sibTransId="{DAC2F881-B201-4BD3-8FDC-49346CB39EC3}"/>
    <dgm:cxn modelId="{FBBFC4A6-BE1A-45D0-B3A9-3F63FD9F1655}" type="presOf" srcId="{1C7A5763-EC73-4BA7-B45F-7988EB3CD769}" destId="{2941CA69-235D-47FE-B190-C4214FC8FFE9}" srcOrd="0" destOrd="0" presId="urn:microsoft.com/office/officeart/2005/8/layout/vList2"/>
    <dgm:cxn modelId="{FB8FEADE-5FDC-4D1D-B823-CC65E9116936}" type="presOf" srcId="{10434A37-AD92-4FC7-9073-00B08781B57E}" destId="{AB0A72B3-E310-4140-BA55-15E8E6547793}" srcOrd="0" destOrd="0" presId="urn:microsoft.com/office/officeart/2005/8/layout/vList2"/>
    <dgm:cxn modelId="{E44EF0E3-6AA6-4124-B059-F31722B76EB5}" type="presOf" srcId="{EF16CA3C-21A4-4354-A7FE-57C057368D75}" destId="{AB981751-C924-4FAE-A197-331CB51A32D6}" srcOrd="0" destOrd="0" presId="urn:microsoft.com/office/officeart/2005/8/layout/vList2"/>
    <dgm:cxn modelId="{8247BE9C-A4D1-4322-909E-8B80BB2589EB}" type="presParOf" srcId="{20E13CCC-3061-4832-A265-9830ED11383C}" destId="{AB0A72B3-E310-4140-BA55-15E8E6547793}" srcOrd="0" destOrd="0" presId="urn:microsoft.com/office/officeart/2005/8/layout/vList2"/>
    <dgm:cxn modelId="{4C5286BA-8951-4C21-A87A-DAFF043F1D24}" type="presParOf" srcId="{20E13CCC-3061-4832-A265-9830ED11383C}" destId="{85845CFE-7499-4B11-A1AB-3636D676378D}" srcOrd="1" destOrd="0" presId="urn:microsoft.com/office/officeart/2005/8/layout/vList2"/>
    <dgm:cxn modelId="{6F6B18C4-2BCE-4FD9-B616-60F935E2AEB4}" type="presParOf" srcId="{20E13CCC-3061-4832-A265-9830ED11383C}" destId="{AB981751-C924-4FAE-A197-331CB51A32D6}" srcOrd="2" destOrd="0" presId="urn:microsoft.com/office/officeart/2005/8/layout/vList2"/>
    <dgm:cxn modelId="{A1805268-2C3F-4E98-B343-5CAB44F7B151}" type="presParOf" srcId="{20E13CCC-3061-4832-A265-9830ED11383C}" destId="{8795B018-1344-4A88-800C-928DB23B1A69}" srcOrd="3" destOrd="0" presId="urn:microsoft.com/office/officeart/2005/8/layout/vList2"/>
    <dgm:cxn modelId="{571622FD-BFA0-4FBD-9EAA-6163F12176A1}" type="presParOf" srcId="{20E13CCC-3061-4832-A265-9830ED11383C}" destId="{2941CA69-235D-47FE-B190-C4214FC8FFE9}" srcOrd="4" destOrd="0" presId="urn:microsoft.com/office/officeart/2005/8/layout/vList2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F08A93D-C36C-4DBF-84ED-5E143AFE687F}" type="doc">
      <dgm:prSet loTypeId="urn:microsoft.com/office/officeart/2005/8/layout/lProcess2" loCatId="list" qsTypeId="urn:microsoft.com/office/officeart/2005/8/quickstyle/3d2#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5132436E-F319-4B3B-9B00-5DF5647A7EBA}">
      <dgm:prSet/>
      <dgm:spPr/>
      <dgm:t>
        <a:bodyPr/>
        <a:lstStyle/>
        <a:p>
          <a:pPr rtl="0"/>
          <a:r>
            <a:rPr lang="ru-RU" dirty="0" smtClean="0"/>
            <a:t>Тарифная система</a:t>
          </a:r>
          <a:endParaRPr lang="ru-RU" dirty="0"/>
        </a:p>
      </dgm:t>
    </dgm:pt>
    <dgm:pt modelId="{10BA4E49-C67C-44E6-A5DC-7FE143F806B9}" type="parTrans" cxnId="{0FFD017D-445F-4230-AD62-C85E7098664E}">
      <dgm:prSet/>
      <dgm:spPr/>
      <dgm:t>
        <a:bodyPr/>
        <a:lstStyle/>
        <a:p>
          <a:endParaRPr lang="ru-RU"/>
        </a:p>
      </dgm:t>
    </dgm:pt>
    <dgm:pt modelId="{44B3208A-07A7-439A-B70D-305D709A511A}" type="sibTrans" cxnId="{0FFD017D-445F-4230-AD62-C85E7098664E}">
      <dgm:prSet/>
      <dgm:spPr/>
      <dgm:t>
        <a:bodyPr/>
        <a:lstStyle/>
        <a:p>
          <a:endParaRPr lang="ru-RU"/>
        </a:p>
      </dgm:t>
    </dgm:pt>
    <dgm:pt modelId="{6B74026A-D9DF-4605-A7E6-CF6883ECA4D5}">
      <dgm:prSet/>
      <dgm:spPr/>
      <dgm:t>
        <a:bodyPr/>
        <a:lstStyle/>
        <a:p>
          <a:pPr rtl="0"/>
          <a:r>
            <a:rPr lang="ru-RU" dirty="0" smtClean="0"/>
            <a:t>Бестарифная система</a:t>
          </a:r>
          <a:endParaRPr lang="ru-RU" dirty="0"/>
        </a:p>
      </dgm:t>
    </dgm:pt>
    <dgm:pt modelId="{DD58219F-113B-42B2-B1D9-7547113534CA}" type="parTrans" cxnId="{B4B3E861-D08F-46EE-B02F-72190EF4509B}">
      <dgm:prSet/>
      <dgm:spPr/>
      <dgm:t>
        <a:bodyPr/>
        <a:lstStyle/>
        <a:p>
          <a:endParaRPr lang="ru-RU"/>
        </a:p>
      </dgm:t>
    </dgm:pt>
    <dgm:pt modelId="{5F819E45-C734-435F-B0C6-DD19094AA343}" type="sibTrans" cxnId="{B4B3E861-D08F-46EE-B02F-72190EF4509B}">
      <dgm:prSet/>
      <dgm:spPr/>
      <dgm:t>
        <a:bodyPr/>
        <a:lstStyle/>
        <a:p>
          <a:endParaRPr lang="ru-RU"/>
        </a:p>
      </dgm:t>
    </dgm:pt>
    <dgm:pt modelId="{3F0487AD-A0C2-459D-826F-27DCDCB6C37C}">
      <dgm:prSet/>
      <dgm:spPr/>
      <dgm:t>
        <a:bodyPr/>
        <a:lstStyle/>
        <a:p>
          <a:pPr rtl="0"/>
          <a:r>
            <a:rPr lang="ru-RU" dirty="0" smtClean="0"/>
            <a:t>Смешанная</a:t>
          </a:r>
          <a:endParaRPr lang="ru-RU" dirty="0"/>
        </a:p>
      </dgm:t>
    </dgm:pt>
    <dgm:pt modelId="{733D95E2-F1F9-4872-AC1F-523F61C369FA}" type="parTrans" cxnId="{C93C698A-0DD2-4AFF-B16A-A855212240CD}">
      <dgm:prSet/>
      <dgm:spPr/>
      <dgm:t>
        <a:bodyPr/>
        <a:lstStyle/>
        <a:p>
          <a:endParaRPr lang="ru-RU"/>
        </a:p>
      </dgm:t>
    </dgm:pt>
    <dgm:pt modelId="{473B25EA-37BD-4F82-B53B-70217C039718}" type="sibTrans" cxnId="{C93C698A-0DD2-4AFF-B16A-A855212240CD}">
      <dgm:prSet/>
      <dgm:spPr/>
      <dgm:t>
        <a:bodyPr/>
        <a:lstStyle/>
        <a:p>
          <a:endParaRPr lang="ru-RU"/>
        </a:p>
      </dgm:t>
    </dgm:pt>
    <dgm:pt modelId="{BD41072B-2158-4CCF-B336-9F7060B3F3DB}">
      <dgm:prSet/>
      <dgm:spPr/>
      <dgm:t>
        <a:bodyPr/>
        <a:lstStyle/>
        <a:p>
          <a:pPr rtl="0"/>
          <a:r>
            <a:rPr lang="ru-RU" b="1" dirty="0" smtClean="0"/>
            <a:t>Повременная</a:t>
          </a:r>
          <a:endParaRPr lang="ru-RU" b="1" dirty="0"/>
        </a:p>
      </dgm:t>
    </dgm:pt>
    <dgm:pt modelId="{9F9F1B0F-C666-49DD-AA5B-71EB8D382109}" type="parTrans" cxnId="{750F0027-E8AC-4029-BBEF-6C91C7FD66B4}">
      <dgm:prSet/>
      <dgm:spPr/>
      <dgm:t>
        <a:bodyPr/>
        <a:lstStyle/>
        <a:p>
          <a:endParaRPr lang="ru-RU"/>
        </a:p>
      </dgm:t>
    </dgm:pt>
    <dgm:pt modelId="{493161DE-6767-4F0C-AC58-EC17FF480956}" type="sibTrans" cxnId="{750F0027-E8AC-4029-BBEF-6C91C7FD66B4}">
      <dgm:prSet/>
      <dgm:spPr/>
      <dgm:t>
        <a:bodyPr/>
        <a:lstStyle/>
        <a:p>
          <a:endParaRPr lang="ru-RU"/>
        </a:p>
      </dgm:t>
    </dgm:pt>
    <dgm:pt modelId="{9C11ABD2-1BB7-45A4-AE5C-D2EBA844F32E}">
      <dgm:prSet custT="1"/>
      <dgm:spPr/>
      <dgm:t>
        <a:bodyPr/>
        <a:lstStyle/>
        <a:p>
          <a:pPr rtl="0"/>
          <a:r>
            <a:rPr lang="ru-RU" sz="1800" b="1" dirty="0" smtClean="0"/>
            <a:t>Сдельная</a:t>
          </a:r>
          <a:endParaRPr lang="ru-RU" sz="1800" b="1" dirty="0"/>
        </a:p>
      </dgm:t>
    </dgm:pt>
    <dgm:pt modelId="{B2093957-AFE5-4C2D-A5C5-7216074F15E6}" type="parTrans" cxnId="{6CC968A5-6704-41F3-8890-3B223E076087}">
      <dgm:prSet/>
      <dgm:spPr/>
      <dgm:t>
        <a:bodyPr/>
        <a:lstStyle/>
        <a:p>
          <a:endParaRPr lang="ru-RU"/>
        </a:p>
      </dgm:t>
    </dgm:pt>
    <dgm:pt modelId="{ABD38476-C9BE-4A17-AB25-929CED392669}" type="sibTrans" cxnId="{6CC968A5-6704-41F3-8890-3B223E076087}">
      <dgm:prSet/>
      <dgm:spPr/>
      <dgm:t>
        <a:bodyPr/>
        <a:lstStyle/>
        <a:p>
          <a:endParaRPr lang="ru-RU"/>
        </a:p>
      </dgm:t>
    </dgm:pt>
    <dgm:pt modelId="{502A0F7A-62D0-4588-98DC-FD80E4A7A1E9}">
      <dgm:prSet/>
      <dgm:spPr/>
      <dgm:t>
        <a:bodyPr/>
        <a:lstStyle/>
        <a:p>
          <a:pPr rtl="0"/>
          <a:r>
            <a:rPr lang="ru-RU" dirty="0" smtClean="0"/>
            <a:t>Система плавающих окладов</a:t>
          </a:r>
          <a:endParaRPr lang="ru-RU" dirty="0"/>
        </a:p>
      </dgm:t>
    </dgm:pt>
    <dgm:pt modelId="{C8F2A186-F3BB-438B-A841-E69E6CD2E027}" type="parTrans" cxnId="{BC347018-A0FE-46AF-B564-C5E670EA81C0}">
      <dgm:prSet/>
      <dgm:spPr/>
      <dgm:t>
        <a:bodyPr/>
        <a:lstStyle/>
        <a:p>
          <a:endParaRPr lang="ru-RU"/>
        </a:p>
      </dgm:t>
    </dgm:pt>
    <dgm:pt modelId="{7F706C8B-BF42-4B59-9BBA-0F6A1D8AB0D4}" type="sibTrans" cxnId="{BC347018-A0FE-46AF-B564-C5E670EA81C0}">
      <dgm:prSet/>
      <dgm:spPr/>
      <dgm:t>
        <a:bodyPr/>
        <a:lstStyle/>
        <a:p>
          <a:endParaRPr lang="ru-RU"/>
        </a:p>
      </dgm:t>
    </dgm:pt>
    <dgm:pt modelId="{F946D6CA-DA74-46B1-9801-E36E33BDC628}">
      <dgm:prSet/>
      <dgm:spPr/>
      <dgm:t>
        <a:bodyPr/>
        <a:lstStyle/>
        <a:p>
          <a:pPr rtl="0"/>
          <a:r>
            <a:rPr lang="ru-RU" dirty="0" smtClean="0"/>
            <a:t>Комиссионная</a:t>
          </a:r>
          <a:endParaRPr lang="ru-RU" dirty="0"/>
        </a:p>
      </dgm:t>
    </dgm:pt>
    <dgm:pt modelId="{DD8A2A39-F9DE-4006-8B04-75CFD04C5623}" type="parTrans" cxnId="{5F42EC7A-C732-4DBE-85E0-71C57E8473DF}">
      <dgm:prSet/>
      <dgm:spPr/>
      <dgm:t>
        <a:bodyPr/>
        <a:lstStyle/>
        <a:p>
          <a:endParaRPr lang="ru-RU"/>
        </a:p>
      </dgm:t>
    </dgm:pt>
    <dgm:pt modelId="{5A42042A-B1AB-4FD8-A776-9B1201BCEF82}" type="sibTrans" cxnId="{5F42EC7A-C732-4DBE-85E0-71C57E8473DF}">
      <dgm:prSet/>
      <dgm:spPr/>
      <dgm:t>
        <a:bodyPr/>
        <a:lstStyle/>
        <a:p>
          <a:endParaRPr lang="ru-RU"/>
        </a:p>
      </dgm:t>
    </dgm:pt>
    <dgm:pt modelId="{82E089CF-C8D9-4304-99A5-E89A9A0B5A5B}">
      <dgm:prSet/>
      <dgm:spPr/>
      <dgm:t>
        <a:bodyPr/>
        <a:lstStyle/>
        <a:p>
          <a:pPr rtl="0"/>
          <a:r>
            <a:rPr lang="ru-RU" dirty="0" smtClean="0"/>
            <a:t>Дилерский механизм</a:t>
          </a:r>
          <a:endParaRPr lang="ru-RU" dirty="0"/>
        </a:p>
      </dgm:t>
    </dgm:pt>
    <dgm:pt modelId="{0265A9C7-7CD4-4079-BA03-FF9C61B22D88}" type="parTrans" cxnId="{7E65C605-983E-4212-9B72-AF95FE891F0E}">
      <dgm:prSet/>
      <dgm:spPr/>
      <dgm:t>
        <a:bodyPr/>
        <a:lstStyle/>
        <a:p>
          <a:endParaRPr lang="ru-RU"/>
        </a:p>
      </dgm:t>
    </dgm:pt>
    <dgm:pt modelId="{1445FCBB-4027-4B44-B9A3-F11684787A36}" type="sibTrans" cxnId="{7E65C605-983E-4212-9B72-AF95FE891F0E}">
      <dgm:prSet/>
      <dgm:spPr/>
      <dgm:t>
        <a:bodyPr/>
        <a:lstStyle/>
        <a:p>
          <a:endParaRPr lang="ru-RU"/>
        </a:p>
      </dgm:t>
    </dgm:pt>
    <dgm:pt modelId="{931C20AD-882C-4FB8-84F8-67B65D6D0C81}">
      <dgm:prSet/>
      <dgm:spPr/>
      <dgm:t>
        <a:bodyPr/>
        <a:lstStyle/>
        <a:p>
          <a:pPr rtl="0"/>
          <a:r>
            <a:rPr lang="ru-RU" dirty="0" smtClean="0"/>
            <a:t>Простая повременная</a:t>
          </a:r>
          <a:endParaRPr lang="ru-RU" dirty="0"/>
        </a:p>
      </dgm:t>
    </dgm:pt>
    <dgm:pt modelId="{B34E18A0-D335-4796-B7AB-F03C1A59FACA}" type="parTrans" cxnId="{CEE30728-447B-4F21-A986-62A0F4A81CFF}">
      <dgm:prSet/>
      <dgm:spPr/>
      <dgm:t>
        <a:bodyPr/>
        <a:lstStyle/>
        <a:p>
          <a:endParaRPr lang="ru-RU"/>
        </a:p>
      </dgm:t>
    </dgm:pt>
    <dgm:pt modelId="{BE92DCC8-D17E-492B-9338-6CAF65357BAE}" type="sibTrans" cxnId="{CEE30728-447B-4F21-A986-62A0F4A81CFF}">
      <dgm:prSet/>
      <dgm:spPr/>
      <dgm:t>
        <a:bodyPr/>
        <a:lstStyle/>
        <a:p>
          <a:endParaRPr lang="ru-RU"/>
        </a:p>
      </dgm:t>
    </dgm:pt>
    <dgm:pt modelId="{81713E4C-A972-4FA5-99BA-5B135AC49617}">
      <dgm:prSet/>
      <dgm:spPr/>
      <dgm:t>
        <a:bodyPr/>
        <a:lstStyle/>
        <a:p>
          <a:pPr rtl="0"/>
          <a:r>
            <a:rPr lang="ru-RU" dirty="0" smtClean="0"/>
            <a:t>Повременно-премиальная</a:t>
          </a:r>
          <a:endParaRPr lang="ru-RU" dirty="0"/>
        </a:p>
      </dgm:t>
    </dgm:pt>
    <dgm:pt modelId="{D88B8802-A7E0-4DA7-89D8-FBCCFACD4196}" type="parTrans" cxnId="{D3432FEC-2140-4C53-A19E-A66EB921C1E5}">
      <dgm:prSet/>
      <dgm:spPr/>
      <dgm:t>
        <a:bodyPr/>
        <a:lstStyle/>
        <a:p>
          <a:endParaRPr lang="ru-RU"/>
        </a:p>
      </dgm:t>
    </dgm:pt>
    <dgm:pt modelId="{E8B72517-BFB3-4897-82F3-81736BD3C105}" type="sibTrans" cxnId="{D3432FEC-2140-4C53-A19E-A66EB921C1E5}">
      <dgm:prSet/>
      <dgm:spPr/>
      <dgm:t>
        <a:bodyPr/>
        <a:lstStyle/>
        <a:p>
          <a:endParaRPr lang="ru-RU"/>
        </a:p>
      </dgm:t>
    </dgm:pt>
    <dgm:pt modelId="{ECE7E8EB-EB5F-425A-BD9D-6DDAA51CA048}">
      <dgm:prSet/>
      <dgm:spPr/>
      <dgm:t>
        <a:bodyPr/>
        <a:lstStyle/>
        <a:p>
          <a:pPr rtl="0"/>
          <a:r>
            <a:rPr lang="ru-RU" dirty="0" smtClean="0"/>
            <a:t>окладная</a:t>
          </a:r>
          <a:endParaRPr lang="ru-RU" dirty="0"/>
        </a:p>
      </dgm:t>
    </dgm:pt>
    <dgm:pt modelId="{754A607E-9F7F-423D-8285-310C443D3B7D}" type="parTrans" cxnId="{C2436F0F-905C-4FE8-A08C-C885D6086D0A}">
      <dgm:prSet/>
      <dgm:spPr/>
      <dgm:t>
        <a:bodyPr/>
        <a:lstStyle/>
        <a:p>
          <a:endParaRPr lang="ru-RU"/>
        </a:p>
      </dgm:t>
    </dgm:pt>
    <dgm:pt modelId="{F474D49C-3F09-408F-8201-07F5DD558325}" type="sibTrans" cxnId="{C2436F0F-905C-4FE8-A08C-C885D6086D0A}">
      <dgm:prSet/>
      <dgm:spPr/>
      <dgm:t>
        <a:bodyPr/>
        <a:lstStyle/>
        <a:p>
          <a:endParaRPr lang="ru-RU"/>
        </a:p>
      </dgm:t>
    </dgm:pt>
    <dgm:pt modelId="{1E241BD8-FF4F-4A64-BF0B-DF8808CE5CF4}">
      <dgm:prSet custT="1"/>
      <dgm:spPr/>
      <dgm:t>
        <a:bodyPr/>
        <a:lstStyle/>
        <a:p>
          <a:pPr rtl="0"/>
          <a:r>
            <a:rPr lang="ru-RU" sz="1400" dirty="0" smtClean="0"/>
            <a:t>Прямая сдельная</a:t>
          </a:r>
          <a:endParaRPr lang="ru-RU" sz="1400" dirty="0"/>
        </a:p>
      </dgm:t>
    </dgm:pt>
    <dgm:pt modelId="{E8BD028C-58AD-4682-B070-24D0C2AF9506}" type="parTrans" cxnId="{C8407DFA-CAFC-4DFE-AE52-0D25A6354A4C}">
      <dgm:prSet/>
      <dgm:spPr/>
      <dgm:t>
        <a:bodyPr/>
        <a:lstStyle/>
        <a:p>
          <a:endParaRPr lang="ru-RU"/>
        </a:p>
      </dgm:t>
    </dgm:pt>
    <dgm:pt modelId="{1EBA32F0-8C4B-4B7D-94EA-5E3C22D4EA25}" type="sibTrans" cxnId="{C8407DFA-CAFC-4DFE-AE52-0D25A6354A4C}">
      <dgm:prSet/>
      <dgm:spPr/>
      <dgm:t>
        <a:bodyPr/>
        <a:lstStyle/>
        <a:p>
          <a:endParaRPr lang="ru-RU"/>
        </a:p>
      </dgm:t>
    </dgm:pt>
    <dgm:pt modelId="{0CC02D8A-6C51-4CAD-96AC-35ED31E007F0}">
      <dgm:prSet custT="1"/>
      <dgm:spPr/>
      <dgm:t>
        <a:bodyPr/>
        <a:lstStyle/>
        <a:p>
          <a:pPr rtl="0"/>
          <a:r>
            <a:rPr lang="ru-RU" sz="1400" dirty="0" smtClean="0"/>
            <a:t>Сдельно-прогрессивная</a:t>
          </a:r>
          <a:endParaRPr lang="ru-RU" sz="1400" dirty="0"/>
        </a:p>
      </dgm:t>
    </dgm:pt>
    <dgm:pt modelId="{57AF6407-45A3-4E93-A145-FB3700B2B7A8}" type="parTrans" cxnId="{EA3F7C42-7490-4DC2-8839-5AB7174E3766}">
      <dgm:prSet/>
      <dgm:spPr/>
      <dgm:t>
        <a:bodyPr/>
        <a:lstStyle/>
        <a:p>
          <a:endParaRPr lang="ru-RU"/>
        </a:p>
      </dgm:t>
    </dgm:pt>
    <dgm:pt modelId="{96616624-0559-43DB-9F3F-287E1D542CF6}" type="sibTrans" cxnId="{EA3F7C42-7490-4DC2-8839-5AB7174E3766}">
      <dgm:prSet/>
      <dgm:spPr/>
      <dgm:t>
        <a:bodyPr/>
        <a:lstStyle/>
        <a:p>
          <a:endParaRPr lang="ru-RU"/>
        </a:p>
      </dgm:t>
    </dgm:pt>
    <dgm:pt modelId="{A9085B35-2511-49C6-9CFB-A4DBA857A050}">
      <dgm:prSet custT="1"/>
      <dgm:spPr/>
      <dgm:t>
        <a:bodyPr/>
        <a:lstStyle/>
        <a:p>
          <a:pPr rtl="0"/>
          <a:r>
            <a:rPr lang="ru-RU" sz="1400" dirty="0" smtClean="0"/>
            <a:t>Сдельно- премиальная</a:t>
          </a:r>
          <a:endParaRPr lang="ru-RU" sz="1400" dirty="0"/>
        </a:p>
      </dgm:t>
    </dgm:pt>
    <dgm:pt modelId="{B947AAD2-C477-4E69-ADA5-857DC566EB36}" type="parTrans" cxnId="{C3B9BE34-B1E5-4789-ABCA-BD05441652DE}">
      <dgm:prSet/>
      <dgm:spPr/>
      <dgm:t>
        <a:bodyPr/>
        <a:lstStyle/>
        <a:p>
          <a:endParaRPr lang="ru-RU"/>
        </a:p>
      </dgm:t>
    </dgm:pt>
    <dgm:pt modelId="{3496C89E-0C0D-4DC9-8ED5-B809F1A88B5B}" type="sibTrans" cxnId="{C3B9BE34-B1E5-4789-ABCA-BD05441652DE}">
      <dgm:prSet/>
      <dgm:spPr/>
      <dgm:t>
        <a:bodyPr/>
        <a:lstStyle/>
        <a:p>
          <a:endParaRPr lang="ru-RU"/>
        </a:p>
      </dgm:t>
    </dgm:pt>
    <dgm:pt modelId="{4EF751EA-73F8-4C47-97C0-805BECF47250}">
      <dgm:prSet custT="1"/>
      <dgm:spPr/>
      <dgm:t>
        <a:bodyPr/>
        <a:lstStyle/>
        <a:p>
          <a:pPr rtl="0"/>
          <a:r>
            <a:rPr lang="ru-RU" sz="1400" dirty="0" smtClean="0"/>
            <a:t>Косвенно-сдельная</a:t>
          </a:r>
          <a:endParaRPr lang="ru-RU" sz="1400" dirty="0"/>
        </a:p>
      </dgm:t>
    </dgm:pt>
    <dgm:pt modelId="{EFDD0136-A26F-4A33-9CDF-620EB2FC9C9A}" type="parTrans" cxnId="{67724105-3A92-4863-BED5-7CC0B2D5A6F8}">
      <dgm:prSet/>
      <dgm:spPr/>
      <dgm:t>
        <a:bodyPr/>
        <a:lstStyle/>
        <a:p>
          <a:endParaRPr lang="ru-RU"/>
        </a:p>
      </dgm:t>
    </dgm:pt>
    <dgm:pt modelId="{97A4FCFE-854C-4A8E-AC2C-CE9336528B0C}" type="sibTrans" cxnId="{67724105-3A92-4863-BED5-7CC0B2D5A6F8}">
      <dgm:prSet/>
      <dgm:spPr/>
      <dgm:t>
        <a:bodyPr/>
        <a:lstStyle/>
        <a:p>
          <a:endParaRPr lang="ru-RU"/>
        </a:p>
      </dgm:t>
    </dgm:pt>
    <dgm:pt modelId="{B2FF13F1-F2CC-441C-BC96-188863DD896D}">
      <dgm:prSet custT="1"/>
      <dgm:spPr/>
      <dgm:t>
        <a:bodyPr/>
        <a:lstStyle/>
        <a:p>
          <a:pPr rtl="0"/>
          <a:r>
            <a:rPr lang="ru-RU" sz="1400" dirty="0" smtClean="0"/>
            <a:t>Аккордная индивидуальная </a:t>
          </a:r>
          <a:endParaRPr lang="ru-RU" sz="1400" dirty="0"/>
        </a:p>
      </dgm:t>
    </dgm:pt>
    <dgm:pt modelId="{0630E233-57DD-43AC-A79A-CA6828402581}" type="parTrans" cxnId="{02BAE181-3870-48AA-9106-D5D01A682567}">
      <dgm:prSet/>
      <dgm:spPr/>
      <dgm:t>
        <a:bodyPr/>
        <a:lstStyle/>
        <a:p>
          <a:endParaRPr lang="ru-RU"/>
        </a:p>
      </dgm:t>
    </dgm:pt>
    <dgm:pt modelId="{74D3CE01-CCEA-44C5-8BA4-C6A266823921}" type="sibTrans" cxnId="{02BAE181-3870-48AA-9106-D5D01A682567}">
      <dgm:prSet/>
      <dgm:spPr/>
      <dgm:t>
        <a:bodyPr/>
        <a:lstStyle/>
        <a:p>
          <a:endParaRPr lang="ru-RU"/>
        </a:p>
      </dgm:t>
    </dgm:pt>
    <dgm:pt modelId="{1ADFACE6-9417-4738-A30E-BB6A48FBDE57}">
      <dgm:prSet custT="1"/>
      <dgm:spPr/>
      <dgm:t>
        <a:bodyPr/>
        <a:lstStyle/>
        <a:p>
          <a:pPr rtl="0"/>
          <a:r>
            <a:rPr lang="ru-RU" sz="1400" dirty="0" smtClean="0"/>
            <a:t>Аккордная коллективная</a:t>
          </a:r>
          <a:endParaRPr lang="ru-RU" sz="1400" dirty="0"/>
        </a:p>
      </dgm:t>
    </dgm:pt>
    <dgm:pt modelId="{CFD73679-14DB-43F1-957F-50EBE7E3035B}" type="parTrans" cxnId="{93AD0F4B-3F45-440E-977B-A308D4ADDC9A}">
      <dgm:prSet/>
      <dgm:spPr/>
      <dgm:t>
        <a:bodyPr/>
        <a:lstStyle/>
        <a:p>
          <a:endParaRPr lang="ru-RU"/>
        </a:p>
      </dgm:t>
    </dgm:pt>
    <dgm:pt modelId="{EF4FCD44-60E5-4E69-9D63-AF104B34CBC2}" type="sibTrans" cxnId="{93AD0F4B-3F45-440E-977B-A308D4ADDC9A}">
      <dgm:prSet/>
      <dgm:spPr/>
      <dgm:t>
        <a:bodyPr/>
        <a:lstStyle/>
        <a:p>
          <a:endParaRPr lang="ru-RU"/>
        </a:p>
      </dgm:t>
    </dgm:pt>
    <dgm:pt modelId="{4EDBE819-1A1E-45DC-BE63-3A4087A0B4A6}">
      <dgm:prSet/>
      <dgm:spPr/>
      <dgm:t>
        <a:bodyPr/>
        <a:lstStyle/>
        <a:p>
          <a:r>
            <a:rPr lang="ru-RU" b="0" i="0" dirty="0" smtClean="0">
              <a:solidFill>
                <a:schemeClr val="tx1"/>
              </a:solidFill>
            </a:rPr>
            <a:t>форма расчёта заработной платы, при которой </a:t>
          </a:r>
          <a:r>
            <a:rPr lang="ru-RU" b="1" i="0" dirty="0" smtClean="0">
              <a:solidFill>
                <a:schemeClr val="tx1"/>
              </a:solidFill>
            </a:rPr>
            <a:t>доход каждого члена коллектива пропорционален его вкладу в общий результат работы</a:t>
          </a:r>
          <a:r>
            <a:rPr lang="ru-RU" b="0" i="0" dirty="0" smtClean="0">
              <a:solidFill>
                <a:schemeClr val="tx1"/>
              </a:solidFill>
            </a:rPr>
            <a:t>. При такой системе отсутствуют твёрдые тарифные ставки и оклады, а заработная плата каждого сотрудника — </a:t>
          </a:r>
          <a:r>
            <a:rPr lang="ru-RU" b="1" i="0" dirty="0" smtClean="0">
              <a:solidFill>
                <a:schemeClr val="tx1"/>
              </a:solidFill>
            </a:rPr>
            <a:t>доля в общем фонде оплаты труда</a:t>
          </a:r>
          <a:r>
            <a:rPr lang="ru-RU" b="0" i="0" dirty="0" smtClean="0">
              <a:solidFill>
                <a:schemeClr val="tx1"/>
              </a:solidFill>
            </a:rPr>
            <a:t>. </a:t>
          </a:r>
          <a:r>
            <a:rPr lang="ru-RU" b="0" dirty="0" smtClean="0">
              <a:solidFill>
                <a:schemeClr val="tx1"/>
              </a:solidFill>
              <a:hlinkClick xmlns:r="http://schemas.openxmlformats.org/officeDocument/2006/relationships" r:id="rId1"/>
            </a:rPr>
            <a:t/>
          </a:r>
          <a:br>
            <a:rPr lang="ru-RU" b="0" dirty="0" smtClean="0">
              <a:solidFill>
                <a:schemeClr val="tx1"/>
              </a:solidFill>
              <a:hlinkClick xmlns:r="http://schemas.openxmlformats.org/officeDocument/2006/relationships" r:id="rId1"/>
            </a:rPr>
          </a:br>
          <a:endParaRPr lang="ru-RU" dirty="0">
            <a:solidFill>
              <a:schemeClr val="tx1"/>
            </a:solidFill>
          </a:endParaRPr>
        </a:p>
      </dgm:t>
    </dgm:pt>
    <dgm:pt modelId="{B940A872-845F-4809-A57C-D1780DD0BAC0}" type="parTrans" cxnId="{1372E32C-8C95-4DA9-B853-EB45E4C29169}">
      <dgm:prSet/>
      <dgm:spPr/>
      <dgm:t>
        <a:bodyPr/>
        <a:lstStyle/>
        <a:p>
          <a:endParaRPr lang="ru-RU"/>
        </a:p>
      </dgm:t>
    </dgm:pt>
    <dgm:pt modelId="{A3FE6F50-946B-4C24-AF45-3F05053927E1}" type="sibTrans" cxnId="{1372E32C-8C95-4DA9-B853-EB45E4C29169}">
      <dgm:prSet/>
      <dgm:spPr/>
      <dgm:t>
        <a:bodyPr/>
        <a:lstStyle/>
        <a:p>
          <a:endParaRPr lang="ru-RU"/>
        </a:p>
      </dgm:t>
    </dgm:pt>
    <dgm:pt modelId="{EC810306-6789-44CB-8B51-2A74B2780D85}" type="pres">
      <dgm:prSet presAssocID="{BF08A93D-C36C-4DBF-84ED-5E143AFE687F}" presName="theList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15FDC461-90E9-4E2E-9AFA-C4EA59CA5111}" type="pres">
      <dgm:prSet presAssocID="{5132436E-F319-4B3B-9B00-5DF5647A7EBA}" presName="compNode" presStyleCnt="0"/>
      <dgm:spPr/>
    </dgm:pt>
    <dgm:pt modelId="{F0927BBD-5F4B-4BE3-B95F-69BE404F9C21}" type="pres">
      <dgm:prSet presAssocID="{5132436E-F319-4B3B-9B00-5DF5647A7EBA}" presName="aNode" presStyleLbl="bgShp" presStyleIdx="0" presStyleCnt="3"/>
      <dgm:spPr/>
      <dgm:t>
        <a:bodyPr/>
        <a:lstStyle/>
        <a:p>
          <a:endParaRPr lang="ru-RU"/>
        </a:p>
      </dgm:t>
    </dgm:pt>
    <dgm:pt modelId="{8E8750A3-34C5-4C75-9983-0708186A7228}" type="pres">
      <dgm:prSet presAssocID="{5132436E-F319-4B3B-9B00-5DF5647A7EBA}" presName="textNode" presStyleLbl="bgShp" presStyleIdx="0" presStyleCnt="3"/>
      <dgm:spPr/>
      <dgm:t>
        <a:bodyPr/>
        <a:lstStyle/>
        <a:p>
          <a:endParaRPr lang="ru-RU"/>
        </a:p>
      </dgm:t>
    </dgm:pt>
    <dgm:pt modelId="{0C9DB728-7D48-4F97-A6FB-871A5AC06507}" type="pres">
      <dgm:prSet presAssocID="{5132436E-F319-4B3B-9B00-5DF5647A7EBA}" presName="compChildNode" presStyleCnt="0"/>
      <dgm:spPr/>
    </dgm:pt>
    <dgm:pt modelId="{4D2BF6B9-F841-4729-8C91-2987C2EC44C2}" type="pres">
      <dgm:prSet presAssocID="{5132436E-F319-4B3B-9B00-5DF5647A7EBA}" presName="theInnerList" presStyleCnt="0"/>
      <dgm:spPr/>
    </dgm:pt>
    <dgm:pt modelId="{3C031D02-E7A2-4FF9-B097-F01D32272FF4}" type="pres">
      <dgm:prSet presAssocID="{BD41072B-2158-4CCF-B336-9F7060B3F3DB}" presName="childNode" presStyleLbl="node1" presStyleIdx="0" presStyleCnt="6" custScaleX="125096" custScaleY="11357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A0D118C-36D6-4547-8A35-F51CF3003C50}" type="pres">
      <dgm:prSet presAssocID="{BD41072B-2158-4CCF-B336-9F7060B3F3DB}" presName="aSpace2" presStyleCnt="0"/>
      <dgm:spPr/>
    </dgm:pt>
    <dgm:pt modelId="{6C6FE253-2AB9-42BB-83D1-CDA33DF1ACA9}" type="pres">
      <dgm:prSet presAssocID="{9C11ABD2-1BB7-45A4-AE5C-D2EBA844F32E}" presName="childNode" presStyleLbl="node1" presStyleIdx="1" presStyleCnt="6" custScaleX="120790" custScaleY="18741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B0174CE-8E55-4142-A694-AA60BF0B3932}" type="pres">
      <dgm:prSet presAssocID="{5132436E-F319-4B3B-9B00-5DF5647A7EBA}" presName="aSpace" presStyleCnt="0"/>
      <dgm:spPr/>
    </dgm:pt>
    <dgm:pt modelId="{78FC6FA2-47E6-4411-8A39-8CF3B04E6C30}" type="pres">
      <dgm:prSet presAssocID="{6B74026A-D9DF-4605-A7E6-CF6883ECA4D5}" presName="compNode" presStyleCnt="0"/>
      <dgm:spPr/>
    </dgm:pt>
    <dgm:pt modelId="{5A74D1B8-468E-4C0B-93F3-297D262F3534}" type="pres">
      <dgm:prSet presAssocID="{6B74026A-D9DF-4605-A7E6-CF6883ECA4D5}" presName="aNode" presStyleLbl="bgShp" presStyleIdx="1" presStyleCnt="3"/>
      <dgm:spPr/>
      <dgm:t>
        <a:bodyPr/>
        <a:lstStyle/>
        <a:p>
          <a:endParaRPr lang="ru-RU"/>
        </a:p>
      </dgm:t>
    </dgm:pt>
    <dgm:pt modelId="{C5CAA06A-AC91-4AC2-BF0F-361DDDBBFF0A}" type="pres">
      <dgm:prSet presAssocID="{6B74026A-D9DF-4605-A7E6-CF6883ECA4D5}" presName="textNode" presStyleLbl="bgShp" presStyleIdx="1" presStyleCnt="3"/>
      <dgm:spPr/>
      <dgm:t>
        <a:bodyPr/>
        <a:lstStyle/>
        <a:p>
          <a:endParaRPr lang="ru-RU"/>
        </a:p>
      </dgm:t>
    </dgm:pt>
    <dgm:pt modelId="{0B440EEA-805E-45B8-A113-C0C3241A5B34}" type="pres">
      <dgm:prSet presAssocID="{6B74026A-D9DF-4605-A7E6-CF6883ECA4D5}" presName="compChildNode" presStyleCnt="0"/>
      <dgm:spPr/>
    </dgm:pt>
    <dgm:pt modelId="{CF9FD841-056C-422C-B93A-1041CB57A489}" type="pres">
      <dgm:prSet presAssocID="{6B74026A-D9DF-4605-A7E6-CF6883ECA4D5}" presName="theInnerList" presStyleCnt="0"/>
      <dgm:spPr/>
    </dgm:pt>
    <dgm:pt modelId="{734F8AB1-EE58-442D-9694-D06E4C8DD22A}" type="pres">
      <dgm:prSet presAssocID="{4EDBE819-1A1E-45DC-BE63-3A4087A0B4A6}" presName="childNode" presStyleLbl="node1" presStyleIdx="2" presStyleCnt="6" custLinFactNeighborX="-48" custLinFactNeighborY="-29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B649752-CF71-443E-913E-BE316BFC23DD}" type="pres">
      <dgm:prSet presAssocID="{6B74026A-D9DF-4605-A7E6-CF6883ECA4D5}" presName="aSpace" presStyleCnt="0"/>
      <dgm:spPr/>
    </dgm:pt>
    <dgm:pt modelId="{4DD4180B-E88D-49C1-A8DC-38461DE9960C}" type="pres">
      <dgm:prSet presAssocID="{3F0487AD-A0C2-459D-826F-27DCDCB6C37C}" presName="compNode" presStyleCnt="0"/>
      <dgm:spPr/>
    </dgm:pt>
    <dgm:pt modelId="{014C08AF-6346-47B7-B530-C379D42F5F50}" type="pres">
      <dgm:prSet presAssocID="{3F0487AD-A0C2-459D-826F-27DCDCB6C37C}" presName="aNode" presStyleLbl="bgShp" presStyleIdx="2" presStyleCnt="3"/>
      <dgm:spPr/>
      <dgm:t>
        <a:bodyPr/>
        <a:lstStyle/>
        <a:p>
          <a:endParaRPr lang="ru-RU"/>
        </a:p>
      </dgm:t>
    </dgm:pt>
    <dgm:pt modelId="{C6F3C938-A72A-4FF3-9C1C-3C0E00B2E0FC}" type="pres">
      <dgm:prSet presAssocID="{3F0487AD-A0C2-459D-826F-27DCDCB6C37C}" presName="textNode" presStyleLbl="bgShp" presStyleIdx="2" presStyleCnt="3"/>
      <dgm:spPr/>
      <dgm:t>
        <a:bodyPr/>
        <a:lstStyle/>
        <a:p>
          <a:endParaRPr lang="ru-RU"/>
        </a:p>
      </dgm:t>
    </dgm:pt>
    <dgm:pt modelId="{96176E4F-8798-4215-9944-74B25B902B4D}" type="pres">
      <dgm:prSet presAssocID="{3F0487AD-A0C2-459D-826F-27DCDCB6C37C}" presName="compChildNode" presStyleCnt="0"/>
      <dgm:spPr/>
    </dgm:pt>
    <dgm:pt modelId="{A62B2B77-7FBD-429E-B7A4-F8A7EFBE91CD}" type="pres">
      <dgm:prSet presAssocID="{3F0487AD-A0C2-459D-826F-27DCDCB6C37C}" presName="theInnerList" presStyleCnt="0"/>
      <dgm:spPr/>
    </dgm:pt>
    <dgm:pt modelId="{2EB2A12A-780A-4A00-A916-DBA4544344E1}" type="pres">
      <dgm:prSet presAssocID="{502A0F7A-62D0-4588-98DC-FD80E4A7A1E9}" presName="child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F9F7EDA-0FB5-421A-B6A1-C08BD43FC2BE}" type="pres">
      <dgm:prSet presAssocID="{502A0F7A-62D0-4588-98DC-FD80E4A7A1E9}" presName="aSpace2" presStyleCnt="0"/>
      <dgm:spPr/>
    </dgm:pt>
    <dgm:pt modelId="{F672EA77-6CF3-48DC-A606-E2B1C734FB89}" type="pres">
      <dgm:prSet presAssocID="{F946D6CA-DA74-46B1-9801-E36E33BDC628}" presName="child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3D958B5-7375-4118-B2D7-3AD2E2682B98}" type="pres">
      <dgm:prSet presAssocID="{F946D6CA-DA74-46B1-9801-E36E33BDC628}" presName="aSpace2" presStyleCnt="0"/>
      <dgm:spPr/>
    </dgm:pt>
    <dgm:pt modelId="{8BD02FD6-582D-4063-921B-21E871F7DEE7}" type="pres">
      <dgm:prSet presAssocID="{82E089CF-C8D9-4304-99A5-E89A9A0B5A5B}" presName="child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A7EC6A1E-223A-4975-90A8-62D3B9ACE422}" type="presOf" srcId="{81713E4C-A972-4FA5-99BA-5B135AC49617}" destId="{3C031D02-E7A2-4FF9-B097-F01D32272FF4}" srcOrd="0" destOrd="2" presId="urn:microsoft.com/office/officeart/2005/8/layout/lProcess2"/>
    <dgm:cxn modelId="{6CC968A5-6704-41F3-8890-3B223E076087}" srcId="{5132436E-F319-4B3B-9B00-5DF5647A7EBA}" destId="{9C11ABD2-1BB7-45A4-AE5C-D2EBA844F32E}" srcOrd="1" destOrd="0" parTransId="{B2093957-AFE5-4C2D-A5C5-7216074F15E6}" sibTransId="{ABD38476-C9BE-4A17-AB25-929CED392669}"/>
    <dgm:cxn modelId="{5F42EC7A-C732-4DBE-85E0-71C57E8473DF}" srcId="{3F0487AD-A0C2-459D-826F-27DCDCB6C37C}" destId="{F946D6CA-DA74-46B1-9801-E36E33BDC628}" srcOrd="1" destOrd="0" parTransId="{DD8A2A39-F9DE-4006-8B04-75CFD04C5623}" sibTransId="{5A42042A-B1AB-4FD8-A776-9B1201BCEF82}"/>
    <dgm:cxn modelId="{846E5740-FEC1-4E24-B663-4149AE35FEF4}" type="presOf" srcId="{F946D6CA-DA74-46B1-9801-E36E33BDC628}" destId="{F672EA77-6CF3-48DC-A606-E2B1C734FB89}" srcOrd="0" destOrd="0" presId="urn:microsoft.com/office/officeart/2005/8/layout/lProcess2"/>
    <dgm:cxn modelId="{BCD29946-7084-4A66-983F-59C2C33477E7}" type="presOf" srcId="{A9085B35-2511-49C6-9CFB-A4DBA857A050}" destId="{6C6FE253-2AB9-42BB-83D1-CDA33DF1ACA9}" srcOrd="0" destOrd="3" presId="urn:microsoft.com/office/officeart/2005/8/layout/lProcess2"/>
    <dgm:cxn modelId="{4154530F-1479-4950-A52A-765367526F13}" type="presOf" srcId="{6B74026A-D9DF-4605-A7E6-CF6883ECA4D5}" destId="{5A74D1B8-468E-4C0B-93F3-297D262F3534}" srcOrd="0" destOrd="0" presId="urn:microsoft.com/office/officeart/2005/8/layout/lProcess2"/>
    <dgm:cxn modelId="{1E39156B-3E59-4AB2-9E67-CC45B60B6742}" type="presOf" srcId="{0CC02D8A-6C51-4CAD-96AC-35ED31E007F0}" destId="{6C6FE253-2AB9-42BB-83D1-CDA33DF1ACA9}" srcOrd="0" destOrd="2" presId="urn:microsoft.com/office/officeart/2005/8/layout/lProcess2"/>
    <dgm:cxn modelId="{A22757AF-1E97-49DB-9B2A-F94E820C3E65}" type="presOf" srcId="{4EDBE819-1A1E-45DC-BE63-3A4087A0B4A6}" destId="{734F8AB1-EE58-442D-9694-D06E4C8DD22A}" srcOrd="0" destOrd="0" presId="urn:microsoft.com/office/officeart/2005/8/layout/lProcess2"/>
    <dgm:cxn modelId="{89D335E7-5AD6-4131-A485-13E31DCC6CB6}" type="presOf" srcId="{931C20AD-882C-4FB8-84F8-67B65D6D0C81}" destId="{3C031D02-E7A2-4FF9-B097-F01D32272FF4}" srcOrd="0" destOrd="1" presId="urn:microsoft.com/office/officeart/2005/8/layout/lProcess2"/>
    <dgm:cxn modelId="{7E65C605-983E-4212-9B72-AF95FE891F0E}" srcId="{3F0487AD-A0C2-459D-826F-27DCDCB6C37C}" destId="{82E089CF-C8D9-4304-99A5-E89A9A0B5A5B}" srcOrd="2" destOrd="0" parTransId="{0265A9C7-7CD4-4079-BA03-FF9C61B22D88}" sibTransId="{1445FCBB-4027-4B44-B9A3-F11684787A36}"/>
    <dgm:cxn modelId="{532AA4A2-2959-41FF-B8D0-C40E1C7B3E8B}" type="presOf" srcId="{502A0F7A-62D0-4588-98DC-FD80E4A7A1E9}" destId="{2EB2A12A-780A-4A00-A916-DBA4544344E1}" srcOrd="0" destOrd="0" presId="urn:microsoft.com/office/officeart/2005/8/layout/lProcess2"/>
    <dgm:cxn modelId="{C93C698A-0DD2-4AFF-B16A-A855212240CD}" srcId="{BF08A93D-C36C-4DBF-84ED-5E143AFE687F}" destId="{3F0487AD-A0C2-459D-826F-27DCDCB6C37C}" srcOrd="2" destOrd="0" parTransId="{733D95E2-F1F9-4872-AC1F-523F61C369FA}" sibTransId="{473B25EA-37BD-4F82-B53B-70217C039718}"/>
    <dgm:cxn modelId="{0FFD017D-445F-4230-AD62-C85E7098664E}" srcId="{BF08A93D-C36C-4DBF-84ED-5E143AFE687F}" destId="{5132436E-F319-4B3B-9B00-5DF5647A7EBA}" srcOrd="0" destOrd="0" parTransId="{10BA4E49-C67C-44E6-A5DC-7FE143F806B9}" sibTransId="{44B3208A-07A7-439A-B70D-305D709A511A}"/>
    <dgm:cxn modelId="{C8407DFA-CAFC-4DFE-AE52-0D25A6354A4C}" srcId="{9C11ABD2-1BB7-45A4-AE5C-D2EBA844F32E}" destId="{1E241BD8-FF4F-4A64-BF0B-DF8808CE5CF4}" srcOrd="0" destOrd="0" parTransId="{E8BD028C-58AD-4682-B070-24D0C2AF9506}" sibTransId="{1EBA32F0-8C4B-4B7D-94EA-5E3C22D4EA25}"/>
    <dgm:cxn modelId="{FC814A9C-39D3-43C7-AF3A-C773CFCC60A3}" type="presOf" srcId="{ECE7E8EB-EB5F-425A-BD9D-6DDAA51CA048}" destId="{3C031D02-E7A2-4FF9-B097-F01D32272FF4}" srcOrd="0" destOrd="3" presId="urn:microsoft.com/office/officeart/2005/8/layout/lProcess2"/>
    <dgm:cxn modelId="{67724105-3A92-4863-BED5-7CC0B2D5A6F8}" srcId="{9C11ABD2-1BB7-45A4-AE5C-D2EBA844F32E}" destId="{4EF751EA-73F8-4C47-97C0-805BECF47250}" srcOrd="3" destOrd="0" parTransId="{EFDD0136-A26F-4A33-9CDF-620EB2FC9C9A}" sibTransId="{97A4FCFE-854C-4A8E-AC2C-CE9336528B0C}"/>
    <dgm:cxn modelId="{1372E32C-8C95-4DA9-B853-EB45E4C29169}" srcId="{6B74026A-D9DF-4605-A7E6-CF6883ECA4D5}" destId="{4EDBE819-1A1E-45DC-BE63-3A4087A0B4A6}" srcOrd="0" destOrd="0" parTransId="{B940A872-845F-4809-A57C-D1780DD0BAC0}" sibTransId="{A3FE6F50-946B-4C24-AF45-3F05053927E1}"/>
    <dgm:cxn modelId="{08F6EF7F-8955-4E84-BB7F-FBB6955FF765}" type="presOf" srcId="{9C11ABD2-1BB7-45A4-AE5C-D2EBA844F32E}" destId="{6C6FE253-2AB9-42BB-83D1-CDA33DF1ACA9}" srcOrd="0" destOrd="0" presId="urn:microsoft.com/office/officeart/2005/8/layout/lProcess2"/>
    <dgm:cxn modelId="{B4B3E861-D08F-46EE-B02F-72190EF4509B}" srcId="{BF08A93D-C36C-4DBF-84ED-5E143AFE687F}" destId="{6B74026A-D9DF-4605-A7E6-CF6883ECA4D5}" srcOrd="1" destOrd="0" parTransId="{DD58219F-113B-42B2-B1D9-7547113534CA}" sibTransId="{5F819E45-C734-435F-B0C6-DD19094AA343}"/>
    <dgm:cxn modelId="{3CFD62AF-5C88-45CB-8B2B-7E37EAA21917}" type="presOf" srcId="{1ADFACE6-9417-4738-A30E-BB6A48FBDE57}" destId="{6C6FE253-2AB9-42BB-83D1-CDA33DF1ACA9}" srcOrd="0" destOrd="6" presId="urn:microsoft.com/office/officeart/2005/8/layout/lProcess2"/>
    <dgm:cxn modelId="{93AD0F4B-3F45-440E-977B-A308D4ADDC9A}" srcId="{9C11ABD2-1BB7-45A4-AE5C-D2EBA844F32E}" destId="{1ADFACE6-9417-4738-A30E-BB6A48FBDE57}" srcOrd="5" destOrd="0" parTransId="{CFD73679-14DB-43F1-957F-50EBE7E3035B}" sibTransId="{EF4FCD44-60E5-4E69-9D63-AF104B34CBC2}"/>
    <dgm:cxn modelId="{950F385B-416E-4076-84E4-D36A33F9F471}" type="presOf" srcId="{6B74026A-D9DF-4605-A7E6-CF6883ECA4D5}" destId="{C5CAA06A-AC91-4AC2-BF0F-361DDDBBFF0A}" srcOrd="1" destOrd="0" presId="urn:microsoft.com/office/officeart/2005/8/layout/lProcess2"/>
    <dgm:cxn modelId="{02BAE181-3870-48AA-9106-D5D01A682567}" srcId="{9C11ABD2-1BB7-45A4-AE5C-D2EBA844F32E}" destId="{B2FF13F1-F2CC-441C-BC96-188863DD896D}" srcOrd="4" destOrd="0" parTransId="{0630E233-57DD-43AC-A79A-CA6828402581}" sibTransId="{74D3CE01-CCEA-44C5-8BA4-C6A266823921}"/>
    <dgm:cxn modelId="{CCFC1A29-8EF6-420C-89EE-06483C0A120A}" type="presOf" srcId="{82E089CF-C8D9-4304-99A5-E89A9A0B5A5B}" destId="{8BD02FD6-582D-4063-921B-21E871F7DEE7}" srcOrd="0" destOrd="0" presId="urn:microsoft.com/office/officeart/2005/8/layout/lProcess2"/>
    <dgm:cxn modelId="{F3B6B301-DC9E-44C8-AA1E-E10254B87241}" type="presOf" srcId="{1E241BD8-FF4F-4A64-BF0B-DF8808CE5CF4}" destId="{6C6FE253-2AB9-42BB-83D1-CDA33DF1ACA9}" srcOrd="0" destOrd="1" presId="urn:microsoft.com/office/officeart/2005/8/layout/lProcess2"/>
    <dgm:cxn modelId="{EE61CC6F-12F6-4F0B-9880-CDA7CEDEFBD8}" type="presOf" srcId="{B2FF13F1-F2CC-441C-BC96-188863DD896D}" destId="{6C6FE253-2AB9-42BB-83D1-CDA33DF1ACA9}" srcOrd="0" destOrd="5" presId="urn:microsoft.com/office/officeart/2005/8/layout/lProcess2"/>
    <dgm:cxn modelId="{CEE30728-447B-4F21-A986-62A0F4A81CFF}" srcId="{BD41072B-2158-4CCF-B336-9F7060B3F3DB}" destId="{931C20AD-882C-4FB8-84F8-67B65D6D0C81}" srcOrd="0" destOrd="0" parTransId="{B34E18A0-D335-4796-B7AB-F03C1A59FACA}" sibTransId="{BE92DCC8-D17E-492B-9338-6CAF65357BAE}"/>
    <dgm:cxn modelId="{C2436F0F-905C-4FE8-A08C-C885D6086D0A}" srcId="{BD41072B-2158-4CCF-B336-9F7060B3F3DB}" destId="{ECE7E8EB-EB5F-425A-BD9D-6DDAA51CA048}" srcOrd="2" destOrd="0" parTransId="{754A607E-9F7F-423D-8285-310C443D3B7D}" sibTransId="{F474D49C-3F09-408F-8201-07F5DD558325}"/>
    <dgm:cxn modelId="{77204BC4-A665-430D-ABDF-862CA7EDD30D}" type="presOf" srcId="{BF08A93D-C36C-4DBF-84ED-5E143AFE687F}" destId="{EC810306-6789-44CB-8B51-2A74B2780D85}" srcOrd="0" destOrd="0" presId="urn:microsoft.com/office/officeart/2005/8/layout/lProcess2"/>
    <dgm:cxn modelId="{330D3AAC-4012-4B04-9C9E-C07D0B948C5F}" type="presOf" srcId="{3F0487AD-A0C2-459D-826F-27DCDCB6C37C}" destId="{014C08AF-6346-47B7-B530-C379D42F5F50}" srcOrd="0" destOrd="0" presId="urn:microsoft.com/office/officeart/2005/8/layout/lProcess2"/>
    <dgm:cxn modelId="{750F0027-E8AC-4029-BBEF-6C91C7FD66B4}" srcId="{5132436E-F319-4B3B-9B00-5DF5647A7EBA}" destId="{BD41072B-2158-4CCF-B336-9F7060B3F3DB}" srcOrd="0" destOrd="0" parTransId="{9F9F1B0F-C666-49DD-AA5B-71EB8D382109}" sibTransId="{493161DE-6767-4F0C-AC58-EC17FF480956}"/>
    <dgm:cxn modelId="{EA3F7C42-7490-4DC2-8839-5AB7174E3766}" srcId="{9C11ABD2-1BB7-45A4-AE5C-D2EBA844F32E}" destId="{0CC02D8A-6C51-4CAD-96AC-35ED31E007F0}" srcOrd="1" destOrd="0" parTransId="{57AF6407-45A3-4E93-A145-FB3700B2B7A8}" sibTransId="{96616624-0559-43DB-9F3F-287E1D542CF6}"/>
    <dgm:cxn modelId="{2CAF68FE-819C-4A52-90E8-3229908075F2}" type="presOf" srcId="{5132436E-F319-4B3B-9B00-5DF5647A7EBA}" destId="{F0927BBD-5F4B-4BE3-B95F-69BE404F9C21}" srcOrd="0" destOrd="0" presId="urn:microsoft.com/office/officeart/2005/8/layout/lProcess2"/>
    <dgm:cxn modelId="{16FF75A3-B8AA-45EF-9BFE-C56744F05A2A}" type="presOf" srcId="{BD41072B-2158-4CCF-B336-9F7060B3F3DB}" destId="{3C031D02-E7A2-4FF9-B097-F01D32272FF4}" srcOrd="0" destOrd="0" presId="urn:microsoft.com/office/officeart/2005/8/layout/lProcess2"/>
    <dgm:cxn modelId="{C3B9BE34-B1E5-4789-ABCA-BD05441652DE}" srcId="{9C11ABD2-1BB7-45A4-AE5C-D2EBA844F32E}" destId="{A9085B35-2511-49C6-9CFB-A4DBA857A050}" srcOrd="2" destOrd="0" parTransId="{B947AAD2-C477-4E69-ADA5-857DC566EB36}" sibTransId="{3496C89E-0C0D-4DC9-8ED5-B809F1A88B5B}"/>
    <dgm:cxn modelId="{33DFF44B-07BF-404B-851A-00172C1B8120}" type="presOf" srcId="{5132436E-F319-4B3B-9B00-5DF5647A7EBA}" destId="{8E8750A3-34C5-4C75-9983-0708186A7228}" srcOrd="1" destOrd="0" presId="urn:microsoft.com/office/officeart/2005/8/layout/lProcess2"/>
    <dgm:cxn modelId="{BC347018-A0FE-46AF-B564-C5E670EA81C0}" srcId="{3F0487AD-A0C2-459D-826F-27DCDCB6C37C}" destId="{502A0F7A-62D0-4588-98DC-FD80E4A7A1E9}" srcOrd="0" destOrd="0" parTransId="{C8F2A186-F3BB-438B-A841-E69E6CD2E027}" sibTransId="{7F706C8B-BF42-4B59-9BBA-0F6A1D8AB0D4}"/>
    <dgm:cxn modelId="{3FDB6B67-7BC4-470B-BE18-9A496DD2B9EF}" type="presOf" srcId="{3F0487AD-A0C2-459D-826F-27DCDCB6C37C}" destId="{C6F3C938-A72A-4FF3-9C1C-3C0E00B2E0FC}" srcOrd="1" destOrd="0" presId="urn:microsoft.com/office/officeart/2005/8/layout/lProcess2"/>
    <dgm:cxn modelId="{D3432FEC-2140-4C53-A19E-A66EB921C1E5}" srcId="{BD41072B-2158-4CCF-B336-9F7060B3F3DB}" destId="{81713E4C-A972-4FA5-99BA-5B135AC49617}" srcOrd="1" destOrd="0" parTransId="{D88B8802-A7E0-4DA7-89D8-FBCCFACD4196}" sibTransId="{E8B72517-BFB3-4897-82F3-81736BD3C105}"/>
    <dgm:cxn modelId="{1189B5BF-D97E-4070-86DB-9529D0B6C978}" type="presOf" srcId="{4EF751EA-73F8-4C47-97C0-805BECF47250}" destId="{6C6FE253-2AB9-42BB-83D1-CDA33DF1ACA9}" srcOrd="0" destOrd="4" presId="urn:microsoft.com/office/officeart/2005/8/layout/lProcess2"/>
    <dgm:cxn modelId="{5E9A195B-BB04-4E63-88ED-4D598159978D}" type="presParOf" srcId="{EC810306-6789-44CB-8B51-2A74B2780D85}" destId="{15FDC461-90E9-4E2E-9AFA-C4EA59CA5111}" srcOrd="0" destOrd="0" presId="urn:microsoft.com/office/officeart/2005/8/layout/lProcess2"/>
    <dgm:cxn modelId="{98D04D15-18CB-458E-AB71-BD0D4F79530E}" type="presParOf" srcId="{15FDC461-90E9-4E2E-9AFA-C4EA59CA5111}" destId="{F0927BBD-5F4B-4BE3-B95F-69BE404F9C21}" srcOrd="0" destOrd="0" presId="urn:microsoft.com/office/officeart/2005/8/layout/lProcess2"/>
    <dgm:cxn modelId="{56D2914D-19F6-42B0-B726-5384C7F6E207}" type="presParOf" srcId="{15FDC461-90E9-4E2E-9AFA-C4EA59CA5111}" destId="{8E8750A3-34C5-4C75-9983-0708186A7228}" srcOrd="1" destOrd="0" presId="urn:microsoft.com/office/officeart/2005/8/layout/lProcess2"/>
    <dgm:cxn modelId="{00C3BAD3-472D-4950-8799-845C13D76FDA}" type="presParOf" srcId="{15FDC461-90E9-4E2E-9AFA-C4EA59CA5111}" destId="{0C9DB728-7D48-4F97-A6FB-871A5AC06507}" srcOrd="2" destOrd="0" presId="urn:microsoft.com/office/officeart/2005/8/layout/lProcess2"/>
    <dgm:cxn modelId="{6BB5375B-7420-48D5-905D-B51C3934AB7B}" type="presParOf" srcId="{0C9DB728-7D48-4F97-A6FB-871A5AC06507}" destId="{4D2BF6B9-F841-4729-8C91-2987C2EC44C2}" srcOrd="0" destOrd="0" presId="urn:microsoft.com/office/officeart/2005/8/layout/lProcess2"/>
    <dgm:cxn modelId="{2DE7EBC9-6D11-42EF-9D89-627191F047E1}" type="presParOf" srcId="{4D2BF6B9-F841-4729-8C91-2987C2EC44C2}" destId="{3C031D02-E7A2-4FF9-B097-F01D32272FF4}" srcOrd="0" destOrd="0" presId="urn:microsoft.com/office/officeart/2005/8/layout/lProcess2"/>
    <dgm:cxn modelId="{09593C70-2F0B-4BE6-84D2-5B0BFC0E2FC9}" type="presParOf" srcId="{4D2BF6B9-F841-4729-8C91-2987C2EC44C2}" destId="{6A0D118C-36D6-4547-8A35-F51CF3003C50}" srcOrd="1" destOrd="0" presId="urn:microsoft.com/office/officeart/2005/8/layout/lProcess2"/>
    <dgm:cxn modelId="{34DA3715-E149-4CF9-BF94-7114CAA01F64}" type="presParOf" srcId="{4D2BF6B9-F841-4729-8C91-2987C2EC44C2}" destId="{6C6FE253-2AB9-42BB-83D1-CDA33DF1ACA9}" srcOrd="2" destOrd="0" presId="urn:microsoft.com/office/officeart/2005/8/layout/lProcess2"/>
    <dgm:cxn modelId="{0C7CA0A2-6649-4EFA-B8ED-78DBD01A709A}" type="presParOf" srcId="{EC810306-6789-44CB-8B51-2A74B2780D85}" destId="{1B0174CE-8E55-4142-A694-AA60BF0B3932}" srcOrd="1" destOrd="0" presId="urn:microsoft.com/office/officeart/2005/8/layout/lProcess2"/>
    <dgm:cxn modelId="{C613D23A-25C2-4ADC-B512-D7F8EA5638A5}" type="presParOf" srcId="{EC810306-6789-44CB-8B51-2A74B2780D85}" destId="{78FC6FA2-47E6-4411-8A39-8CF3B04E6C30}" srcOrd="2" destOrd="0" presId="urn:microsoft.com/office/officeart/2005/8/layout/lProcess2"/>
    <dgm:cxn modelId="{A60359D3-B268-4C63-9390-24373E7BC5C3}" type="presParOf" srcId="{78FC6FA2-47E6-4411-8A39-8CF3B04E6C30}" destId="{5A74D1B8-468E-4C0B-93F3-297D262F3534}" srcOrd="0" destOrd="0" presId="urn:microsoft.com/office/officeart/2005/8/layout/lProcess2"/>
    <dgm:cxn modelId="{1D7EF71B-3FFE-4529-A6D0-AF1E378AABF1}" type="presParOf" srcId="{78FC6FA2-47E6-4411-8A39-8CF3B04E6C30}" destId="{C5CAA06A-AC91-4AC2-BF0F-361DDDBBFF0A}" srcOrd="1" destOrd="0" presId="urn:microsoft.com/office/officeart/2005/8/layout/lProcess2"/>
    <dgm:cxn modelId="{8EDEE23B-F345-4D66-9771-C139F6A60346}" type="presParOf" srcId="{78FC6FA2-47E6-4411-8A39-8CF3B04E6C30}" destId="{0B440EEA-805E-45B8-A113-C0C3241A5B34}" srcOrd="2" destOrd="0" presId="urn:microsoft.com/office/officeart/2005/8/layout/lProcess2"/>
    <dgm:cxn modelId="{CA92A8C3-3194-4A1A-86D4-980A31C4AB6A}" type="presParOf" srcId="{0B440EEA-805E-45B8-A113-C0C3241A5B34}" destId="{CF9FD841-056C-422C-B93A-1041CB57A489}" srcOrd="0" destOrd="0" presId="urn:microsoft.com/office/officeart/2005/8/layout/lProcess2"/>
    <dgm:cxn modelId="{005EC13A-9990-46E9-B4AF-985D12FBA06C}" type="presParOf" srcId="{CF9FD841-056C-422C-B93A-1041CB57A489}" destId="{734F8AB1-EE58-442D-9694-D06E4C8DD22A}" srcOrd="0" destOrd="0" presId="urn:microsoft.com/office/officeart/2005/8/layout/lProcess2"/>
    <dgm:cxn modelId="{0A3328D2-2774-4CAD-838E-36F6ACF6E96C}" type="presParOf" srcId="{EC810306-6789-44CB-8B51-2A74B2780D85}" destId="{7B649752-CF71-443E-913E-BE316BFC23DD}" srcOrd="3" destOrd="0" presId="urn:microsoft.com/office/officeart/2005/8/layout/lProcess2"/>
    <dgm:cxn modelId="{3B5C0ADD-5B06-4A71-8045-D4C3E71753F3}" type="presParOf" srcId="{EC810306-6789-44CB-8B51-2A74B2780D85}" destId="{4DD4180B-E88D-49C1-A8DC-38461DE9960C}" srcOrd="4" destOrd="0" presId="urn:microsoft.com/office/officeart/2005/8/layout/lProcess2"/>
    <dgm:cxn modelId="{BEF3F81C-7B75-4867-9291-2C15E9760C53}" type="presParOf" srcId="{4DD4180B-E88D-49C1-A8DC-38461DE9960C}" destId="{014C08AF-6346-47B7-B530-C379D42F5F50}" srcOrd="0" destOrd="0" presId="urn:microsoft.com/office/officeart/2005/8/layout/lProcess2"/>
    <dgm:cxn modelId="{1DC08D86-B6F7-44BA-AB29-84F43389DB16}" type="presParOf" srcId="{4DD4180B-E88D-49C1-A8DC-38461DE9960C}" destId="{C6F3C938-A72A-4FF3-9C1C-3C0E00B2E0FC}" srcOrd="1" destOrd="0" presId="urn:microsoft.com/office/officeart/2005/8/layout/lProcess2"/>
    <dgm:cxn modelId="{DE459D02-8340-4BFC-8B6D-7FE4793902CB}" type="presParOf" srcId="{4DD4180B-E88D-49C1-A8DC-38461DE9960C}" destId="{96176E4F-8798-4215-9944-74B25B902B4D}" srcOrd="2" destOrd="0" presId="urn:microsoft.com/office/officeart/2005/8/layout/lProcess2"/>
    <dgm:cxn modelId="{C7351644-5532-4E95-BA51-E9105334B5A8}" type="presParOf" srcId="{96176E4F-8798-4215-9944-74B25B902B4D}" destId="{A62B2B77-7FBD-429E-B7A4-F8A7EFBE91CD}" srcOrd="0" destOrd="0" presId="urn:microsoft.com/office/officeart/2005/8/layout/lProcess2"/>
    <dgm:cxn modelId="{EA4EEB67-0C2A-425F-986D-362EA4702DD9}" type="presParOf" srcId="{A62B2B77-7FBD-429E-B7A4-F8A7EFBE91CD}" destId="{2EB2A12A-780A-4A00-A916-DBA4544344E1}" srcOrd="0" destOrd="0" presId="urn:microsoft.com/office/officeart/2005/8/layout/lProcess2"/>
    <dgm:cxn modelId="{950A4EA2-36B4-4FC6-A44A-4003D410DFFE}" type="presParOf" srcId="{A62B2B77-7FBD-429E-B7A4-F8A7EFBE91CD}" destId="{1F9F7EDA-0FB5-421A-B6A1-C08BD43FC2BE}" srcOrd="1" destOrd="0" presId="urn:microsoft.com/office/officeart/2005/8/layout/lProcess2"/>
    <dgm:cxn modelId="{194BDD51-D564-42AB-A727-29AA39EB78D0}" type="presParOf" srcId="{A62B2B77-7FBD-429E-B7A4-F8A7EFBE91CD}" destId="{F672EA77-6CF3-48DC-A606-E2B1C734FB89}" srcOrd="2" destOrd="0" presId="urn:microsoft.com/office/officeart/2005/8/layout/lProcess2"/>
    <dgm:cxn modelId="{41B58361-13CC-4520-91CE-1AE86B34CC95}" type="presParOf" srcId="{A62B2B77-7FBD-429E-B7A4-F8A7EFBE91CD}" destId="{73D958B5-7375-4118-B2D7-3AD2E2682B98}" srcOrd="3" destOrd="0" presId="urn:microsoft.com/office/officeart/2005/8/layout/lProcess2"/>
    <dgm:cxn modelId="{E5B53790-8AE8-48CC-8A89-C6C8CF0E8571}" type="presParOf" srcId="{A62B2B77-7FBD-429E-B7A4-F8A7EFBE91CD}" destId="{8BD02FD6-582D-4063-921B-21E871F7DEE7}" srcOrd="4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FCAC8D4-81E3-46F4-A0DB-D7A85BC93317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ru-RU"/>
        </a:p>
      </dgm:t>
    </dgm:pt>
    <dgm:pt modelId="{AC37BF1C-2FFE-4371-91F2-91800C1EB2E3}">
      <dgm:prSet/>
      <dgm:spPr/>
      <dgm:t>
        <a:bodyPr/>
        <a:lstStyle/>
        <a:p>
          <a:r>
            <a:rPr lang="ru-RU" dirty="0" smtClean="0"/>
            <a:t>если с работником заключен договор о полной материальной ответственности за ущерб, причиненный работодателю при исполнении работником трудовых обязанностей;</a:t>
          </a:r>
          <a:endParaRPr lang="ru-RU" dirty="0"/>
        </a:p>
      </dgm:t>
    </dgm:pt>
    <dgm:pt modelId="{344E8E99-3730-4BEA-A889-6C6588A8D0A5}" type="parTrans" cxnId="{51FE9A00-DC47-4FF5-A9B7-0699B327BB9F}">
      <dgm:prSet/>
      <dgm:spPr/>
      <dgm:t>
        <a:bodyPr/>
        <a:lstStyle/>
        <a:p>
          <a:endParaRPr lang="ru-RU"/>
        </a:p>
      </dgm:t>
    </dgm:pt>
    <dgm:pt modelId="{286E7798-761A-44BD-85A2-E9318629CAAD}" type="sibTrans" cxnId="{51FE9A00-DC47-4FF5-A9B7-0699B327BB9F}">
      <dgm:prSet/>
      <dgm:spPr/>
      <dgm:t>
        <a:bodyPr/>
        <a:lstStyle/>
        <a:p>
          <a:endParaRPr lang="ru-RU"/>
        </a:p>
      </dgm:t>
    </dgm:pt>
    <dgm:pt modelId="{38024EDC-22DE-4B9B-81C1-3F23C177198C}">
      <dgm:prSet/>
      <dgm:spPr/>
      <dgm:t>
        <a:bodyPr/>
        <a:lstStyle/>
        <a:p>
          <a:r>
            <a:rPr lang="ru-RU" smtClean="0"/>
            <a:t>недостача ценностей, вверенных ему на основании специального письменного договора или полученных им по разовому документу;</a:t>
          </a:r>
          <a:endParaRPr lang="ru-RU"/>
        </a:p>
      </dgm:t>
    </dgm:pt>
    <dgm:pt modelId="{39C79094-5AE4-4BB6-8782-5D9DB87F9CE7}" type="parTrans" cxnId="{35DEA048-252C-40CD-AA3A-1D7539FF2B95}">
      <dgm:prSet/>
      <dgm:spPr/>
      <dgm:t>
        <a:bodyPr/>
        <a:lstStyle/>
        <a:p>
          <a:endParaRPr lang="ru-RU"/>
        </a:p>
      </dgm:t>
    </dgm:pt>
    <dgm:pt modelId="{95A53118-90CE-4567-A086-E1E4AFB18FC4}" type="sibTrans" cxnId="{35DEA048-252C-40CD-AA3A-1D7539FF2B95}">
      <dgm:prSet/>
      <dgm:spPr/>
      <dgm:t>
        <a:bodyPr/>
        <a:lstStyle/>
        <a:p>
          <a:endParaRPr lang="ru-RU"/>
        </a:p>
      </dgm:t>
    </dgm:pt>
    <dgm:pt modelId="{55059449-24F3-44A2-B71B-92A53181573E}">
      <dgm:prSet/>
      <dgm:spPr/>
      <dgm:t>
        <a:bodyPr/>
        <a:lstStyle/>
        <a:p>
          <a:r>
            <a:rPr lang="ru-RU" smtClean="0"/>
            <a:t>причинение ущерба в состоянии алкогольного, наркотического или токсического опьянения (что должно быть подтверждено документально — справками медицинских учреждений или свидетелями, актом, своевременно составленным непосредственным или другим руководителем работника при участии очевидцев (свидетелей), появления работника на работе в состоянии алкогольного опьянения);</a:t>
          </a:r>
          <a:endParaRPr lang="ru-RU"/>
        </a:p>
      </dgm:t>
    </dgm:pt>
    <dgm:pt modelId="{081958ED-9B51-45B6-BCF4-DF3459BAD9A6}" type="parTrans" cxnId="{F5B60C42-C295-40D7-98A2-42BCF362CFCC}">
      <dgm:prSet/>
      <dgm:spPr/>
      <dgm:t>
        <a:bodyPr/>
        <a:lstStyle/>
        <a:p>
          <a:endParaRPr lang="ru-RU"/>
        </a:p>
      </dgm:t>
    </dgm:pt>
    <dgm:pt modelId="{65C4B73C-0FF1-400F-83BD-8DC50D4A5176}" type="sibTrans" cxnId="{F5B60C42-C295-40D7-98A2-42BCF362CFCC}">
      <dgm:prSet/>
      <dgm:spPr/>
      <dgm:t>
        <a:bodyPr/>
        <a:lstStyle/>
        <a:p>
          <a:endParaRPr lang="ru-RU"/>
        </a:p>
      </dgm:t>
    </dgm:pt>
    <dgm:pt modelId="{1AD86495-0D96-4D05-ACD5-3826E0DFB7A9}" type="pres">
      <dgm:prSet presAssocID="{BFCAC8D4-81E3-46F4-A0DB-D7A85BC93317}" presName="linear" presStyleCnt="0">
        <dgm:presLayoutVars>
          <dgm:animLvl val="lvl"/>
          <dgm:resizeHandles val="exact"/>
        </dgm:presLayoutVars>
      </dgm:prSet>
      <dgm:spPr/>
    </dgm:pt>
    <dgm:pt modelId="{160B5CC4-D5AB-4ECB-AEE2-68BC95F17179}" type="pres">
      <dgm:prSet presAssocID="{AC37BF1C-2FFE-4371-91F2-91800C1EB2E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F1B2F99-34CF-47D9-9A7B-4A5402FD7F94}" type="pres">
      <dgm:prSet presAssocID="{286E7798-761A-44BD-85A2-E9318629CAAD}" presName="spacer" presStyleCnt="0"/>
      <dgm:spPr/>
    </dgm:pt>
    <dgm:pt modelId="{7C7894E2-5D09-4F96-9696-90C3C2DC781B}" type="pres">
      <dgm:prSet presAssocID="{38024EDC-22DE-4B9B-81C1-3F23C177198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9176140-D3F0-4268-A89A-7CAF2645702E}" type="pres">
      <dgm:prSet presAssocID="{95A53118-90CE-4567-A086-E1E4AFB18FC4}" presName="spacer" presStyleCnt="0"/>
      <dgm:spPr/>
    </dgm:pt>
    <dgm:pt modelId="{A2A8BDAE-C886-4A56-BE13-134D36EBDADC}" type="pres">
      <dgm:prSet presAssocID="{55059449-24F3-44A2-B71B-92A53181573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A12F110-DC9B-436F-A554-01DD4FB32E17}" type="presOf" srcId="{AC37BF1C-2FFE-4371-91F2-91800C1EB2E3}" destId="{160B5CC4-D5AB-4ECB-AEE2-68BC95F17179}" srcOrd="0" destOrd="0" presId="urn:microsoft.com/office/officeart/2005/8/layout/vList2"/>
    <dgm:cxn modelId="{C62F1EC6-0F3C-447A-819A-918A1D727A74}" type="presOf" srcId="{38024EDC-22DE-4B9B-81C1-3F23C177198C}" destId="{7C7894E2-5D09-4F96-9696-90C3C2DC781B}" srcOrd="0" destOrd="0" presId="urn:microsoft.com/office/officeart/2005/8/layout/vList2"/>
    <dgm:cxn modelId="{9F17A51F-49F9-4C98-B2B8-D123AB5D9D87}" type="presOf" srcId="{BFCAC8D4-81E3-46F4-A0DB-D7A85BC93317}" destId="{1AD86495-0D96-4D05-ACD5-3826E0DFB7A9}" srcOrd="0" destOrd="0" presId="urn:microsoft.com/office/officeart/2005/8/layout/vList2"/>
    <dgm:cxn modelId="{E3293D1A-5C0B-4045-B790-CCD8E266F09C}" type="presOf" srcId="{55059449-24F3-44A2-B71B-92A53181573E}" destId="{A2A8BDAE-C886-4A56-BE13-134D36EBDADC}" srcOrd="0" destOrd="0" presId="urn:microsoft.com/office/officeart/2005/8/layout/vList2"/>
    <dgm:cxn modelId="{F5B60C42-C295-40D7-98A2-42BCF362CFCC}" srcId="{BFCAC8D4-81E3-46F4-A0DB-D7A85BC93317}" destId="{55059449-24F3-44A2-B71B-92A53181573E}" srcOrd="2" destOrd="0" parTransId="{081958ED-9B51-45B6-BCF4-DF3459BAD9A6}" sibTransId="{65C4B73C-0FF1-400F-83BD-8DC50D4A5176}"/>
    <dgm:cxn modelId="{51FE9A00-DC47-4FF5-A9B7-0699B327BB9F}" srcId="{BFCAC8D4-81E3-46F4-A0DB-D7A85BC93317}" destId="{AC37BF1C-2FFE-4371-91F2-91800C1EB2E3}" srcOrd="0" destOrd="0" parTransId="{344E8E99-3730-4BEA-A889-6C6588A8D0A5}" sibTransId="{286E7798-761A-44BD-85A2-E9318629CAAD}"/>
    <dgm:cxn modelId="{35DEA048-252C-40CD-AA3A-1D7539FF2B95}" srcId="{BFCAC8D4-81E3-46F4-A0DB-D7A85BC93317}" destId="{38024EDC-22DE-4B9B-81C1-3F23C177198C}" srcOrd="1" destOrd="0" parTransId="{39C79094-5AE4-4BB6-8782-5D9DB87F9CE7}" sibTransId="{95A53118-90CE-4567-A086-E1E4AFB18FC4}"/>
    <dgm:cxn modelId="{5D4FB18F-6A10-4E42-8065-C6BA7CF9CA01}" type="presParOf" srcId="{1AD86495-0D96-4D05-ACD5-3826E0DFB7A9}" destId="{160B5CC4-D5AB-4ECB-AEE2-68BC95F17179}" srcOrd="0" destOrd="0" presId="urn:microsoft.com/office/officeart/2005/8/layout/vList2"/>
    <dgm:cxn modelId="{7EA7C576-C797-47F5-BBE8-DF6D7673E02D}" type="presParOf" srcId="{1AD86495-0D96-4D05-ACD5-3826E0DFB7A9}" destId="{AF1B2F99-34CF-47D9-9A7B-4A5402FD7F94}" srcOrd="1" destOrd="0" presId="urn:microsoft.com/office/officeart/2005/8/layout/vList2"/>
    <dgm:cxn modelId="{B85CC0A4-20E5-44D2-85FC-7A66D7FDDEDA}" type="presParOf" srcId="{1AD86495-0D96-4D05-ACD5-3826E0DFB7A9}" destId="{7C7894E2-5D09-4F96-9696-90C3C2DC781B}" srcOrd="2" destOrd="0" presId="urn:microsoft.com/office/officeart/2005/8/layout/vList2"/>
    <dgm:cxn modelId="{C0D9C7AC-8F2F-4C57-BB8F-737E31E5BABA}" type="presParOf" srcId="{1AD86495-0D96-4D05-ACD5-3826E0DFB7A9}" destId="{89176140-D3F0-4268-A89A-7CAF2645702E}" srcOrd="3" destOrd="0" presId="urn:microsoft.com/office/officeart/2005/8/layout/vList2"/>
    <dgm:cxn modelId="{08488C0E-B4DD-495F-8CF6-D7C314F4C2BE}" type="presParOf" srcId="{1AD86495-0D96-4D05-ACD5-3826E0DFB7A9}" destId="{A2A8BDAE-C886-4A56-BE13-134D36EBDAD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76CA341-DDA3-4676-A0C4-05E4F279A695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ru-RU"/>
        </a:p>
      </dgm:t>
    </dgm:pt>
    <dgm:pt modelId="{3294B49E-D1E9-406C-92B1-53B91B70FD57}">
      <dgm:prSet/>
      <dgm:spPr/>
      <dgm:t>
        <a:bodyPr/>
        <a:lstStyle/>
        <a:p>
          <a:r>
            <a:rPr lang="ru-RU" smtClean="0"/>
            <a:t>умышленное причинение ущерба;</a:t>
          </a:r>
          <a:endParaRPr lang="ru-RU"/>
        </a:p>
      </dgm:t>
    </dgm:pt>
    <dgm:pt modelId="{126EC832-071D-449D-9A23-0253DDDE2CE6}" type="parTrans" cxnId="{00B0E43C-D010-43AC-95B8-5985AD792999}">
      <dgm:prSet/>
      <dgm:spPr/>
      <dgm:t>
        <a:bodyPr/>
        <a:lstStyle/>
        <a:p>
          <a:endParaRPr lang="ru-RU"/>
        </a:p>
      </dgm:t>
    </dgm:pt>
    <dgm:pt modelId="{49CD657F-75B0-4842-B6B1-82913D736E0C}" type="sibTrans" cxnId="{00B0E43C-D010-43AC-95B8-5985AD792999}">
      <dgm:prSet/>
      <dgm:spPr/>
      <dgm:t>
        <a:bodyPr/>
        <a:lstStyle/>
        <a:p>
          <a:endParaRPr lang="ru-RU"/>
        </a:p>
      </dgm:t>
    </dgm:pt>
    <dgm:pt modelId="{27629B0F-435F-400E-A28F-9E6157A5F0FC}">
      <dgm:prSet/>
      <dgm:spPr/>
      <dgm:t>
        <a:bodyPr/>
        <a:lstStyle/>
        <a:p>
          <a:r>
            <a:rPr lang="ru-RU" smtClean="0"/>
            <a:t>причинение ущерба в результате преступных действий работника, установленных приговором суда;</a:t>
          </a:r>
          <a:endParaRPr lang="ru-RU"/>
        </a:p>
      </dgm:t>
    </dgm:pt>
    <dgm:pt modelId="{FD3036F6-BEA9-4E22-A050-DE65237C92DB}" type="parTrans" cxnId="{5B0D79E0-C9B3-4E56-9C38-FDB454A1538A}">
      <dgm:prSet/>
      <dgm:spPr/>
      <dgm:t>
        <a:bodyPr/>
        <a:lstStyle/>
        <a:p>
          <a:endParaRPr lang="ru-RU"/>
        </a:p>
      </dgm:t>
    </dgm:pt>
    <dgm:pt modelId="{915159B5-0182-48D7-8882-87BD9901C5FA}" type="sibTrans" cxnId="{5B0D79E0-C9B3-4E56-9C38-FDB454A1538A}">
      <dgm:prSet/>
      <dgm:spPr/>
      <dgm:t>
        <a:bodyPr/>
        <a:lstStyle/>
        <a:p>
          <a:endParaRPr lang="ru-RU"/>
        </a:p>
      </dgm:t>
    </dgm:pt>
    <dgm:pt modelId="{0877BE25-2D60-4AE5-929B-8DCBD48F835A}">
      <dgm:prSet/>
      <dgm:spPr/>
      <dgm:t>
        <a:bodyPr/>
        <a:lstStyle/>
        <a:p>
          <a:r>
            <a:rPr lang="ru-RU" smtClean="0"/>
            <a:t>причинение ущерба в результате административного проступка, если таковой установлен соответствующим государственным органом;</a:t>
          </a:r>
          <a:endParaRPr lang="ru-RU"/>
        </a:p>
      </dgm:t>
    </dgm:pt>
    <dgm:pt modelId="{30ADF9FD-C7C0-4C6F-84B3-B7C194463B71}" type="parTrans" cxnId="{F2605F2C-9428-4CB2-B061-99B1A8855504}">
      <dgm:prSet/>
      <dgm:spPr/>
      <dgm:t>
        <a:bodyPr/>
        <a:lstStyle/>
        <a:p>
          <a:endParaRPr lang="ru-RU"/>
        </a:p>
      </dgm:t>
    </dgm:pt>
    <dgm:pt modelId="{218129E8-0EF1-492F-BD1F-2FBEF30B3366}" type="sibTrans" cxnId="{F2605F2C-9428-4CB2-B061-99B1A8855504}">
      <dgm:prSet/>
      <dgm:spPr/>
      <dgm:t>
        <a:bodyPr/>
        <a:lstStyle/>
        <a:p>
          <a:endParaRPr lang="ru-RU"/>
        </a:p>
      </dgm:t>
    </dgm:pt>
    <dgm:pt modelId="{25E7C6A3-6E1F-425F-BC00-25D30D04C6F2}">
      <dgm:prSet/>
      <dgm:spPr/>
      <dgm:t>
        <a:bodyPr/>
        <a:lstStyle/>
        <a:p>
          <a:r>
            <a:rPr lang="ru-RU" smtClean="0"/>
            <a:t>разглашение сведений, составляющих охраняемую законом тайну (государственную, служебную, коммерческую или иную);</a:t>
          </a:r>
          <a:endParaRPr lang="ru-RU"/>
        </a:p>
      </dgm:t>
    </dgm:pt>
    <dgm:pt modelId="{D0B25274-F6B6-4949-A3D8-CF41FFAE557D}" type="parTrans" cxnId="{82F55D99-89C6-43DB-A25D-B6F35359D3C8}">
      <dgm:prSet/>
      <dgm:spPr/>
      <dgm:t>
        <a:bodyPr/>
        <a:lstStyle/>
        <a:p>
          <a:endParaRPr lang="ru-RU"/>
        </a:p>
      </dgm:t>
    </dgm:pt>
    <dgm:pt modelId="{BF80904B-2670-49B2-9913-CC1006E51F62}" type="sibTrans" cxnId="{82F55D99-89C6-43DB-A25D-B6F35359D3C8}">
      <dgm:prSet/>
      <dgm:spPr/>
      <dgm:t>
        <a:bodyPr/>
        <a:lstStyle/>
        <a:p>
          <a:endParaRPr lang="ru-RU"/>
        </a:p>
      </dgm:t>
    </dgm:pt>
    <dgm:pt modelId="{4EBF3208-2FF3-4430-8D7D-D4A45C1954D8}">
      <dgm:prSet/>
      <dgm:spPr/>
      <dgm:t>
        <a:bodyPr/>
        <a:lstStyle/>
        <a:p>
          <a:r>
            <a:rPr lang="ru-RU" smtClean="0"/>
            <a:t>причинение ущерба не при исполнении работником трудовых обязанностей (ущерб причинен в свободное от работы время либо когда работник трудился, но при этом не выполнял свои трудовые обязанности, что происходит в связи с использованием работником в своих интересах имущества, принадлежащего работодателю).</a:t>
          </a:r>
          <a:endParaRPr lang="ru-RU"/>
        </a:p>
      </dgm:t>
    </dgm:pt>
    <dgm:pt modelId="{81757090-8A61-4B0A-A4FD-6C8D0E2075F2}" type="parTrans" cxnId="{452E1889-C932-4B42-9D61-4FCA579F9C70}">
      <dgm:prSet/>
      <dgm:spPr/>
      <dgm:t>
        <a:bodyPr/>
        <a:lstStyle/>
        <a:p>
          <a:endParaRPr lang="ru-RU"/>
        </a:p>
      </dgm:t>
    </dgm:pt>
    <dgm:pt modelId="{A503165A-F6A3-40C0-ADEF-84F9BBDFDE65}" type="sibTrans" cxnId="{452E1889-C932-4B42-9D61-4FCA579F9C70}">
      <dgm:prSet/>
      <dgm:spPr/>
      <dgm:t>
        <a:bodyPr/>
        <a:lstStyle/>
        <a:p>
          <a:endParaRPr lang="ru-RU"/>
        </a:p>
      </dgm:t>
    </dgm:pt>
    <dgm:pt modelId="{A3FEBA51-B953-48C5-A988-40DE17C92AE8}" type="pres">
      <dgm:prSet presAssocID="{876CA341-DDA3-4676-A0C4-05E4F279A695}" presName="linear" presStyleCnt="0">
        <dgm:presLayoutVars>
          <dgm:animLvl val="lvl"/>
          <dgm:resizeHandles val="exact"/>
        </dgm:presLayoutVars>
      </dgm:prSet>
      <dgm:spPr/>
    </dgm:pt>
    <dgm:pt modelId="{28B99969-C900-4953-8317-CA3D1D4F5EFF}" type="pres">
      <dgm:prSet presAssocID="{3294B49E-D1E9-406C-92B1-53B91B70FD57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4DEECB9B-8BAF-4CE4-9320-36A0CCF8B13A}" type="pres">
      <dgm:prSet presAssocID="{49CD657F-75B0-4842-B6B1-82913D736E0C}" presName="spacer" presStyleCnt="0"/>
      <dgm:spPr/>
    </dgm:pt>
    <dgm:pt modelId="{B2529070-F14B-4CFB-AE91-1920D2283CDE}" type="pres">
      <dgm:prSet presAssocID="{27629B0F-435F-400E-A28F-9E6157A5F0FC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451F41D2-7E9E-4C53-AEA6-ACD9A0CABE80}" type="pres">
      <dgm:prSet presAssocID="{915159B5-0182-48D7-8882-87BD9901C5FA}" presName="spacer" presStyleCnt="0"/>
      <dgm:spPr/>
    </dgm:pt>
    <dgm:pt modelId="{1A207B29-C2B4-43ED-920B-326401684EDA}" type="pres">
      <dgm:prSet presAssocID="{0877BE25-2D60-4AE5-929B-8DCBD48F835A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DD00046E-278A-4BD6-858C-96D4F151669F}" type="pres">
      <dgm:prSet presAssocID="{218129E8-0EF1-492F-BD1F-2FBEF30B3366}" presName="spacer" presStyleCnt="0"/>
      <dgm:spPr/>
    </dgm:pt>
    <dgm:pt modelId="{C1225D78-014B-41C9-94FC-5B87C411D132}" type="pres">
      <dgm:prSet presAssocID="{25E7C6A3-6E1F-425F-BC00-25D30D04C6F2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9A99EDA8-28E8-4584-82A6-430B866BF47B}" type="pres">
      <dgm:prSet presAssocID="{BF80904B-2670-49B2-9913-CC1006E51F62}" presName="spacer" presStyleCnt="0"/>
      <dgm:spPr/>
    </dgm:pt>
    <dgm:pt modelId="{8A7A01EC-19CF-45C0-8C66-4315490D3872}" type="pres">
      <dgm:prSet presAssocID="{4EBF3208-2FF3-4430-8D7D-D4A45C1954D8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452E1889-C932-4B42-9D61-4FCA579F9C70}" srcId="{876CA341-DDA3-4676-A0C4-05E4F279A695}" destId="{4EBF3208-2FF3-4430-8D7D-D4A45C1954D8}" srcOrd="4" destOrd="0" parTransId="{81757090-8A61-4B0A-A4FD-6C8D0E2075F2}" sibTransId="{A503165A-F6A3-40C0-ADEF-84F9BBDFDE65}"/>
    <dgm:cxn modelId="{6C043330-7952-4E5E-8FE9-0BE17A9E1081}" type="presOf" srcId="{4EBF3208-2FF3-4430-8D7D-D4A45C1954D8}" destId="{8A7A01EC-19CF-45C0-8C66-4315490D3872}" srcOrd="0" destOrd="0" presId="urn:microsoft.com/office/officeart/2005/8/layout/vList2"/>
    <dgm:cxn modelId="{00B0E43C-D010-43AC-95B8-5985AD792999}" srcId="{876CA341-DDA3-4676-A0C4-05E4F279A695}" destId="{3294B49E-D1E9-406C-92B1-53B91B70FD57}" srcOrd="0" destOrd="0" parTransId="{126EC832-071D-449D-9A23-0253DDDE2CE6}" sibTransId="{49CD657F-75B0-4842-B6B1-82913D736E0C}"/>
    <dgm:cxn modelId="{E7884CCD-1F7B-4133-893F-5E8E9178AADD}" type="presOf" srcId="{27629B0F-435F-400E-A28F-9E6157A5F0FC}" destId="{B2529070-F14B-4CFB-AE91-1920D2283CDE}" srcOrd="0" destOrd="0" presId="urn:microsoft.com/office/officeart/2005/8/layout/vList2"/>
    <dgm:cxn modelId="{82F55D99-89C6-43DB-A25D-B6F35359D3C8}" srcId="{876CA341-DDA3-4676-A0C4-05E4F279A695}" destId="{25E7C6A3-6E1F-425F-BC00-25D30D04C6F2}" srcOrd="3" destOrd="0" parTransId="{D0B25274-F6B6-4949-A3D8-CF41FFAE557D}" sibTransId="{BF80904B-2670-49B2-9913-CC1006E51F62}"/>
    <dgm:cxn modelId="{5B0D79E0-C9B3-4E56-9C38-FDB454A1538A}" srcId="{876CA341-DDA3-4676-A0C4-05E4F279A695}" destId="{27629B0F-435F-400E-A28F-9E6157A5F0FC}" srcOrd="1" destOrd="0" parTransId="{FD3036F6-BEA9-4E22-A050-DE65237C92DB}" sibTransId="{915159B5-0182-48D7-8882-87BD9901C5FA}"/>
    <dgm:cxn modelId="{C2AA0314-E1BE-4A40-B121-9F39C691F99B}" type="presOf" srcId="{0877BE25-2D60-4AE5-929B-8DCBD48F835A}" destId="{1A207B29-C2B4-43ED-920B-326401684EDA}" srcOrd="0" destOrd="0" presId="urn:microsoft.com/office/officeart/2005/8/layout/vList2"/>
    <dgm:cxn modelId="{54239E3C-7755-4C2E-90ED-CA6383BEF4B1}" type="presOf" srcId="{3294B49E-D1E9-406C-92B1-53B91B70FD57}" destId="{28B99969-C900-4953-8317-CA3D1D4F5EFF}" srcOrd="0" destOrd="0" presId="urn:microsoft.com/office/officeart/2005/8/layout/vList2"/>
    <dgm:cxn modelId="{CFBD11CA-B9B2-4C35-A4A5-09937CADD3C4}" type="presOf" srcId="{25E7C6A3-6E1F-425F-BC00-25D30D04C6F2}" destId="{C1225D78-014B-41C9-94FC-5B87C411D132}" srcOrd="0" destOrd="0" presId="urn:microsoft.com/office/officeart/2005/8/layout/vList2"/>
    <dgm:cxn modelId="{5B5D26CA-5DA4-44C8-9CD7-8726130E8B12}" type="presOf" srcId="{876CA341-DDA3-4676-A0C4-05E4F279A695}" destId="{A3FEBA51-B953-48C5-A988-40DE17C92AE8}" srcOrd="0" destOrd="0" presId="urn:microsoft.com/office/officeart/2005/8/layout/vList2"/>
    <dgm:cxn modelId="{F2605F2C-9428-4CB2-B061-99B1A8855504}" srcId="{876CA341-DDA3-4676-A0C4-05E4F279A695}" destId="{0877BE25-2D60-4AE5-929B-8DCBD48F835A}" srcOrd="2" destOrd="0" parTransId="{30ADF9FD-C7C0-4C6F-84B3-B7C194463B71}" sibTransId="{218129E8-0EF1-492F-BD1F-2FBEF30B3366}"/>
    <dgm:cxn modelId="{2552BAAF-9DF3-47B4-BB3B-EB3D7CBE3C64}" type="presParOf" srcId="{A3FEBA51-B953-48C5-A988-40DE17C92AE8}" destId="{28B99969-C900-4953-8317-CA3D1D4F5EFF}" srcOrd="0" destOrd="0" presId="urn:microsoft.com/office/officeart/2005/8/layout/vList2"/>
    <dgm:cxn modelId="{22FD4939-FEC5-45F7-A26D-2B89809ACE66}" type="presParOf" srcId="{A3FEBA51-B953-48C5-A988-40DE17C92AE8}" destId="{4DEECB9B-8BAF-4CE4-9320-36A0CCF8B13A}" srcOrd="1" destOrd="0" presId="urn:microsoft.com/office/officeart/2005/8/layout/vList2"/>
    <dgm:cxn modelId="{A19EA893-180A-40D2-B339-BC20A250C6FE}" type="presParOf" srcId="{A3FEBA51-B953-48C5-A988-40DE17C92AE8}" destId="{B2529070-F14B-4CFB-AE91-1920D2283CDE}" srcOrd="2" destOrd="0" presId="urn:microsoft.com/office/officeart/2005/8/layout/vList2"/>
    <dgm:cxn modelId="{63CD5D8F-87B7-45CC-90CE-27ED0E94DF7D}" type="presParOf" srcId="{A3FEBA51-B953-48C5-A988-40DE17C92AE8}" destId="{451F41D2-7E9E-4C53-AEA6-ACD9A0CABE80}" srcOrd="3" destOrd="0" presId="urn:microsoft.com/office/officeart/2005/8/layout/vList2"/>
    <dgm:cxn modelId="{38F5A898-3E2C-4194-86D6-20F6D9F0DD04}" type="presParOf" srcId="{A3FEBA51-B953-48C5-A988-40DE17C92AE8}" destId="{1A207B29-C2B4-43ED-920B-326401684EDA}" srcOrd="4" destOrd="0" presId="urn:microsoft.com/office/officeart/2005/8/layout/vList2"/>
    <dgm:cxn modelId="{A2AE6CB6-DA59-4512-B608-D8693A162E11}" type="presParOf" srcId="{A3FEBA51-B953-48C5-A988-40DE17C92AE8}" destId="{DD00046E-278A-4BD6-858C-96D4F151669F}" srcOrd="5" destOrd="0" presId="urn:microsoft.com/office/officeart/2005/8/layout/vList2"/>
    <dgm:cxn modelId="{F4F12849-814E-42AB-9ADF-C9225E5BADC2}" type="presParOf" srcId="{A3FEBA51-B953-48C5-A988-40DE17C92AE8}" destId="{C1225D78-014B-41C9-94FC-5B87C411D132}" srcOrd="6" destOrd="0" presId="urn:microsoft.com/office/officeart/2005/8/layout/vList2"/>
    <dgm:cxn modelId="{D0965B00-9E8C-4A63-8651-72A52BCF911B}" type="presParOf" srcId="{A3FEBA51-B953-48C5-A988-40DE17C92AE8}" destId="{9A99EDA8-28E8-4584-82A6-430B866BF47B}" srcOrd="7" destOrd="0" presId="urn:microsoft.com/office/officeart/2005/8/layout/vList2"/>
    <dgm:cxn modelId="{C8E86FD3-42DF-4622-BDC1-225BB6B328D7}" type="presParOf" srcId="{A3FEBA51-B953-48C5-A988-40DE17C92AE8}" destId="{8A7A01EC-19CF-45C0-8C66-4315490D3872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0A72B3-E310-4140-BA55-15E8E6547793}">
      <dsp:nvSpPr>
        <dsp:cNvPr id="0" name=""/>
        <dsp:cNvSpPr/>
      </dsp:nvSpPr>
      <dsp:spPr>
        <a:xfrm>
          <a:off x="0" y="619819"/>
          <a:ext cx="8965870" cy="1153620"/>
        </a:xfrm>
        <a:prstGeom prst="roundRect">
          <a:avLst/>
        </a:prstGeom>
        <a:solidFill>
          <a:srgbClr val="605AD6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800" kern="1200" dirty="0" smtClean="0"/>
            <a:t>размер вознаграждения должен зависеть от вклада каждого работника в результаты труда;</a:t>
          </a:r>
          <a:endParaRPr lang="ru-RU" sz="2800" kern="1200" dirty="0"/>
        </a:p>
      </dsp:txBody>
      <dsp:txXfrm>
        <a:off x="56315" y="676134"/>
        <a:ext cx="8853240" cy="1040990"/>
      </dsp:txXfrm>
    </dsp:sp>
    <dsp:sp modelId="{AB981751-C924-4FAE-A197-331CB51A32D6}">
      <dsp:nvSpPr>
        <dsp:cNvPr id="0" name=""/>
        <dsp:cNvSpPr/>
      </dsp:nvSpPr>
      <dsp:spPr>
        <a:xfrm>
          <a:off x="0" y="1895224"/>
          <a:ext cx="8965870" cy="1153620"/>
        </a:xfrm>
        <a:prstGeom prst="roundRect">
          <a:avLst/>
        </a:prstGeom>
        <a:gradFill rotWithShape="0">
          <a:gsLst>
            <a:gs pos="0">
              <a:schemeClr val="accent5">
                <a:shade val="80000"/>
                <a:hueOff val="174641"/>
                <a:satOff val="-3128"/>
                <a:lumOff val="1329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shade val="80000"/>
                <a:hueOff val="174641"/>
                <a:satOff val="-3128"/>
                <a:lumOff val="1329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shade val="80000"/>
                <a:hueOff val="174641"/>
                <a:satOff val="-3128"/>
                <a:lumOff val="1329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solidFill>
            <a:srgbClr val="0070C0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800" kern="1200" dirty="0" smtClean="0"/>
            <a:t>разрыв между результатом труда и вознаграждением за него должен быть минимальным;</a:t>
          </a:r>
          <a:endParaRPr lang="ru-RU" sz="2800" kern="1200" dirty="0"/>
        </a:p>
      </dsp:txBody>
      <dsp:txXfrm>
        <a:off x="56315" y="1951539"/>
        <a:ext cx="8853240" cy="1040990"/>
      </dsp:txXfrm>
    </dsp:sp>
    <dsp:sp modelId="{2941CA69-235D-47FE-B190-C4214FC8FFE9}">
      <dsp:nvSpPr>
        <dsp:cNvPr id="0" name=""/>
        <dsp:cNvSpPr/>
      </dsp:nvSpPr>
      <dsp:spPr>
        <a:xfrm>
          <a:off x="0" y="3170618"/>
          <a:ext cx="8965870" cy="1133454"/>
        </a:xfrm>
        <a:prstGeom prst="roundRect">
          <a:avLst/>
        </a:prstGeom>
        <a:solidFill>
          <a:srgbClr val="006FA6"/>
        </a:solidFill>
        <a:ln>
          <a:solidFill>
            <a:srgbClr val="0070C0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800" kern="1200" dirty="0" smtClean="0"/>
            <a:t>система заработной платы должна быть открытой и доступной для понимания каждого работника.</a:t>
          </a:r>
          <a:endParaRPr lang="ru-RU" sz="2800" kern="1200" dirty="0"/>
        </a:p>
      </dsp:txBody>
      <dsp:txXfrm>
        <a:off x="55331" y="3225949"/>
        <a:ext cx="8855208" cy="10227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927BBD-5F4B-4BE3-B95F-69BE404F9C21}">
      <dsp:nvSpPr>
        <dsp:cNvPr id="0" name=""/>
        <dsp:cNvSpPr/>
      </dsp:nvSpPr>
      <dsp:spPr>
        <a:xfrm>
          <a:off x="1116" y="0"/>
          <a:ext cx="2902148" cy="563484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1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lvl="0" algn="ctr" defTabSz="1644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700" kern="1200" dirty="0" smtClean="0"/>
            <a:t>Тарифная система</a:t>
          </a:r>
          <a:endParaRPr lang="ru-RU" sz="3700" kern="1200" dirty="0"/>
        </a:p>
      </dsp:txBody>
      <dsp:txXfrm>
        <a:off x="1116" y="0"/>
        <a:ext cx="2902148" cy="1690452"/>
      </dsp:txXfrm>
    </dsp:sp>
    <dsp:sp modelId="{3C031D02-E7A2-4FF9-B097-F01D32272FF4}">
      <dsp:nvSpPr>
        <dsp:cNvPr id="0" name=""/>
        <dsp:cNvSpPr/>
      </dsp:nvSpPr>
      <dsp:spPr>
        <a:xfrm>
          <a:off x="1" y="1691385"/>
          <a:ext cx="2904377" cy="131419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28575" rIns="38100" bIns="28575" numCol="1" spcCol="1270" anchor="t" anchorCtr="0">
          <a:noAutofit/>
        </a:bodyPr>
        <a:lstStyle/>
        <a:p>
          <a:pPr lvl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b="1" kern="1200" dirty="0" smtClean="0"/>
            <a:t>Повременная</a:t>
          </a:r>
          <a:endParaRPr lang="ru-RU" sz="1500" b="1" kern="1200" dirty="0"/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200" kern="1200" dirty="0" smtClean="0"/>
            <a:t>Простая повременная</a:t>
          </a:r>
          <a:endParaRPr lang="ru-RU" sz="1200" kern="1200" dirty="0"/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200" kern="1200" dirty="0" smtClean="0"/>
            <a:t>Повременно-премиальная</a:t>
          </a:r>
          <a:endParaRPr lang="ru-RU" sz="1200" kern="1200" dirty="0"/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200" kern="1200" dirty="0" smtClean="0"/>
            <a:t>окладная</a:t>
          </a:r>
          <a:endParaRPr lang="ru-RU" sz="1200" kern="1200" dirty="0"/>
        </a:p>
      </dsp:txBody>
      <dsp:txXfrm>
        <a:off x="38492" y="1729876"/>
        <a:ext cx="2827395" cy="1237213"/>
      </dsp:txXfrm>
    </dsp:sp>
    <dsp:sp modelId="{6C6FE253-2AB9-42BB-83D1-CDA33DF1ACA9}">
      <dsp:nvSpPr>
        <dsp:cNvPr id="0" name=""/>
        <dsp:cNvSpPr/>
      </dsp:nvSpPr>
      <dsp:spPr>
        <a:xfrm>
          <a:off x="49988" y="3183595"/>
          <a:ext cx="2804404" cy="21685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t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b="1" kern="1200" dirty="0" smtClean="0"/>
            <a:t>Сдельная</a:t>
          </a:r>
          <a:endParaRPr lang="ru-RU" sz="1800" b="1" kern="1200" dirty="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400" kern="1200" dirty="0" smtClean="0"/>
            <a:t>Прямая сдельная</a:t>
          </a:r>
          <a:endParaRPr lang="ru-RU" sz="1400" kern="1200" dirty="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400" kern="1200" dirty="0" smtClean="0"/>
            <a:t>Сдельно-прогрессивная</a:t>
          </a:r>
          <a:endParaRPr lang="ru-RU" sz="1400" kern="1200" dirty="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400" kern="1200" dirty="0" smtClean="0"/>
            <a:t>Сдельно- премиальная</a:t>
          </a:r>
          <a:endParaRPr lang="ru-RU" sz="1400" kern="1200" dirty="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400" kern="1200" dirty="0" smtClean="0"/>
            <a:t>Косвенно-сдельная</a:t>
          </a:r>
          <a:endParaRPr lang="ru-RU" sz="1400" kern="1200" dirty="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400" kern="1200" dirty="0" smtClean="0"/>
            <a:t>Аккордная индивидуальная </a:t>
          </a:r>
          <a:endParaRPr lang="ru-RU" sz="1400" kern="1200" dirty="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400" kern="1200" dirty="0" smtClean="0"/>
            <a:t>Аккордная коллективная</a:t>
          </a:r>
          <a:endParaRPr lang="ru-RU" sz="1400" kern="1200" dirty="0"/>
        </a:p>
      </dsp:txBody>
      <dsp:txXfrm>
        <a:off x="113503" y="3247110"/>
        <a:ext cx="2677374" cy="2041541"/>
      </dsp:txXfrm>
    </dsp:sp>
    <dsp:sp modelId="{5A74D1B8-468E-4C0B-93F3-297D262F3534}">
      <dsp:nvSpPr>
        <dsp:cNvPr id="0" name=""/>
        <dsp:cNvSpPr/>
      </dsp:nvSpPr>
      <dsp:spPr>
        <a:xfrm>
          <a:off x="3122040" y="0"/>
          <a:ext cx="2902148" cy="563484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1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lvl="0" algn="ctr" defTabSz="1644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700" kern="1200" dirty="0" smtClean="0"/>
            <a:t>Бестарифная система</a:t>
          </a:r>
          <a:endParaRPr lang="ru-RU" sz="3700" kern="1200" dirty="0"/>
        </a:p>
      </dsp:txBody>
      <dsp:txXfrm>
        <a:off x="3122040" y="0"/>
        <a:ext cx="2902148" cy="1690452"/>
      </dsp:txXfrm>
    </dsp:sp>
    <dsp:sp modelId="{734F8AB1-EE58-442D-9694-D06E4C8DD22A}">
      <dsp:nvSpPr>
        <dsp:cNvPr id="0" name=""/>
        <dsp:cNvSpPr/>
      </dsp:nvSpPr>
      <dsp:spPr>
        <a:xfrm>
          <a:off x="3411140" y="1679574"/>
          <a:ext cx="2321718" cy="366264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28575" rIns="38100" bIns="2857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b="0" i="0" kern="1200" dirty="0" smtClean="0">
              <a:solidFill>
                <a:schemeClr val="tx1"/>
              </a:solidFill>
            </a:rPr>
            <a:t>форма расчёта заработной платы, при которой </a:t>
          </a:r>
          <a:r>
            <a:rPr lang="ru-RU" sz="1500" b="1" i="0" kern="1200" dirty="0" smtClean="0">
              <a:solidFill>
                <a:schemeClr val="tx1"/>
              </a:solidFill>
            </a:rPr>
            <a:t>доход каждого члена коллектива пропорционален его вкладу в общий результат работы</a:t>
          </a:r>
          <a:r>
            <a:rPr lang="ru-RU" sz="1500" b="0" i="0" kern="1200" dirty="0" smtClean="0">
              <a:solidFill>
                <a:schemeClr val="tx1"/>
              </a:solidFill>
            </a:rPr>
            <a:t>. При такой системе отсутствуют твёрдые тарифные ставки и оклады, а заработная плата каждого сотрудника — </a:t>
          </a:r>
          <a:r>
            <a:rPr lang="ru-RU" sz="1500" b="1" i="0" kern="1200" dirty="0" smtClean="0">
              <a:solidFill>
                <a:schemeClr val="tx1"/>
              </a:solidFill>
            </a:rPr>
            <a:t>доля в общем фонде оплаты труда</a:t>
          </a:r>
          <a:r>
            <a:rPr lang="ru-RU" sz="1500" b="0" i="0" kern="1200" dirty="0" smtClean="0">
              <a:solidFill>
                <a:schemeClr val="tx1"/>
              </a:solidFill>
            </a:rPr>
            <a:t>. </a:t>
          </a:r>
          <a:r>
            <a:rPr lang="ru-RU" sz="1500" b="0" kern="1200" dirty="0" smtClean="0">
              <a:solidFill>
                <a:schemeClr val="tx1"/>
              </a:solidFill>
              <a:hlinkClick xmlns:r="http://schemas.openxmlformats.org/officeDocument/2006/relationships" r:id="rId1"/>
            </a:rPr>
            <a:t/>
          </a:r>
          <a:br>
            <a:rPr lang="ru-RU" sz="1500" b="0" kern="1200" dirty="0" smtClean="0">
              <a:solidFill>
                <a:schemeClr val="tx1"/>
              </a:solidFill>
              <a:hlinkClick xmlns:r="http://schemas.openxmlformats.org/officeDocument/2006/relationships" r:id="rId1"/>
            </a:rPr>
          </a:br>
          <a:endParaRPr lang="ru-RU" sz="1500" kern="1200" dirty="0">
            <a:solidFill>
              <a:schemeClr val="tx1"/>
            </a:solidFill>
          </a:endParaRPr>
        </a:p>
      </dsp:txBody>
      <dsp:txXfrm>
        <a:off x="3479141" y="1747575"/>
        <a:ext cx="2185716" cy="3526645"/>
      </dsp:txXfrm>
    </dsp:sp>
    <dsp:sp modelId="{014C08AF-6346-47B7-B530-C379D42F5F50}">
      <dsp:nvSpPr>
        <dsp:cNvPr id="0" name=""/>
        <dsp:cNvSpPr/>
      </dsp:nvSpPr>
      <dsp:spPr>
        <a:xfrm>
          <a:off x="6241849" y="0"/>
          <a:ext cx="2902148" cy="563484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1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lvl="0" algn="ctr" defTabSz="1644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700" kern="1200" dirty="0" smtClean="0"/>
            <a:t>Смешанная</a:t>
          </a:r>
          <a:endParaRPr lang="ru-RU" sz="3700" kern="1200" dirty="0"/>
        </a:p>
      </dsp:txBody>
      <dsp:txXfrm>
        <a:off x="6241849" y="0"/>
        <a:ext cx="2902148" cy="1690452"/>
      </dsp:txXfrm>
    </dsp:sp>
    <dsp:sp modelId="{2EB2A12A-780A-4A00-A916-DBA4544344E1}">
      <dsp:nvSpPr>
        <dsp:cNvPr id="0" name=""/>
        <dsp:cNvSpPr/>
      </dsp:nvSpPr>
      <dsp:spPr>
        <a:xfrm>
          <a:off x="6532064" y="1690934"/>
          <a:ext cx="2321718" cy="110702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28575" rIns="38100" bIns="28575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dirty="0" smtClean="0"/>
            <a:t>Система плавающих окладов</a:t>
          </a:r>
          <a:endParaRPr lang="ru-RU" sz="1500" kern="1200" dirty="0"/>
        </a:p>
      </dsp:txBody>
      <dsp:txXfrm>
        <a:off x="6564488" y="1723358"/>
        <a:ext cx="2256870" cy="1042172"/>
      </dsp:txXfrm>
    </dsp:sp>
    <dsp:sp modelId="{F672EA77-6CF3-48DC-A606-E2B1C734FB89}">
      <dsp:nvSpPr>
        <dsp:cNvPr id="0" name=""/>
        <dsp:cNvSpPr/>
      </dsp:nvSpPr>
      <dsp:spPr>
        <a:xfrm>
          <a:off x="6532064" y="2968265"/>
          <a:ext cx="2321718" cy="110702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28575" rIns="38100" bIns="28575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dirty="0" smtClean="0"/>
            <a:t>Комиссионная</a:t>
          </a:r>
          <a:endParaRPr lang="ru-RU" sz="1500" kern="1200" dirty="0"/>
        </a:p>
      </dsp:txBody>
      <dsp:txXfrm>
        <a:off x="6564488" y="3000689"/>
        <a:ext cx="2256870" cy="1042172"/>
      </dsp:txXfrm>
    </dsp:sp>
    <dsp:sp modelId="{8BD02FD6-582D-4063-921B-21E871F7DEE7}">
      <dsp:nvSpPr>
        <dsp:cNvPr id="0" name=""/>
        <dsp:cNvSpPr/>
      </dsp:nvSpPr>
      <dsp:spPr>
        <a:xfrm>
          <a:off x="6532064" y="4245597"/>
          <a:ext cx="2321718" cy="110702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28575" rIns="38100" bIns="28575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dirty="0" smtClean="0"/>
            <a:t>Дилерский механизм</a:t>
          </a:r>
          <a:endParaRPr lang="ru-RU" sz="1500" kern="1200" dirty="0"/>
        </a:p>
      </dsp:txBody>
      <dsp:txXfrm>
        <a:off x="6564488" y="4278021"/>
        <a:ext cx="2256870" cy="104217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0B5CC4-D5AB-4ECB-AEE2-68BC95F17179}">
      <dsp:nvSpPr>
        <dsp:cNvPr id="0" name=""/>
        <dsp:cNvSpPr/>
      </dsp:nvSpPr>
      <dsp:spPr>
        <a:xfrm>
          <a:off x="0" y="329943"/>
          <a:ext cx="9144000" cy="163251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 dirty="0" smtClean="0"/>
            <a:t>если с работником заключен договор о полной материальной ответственности за ущерб, причиненный работодателю при исполнении работником трудовых обязанностей;</a:t>
          </a:r>
          <a:endParaRPr lang="ru-RU" sz="1900" kern="1200" dirty="0"/>
        </a:p>
      </dsp:txBody>
      <dsp:txXfrm>
        <a:off x="79693" y="409636"/>
        <a:ext cx="8984614" cy="1473129"/>
      </dsp:txXfrm>
    </dsp:sp>
    <dsp:sp modelId="{7C7894E2-5D09-4F96-9696-90C3C2DC781B}">
      <dsp:nvSpPr>
        <dsp:cNvPr id="0" name=""/>
        <dsp:cNvSpPr/>
      </dsp:nvSpPr>
      <dsp:spPr>
        <a:xfrm>
          <a:off x="0" y="2017179"/>
          <a:ext cx="9144000" cy="163251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 smtClean="0"/>
            <a:t>недостача ценностей, вверенных ему на основании специального письменного договора или полученных им по разовому документу;</a:t>
          </a:r>
          <a:endParaRPr lang="ru-RU" sz="1900" kern="1200"/>
        </a:p>
      </dsp:txBody>
      <dsp:txXfrm>
        <a:off x="79693" y="2096872"/>
        <a:ext cx="8984614" cy="1473129"/>
      </dsp:txXfrm>
    </dsp:sp>
    <dsp:sp modelId="{A2A8BDAE-C886-4A56-BE13-134D36EBDADC}">
      <dsp:nvSpPr>
        <dsp:cNvPr id="0" name=""/>
        <dsp:cNvSpPr/>
      </dsp:nvSpPr>
      <dsp:spPr>
        <a:xfrm>
          <a:off x="0" y="3704414"/>
          <a:ext cx="9144000" cy="163251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 smtClean="0"/>
            <a:t>причинение ущерба в состоянии алкогольного, наркотического или токсического опьянения (что должно быть подтверждено документально — справками медицинских учреждений или свидетелями, актом, своевременно составленным непосредственным или другим руководителем работника при участии очевидцев (свидетелей), появления работника на работе в состоянии алкогольного опьянения);</a:t>
          </a:r>
          <a:endParaRPr lang="ru-RU" sz="1900" kern="1200"/>
        </a:p>
      </dsp:txBody>
      <dsp:txXfrm>
        <a:off x="79693" y="3784107"/>
        <a:ext cx="8984614" cy="147312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B99969-C900-4953-8317-CA3D1D4F5EFF}">
      <dsp:nvSpPr>
        <dsp:cNvPr id="0" name=""/>
        <dsp:cNvSpPr/>
      </dsp:nvSpPr>
      <dsp:spPr>
        <a:xfrm>
          <a:off x="0" y="78244"/>
          <a:ext cx="9144001" cy="113216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smtClean="0"/>
            <a:t>умышленное причинение ущерба;</a:t>
          </a:r>
          <a:endParaRPr lang="ru-RU" sz="1600" kern="1200"/>
        </a:p>
      </dsp:txBody>
      <dsp:txXfrm>
        <a:off x="55268" y="133512"/>
        <a:ext cx="9033465" cy="1021630"/>
      </dsp:txXfrm>
    </dsp:sp>
    <dsp:sp modelId="{B2529070-F14B-4CFB-AE91-1920D2283CDE}">
      <dsp:nvSpPr>
        <dsp:cNvPr id="0" name=""/>
        <dsp:cNvSpPr/>
      </dsp:nvSpPr>
      <dsp:spPr>
        <a:xfrm>
          <a:off x="0" y="1256491"/>
          <a:ext cx="9144001" cy="113216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smtClean="0"/>
            <a:t>причинение ущерба в результате преступных действий работника, установленных приговором суда;</a:t>
          </a:r>
          <a:endParaRPr lang="ru-RU" sz="1600" kern="1200"/>
        </a:p>
      </dsp:txBody>
      <dsp:txXfrm>
        <a:off x="55268" y="1311759"/>
        <a:ext cx="9033465" cy="1021630"/>
      </dsp:txXfrm>
    </dsp:sp>
    <dsp:sp modelId="{1A207B29-C2B4-43ED-920B-326401684EDA}">
      <dsp:nvSpPr>
        <dsp:cNvPr id="0" name=""/>
        <dsp:cNvSpPr/>
      </dsp:nvSpPr>
      <dsp:spPr>
        <a:xfrm>
          <a:off x="0" y="2434738"/>
          <a:ext cx="9144001" cy="113216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smtClean="0"/>
            <a:t>причинение ущерба в результате административного проступка, если таковой установлен соответствующим государственным органом;</a:t>
          </a:r>
          <a:endParaRPr lang="ru-RU" sz="1600" kern="1200"/>
        </a:p>
      </dsp:txBody>
      <dsp:txXfrm>
        <a:off x="55268" y="2490006"/>
        <a:ext cx="9033465" cy="1021630"/>
      </dsp:txXfrm>
    </dsp:sp>
    <dsp:sp modelId="{C1225D78-014B-41C9-94FC-5B87C411D132}">
      <dsp:nvSpPr>
        <dsp:cNvPr id="0" name=""/>
        <dsp:cNvSpPr/>
      </dsp:nvSpPr>
      <dsp:spPr>
        <a:xfrm>
          <a:off x="0" y="3612984"/>
          <a:ext cx="9144001" cy="113216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smtClean="0"/>
            <a:t>разглашение сведений, составляющих охраняемую законом тайну (государственную, служебную, коммерческую или иную);</a:t>
          </a:r>
          <a:endParaRPr lang="ru-RU" sz="1600" kern="1200"/>
        </a:p>
      </dsp:txBody>
      <dsp:txXfrm>
        <a:off x="55268" y="3668252"/>
        <a:ext cx="9033465" cy="1021630"/>
      </dsp:txXfrm>
    </dsp:sp>
    <dsp:sp modelId="{8A7A01EC-19CF-45C0-8C66-4315490D3872}">
      <dsp:nvSpPr>
        <dsp:cNvPr id="0" name=""/>
        <dsp:cNvSpPr/>
      </dsp:nvSpPr>
      <dsp:spPr>
        <a:xfrm>
          <a:off x="0" y="4791231"/>
          <a:ext cx="9144001" cy="113216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smtClean="0"/>
            <a:t>причинение ущерба не при исполнении работником трудовых обязанностей (ущерб причинен в свободное от работы время либо когда работник трудился, но при этом не выполнял свои трудовые обязанности, что происходит в связи с использованием работником в своих интересах имущества, принадлежащего работодателю).</a:t>
          </a:r>
          <a:endParaRPr lang="ru-RU" sz="1600" kern="1200"/>
        </a:p>
      </dsp:txBody>
      <dsp:txXfrm>
        <a:off x="55268" y="4846499"/>
        <a:ext cx="9033465" cy="10216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#1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B0120-34BC-4D2D-A004-D755CDB5BD4A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6FA45-C57A-445D-B033-0774190700E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24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B0120-34BC-4D2D-A004-D755CDB5BD4A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6FA45-C57A-445D-B033-0774190700E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094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B0120-34BC-4D2D-A004-D755CDB5BD4A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6FA45-C57A-445D-B033-0774190700E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300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B0120-34BC-4D2D-A004-D755CDB5BD4A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6FA45-C57A-445D-B033-0774190700E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549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B0120-34BC-4D2D-A004-D755CDB5BD4A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6FA45-C57A-445D-B033-0774190700E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302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B0120-34BC-4D2D-A004-D755CDB5BD4A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6FA45-C57A-445D-B033-0774190700E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636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B0120-34BC-4D2D-A004-D755CDB5BD4A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6FA45-C57A-445D-B033-0774190700E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662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B0120-34BC-4D2D-A004-D755CDB5BD4A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6FA45-C57A-445D-B033-0774190700E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539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B0120-34BC-4D2D-A004-D755CDB5BD4A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6FA45-C57A-445D-B033-0774190700E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966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B0120-34BC-4D2D-A004-D755CDB5BD4A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6FA45-C57A-445D-B033-0774190700E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90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B0120-34BC-4D2D-A004-D755CDB5BD4A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6FA45-C57A-445D-B033-0774190700E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073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2B0120-34BC-4D2D-A004-D755CDB5BD4A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C6FA45-C57A-445D-B033-0774190700E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768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slide" Target="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onsultant.ru/document/cons_doc_LAW_34683/32bc8a874b61cdf14efa68cbaff3c644e05ea597/" TargetMode="External"/><Relationship Id="rId3" Type="http://schemas.openxmlformats.org/officeDocument/2006/relationships/hyperlink" Target="https://www.consultant.ru/document/cons_doc_LAW_34683/a0a891ee650687026ef53d5d1194983419be6793/" TargetMode="External"/><Relationship Id="rId7" Type="http://schemas.openxmlformats.org/officeDocument/2006/relationships/hyperlink" Target="https://www.consultant.ru/document/cons_doc_LAW_34683/d11de7be54026a50672948edfb583e5f37bc48b6/" TargetMode="External"/><Relationship Id="rId2" Type="http://schemas.openxmlformats.org/officeDocument/2006/relationships/hyperlink" Target="https://www.consultant.ru/document/cons_doc_LAW_34683/12fdabe1c6c090a33e327161c95b4d430b5629c9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onsultant.ru/document/cons_doc_LAW_34683/a6a0176ee414c56cbffecc3d3fe9c161603a3b35/" TargetMode="External"/><Relationship Id="rId5" Type="http://schemas.openxmlformats.org/officeDocument/2006/relationships/hyperlink" Target="https://www.consultant.ru/document/cons_doc_LAW_34683/c6eeef5fbf30c0b7f380760295dd5d0b47730bdb/" TargetMode="External"/><Relationship Id="rId4" Type="http://schemas.openxmlformats.org/officeDocument/2006/relationships/hyperlink" Target="https://www.consultant.ru/document/cons_doc_LAW_34683/7c8d2fe49f0c8b8d13723803f2e82228f99b6d7e/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diagramLayout" Target="../diagrams/layout2.xml"/><Relationship Id="rId7" Type="http://schemas.openxmlformats.org/officeDocument/2006/relationships/image" Target="../media/image6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lerk.ru/cdoc/view/federalnyj-zakon-ot-29122006-no-255-fz-ob-obazatelnom-socialnom-strahovanii-na-slucaj-vremennoj-netrudosposobnosti-i-v-svazi-s-materinstvom/stata-7-razmer-posobia-po-vremennoj-netrudosposobnosti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://publication.pravo.gov.ru/Document/View/0001202411300020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onsultant.ru/document/cons_doc_LAW_34683/86e314b2dcc4a7e8a2930c84a10ef590d3d05344/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onsultant.ru/document/cons_doc_LAW_34683/7c8d2fe49f0c8b8d13723803f2e82228f99b6d7e/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nsultant.ru/document/cons_doc_LAW_34683/eb14121652bc471dab9265bb47825d02f4fb7214/" TargetMode="External"/><Relationship Id="rId2" Type="http://schemas.openxmlformats.org/officeDocument/2006/relationships/hyperlink" Target="https://www.consultant.ru/document/cons_doc_LAW_34683/490396c999c8678eae3e64c3b6987c972864218f/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normativ.kontur.ru/document?moduleId=1&amp;documentId=494974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____Microsoft_Word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8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2064" y="549973"/>
            <a:ext cx="7301900" cy="1772603"/>
          </a:xfrm>
        </p:spPr>
        <p:txBody>
          <a:bodyPr>
            <a:noAutofit/>
          </a:bodyPr>
          <a:lstStyle/>
          <a:p>
            <a:pPr algn="l"/>
            <a:r>
              <a:rPr lang="ru-RU" sz="6600" b="1" dirty="0" smtClean="0">
                <a:solidFill>
                  <a:schemeClr val="bg1"/>
                </a:solidFill>
                <a:latin typeface="+mn-lt"/>
              </a:rPr>
              <a:t>Формы и системы оплаты труда</a:t>
            </a:r>
            <a:endParaRPr lang="en-US" sz="6600" b="1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3246" y="3886436"/>
            <a:ext cx="4583876" cy="3437907"/>
          </a:xfrm>
          <a:prstGeom prst="rect">
            <a:avLst/>
          </a:prstGeom>
        </p:spPr>
      </p:pic>
      <p:sp>
        <p:nvSpPr>
          <p:cNvPr id="4" name="Стрелка вправо 3">
            <a:hlinkClick r:id="" action="ppaction://hlinkshowjump?jump=nextslide"/>
          </p:cNvPr>
          <p:cNvSpPr/>
          <p:nvPr/>
        </p:nvSpPr>
        <p:spPr>
          <a:xfrm>
            <a:off x="8514608" y="6565450"/>
            <a:ext cx="593766" cy="23156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одзаголовок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7225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8753"/>
            <a:ext cx="7886700" cy="831274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Понятие оплаты труда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1448790"/>
            <a:ext cx="9144000" cy="5409210"/>
          </a:xfrm>
        </p:spPr>
        <p:txBody>
          <a:bodyPr>
            <a:normAutofit/>
          </a:bodyPr>
          <a:lstStyle/>
          <a:p>
            <a:pPr marL="0" indent="457200" algn="just">
              <a:buNone/>
            </a:pPr>
            <a:r>
              <a:rPr lang="ru-RU" b="1" dirty="0" smtClean="0"/>
              <a:t>Оплата труда работников предприятия- </a:t>
            </a:r>
            <a:r>
              <a:rPr lang="ru-RU" dirty="0" smtClean="0"/>
              <a:t>это цена трудовых ресурсов, задействованных в производственном процессе. Определяется количеством и качеством затраченного труда, а также спросом и предложением труда, территориальными аспектами и законодательными нормами. </a:t>
            </a:r>
            <a:r>
              <a:rPr lang="ru-RU" b="1" dirty="0"/>
              <a:t>С</a:t>
            </a:r>
            <a:r>
              <a:rPr lang="ru-RU" b="1" dirty="0" smtClean="0"/>
              <a:t>т.130 ТК РФ </a:t>
            </a:r>
            <a:r>
              <a:rPr lang="ru-RU" dirty="0" smtClean="0"/>
              <a:t>определяет основные государственные гарантии по оплате труда.</a:t>
            </a:r>
          </a:p>
          <a:p>
            <a:pPr marL="0" indent="457200">
              <a:buNone/>
            </a:pPr>
            <a:r>
              <a:rPr lang="ru-RU" b="1" dirty="0" smtClean="0"/>
              <a:t>Минимальный размер оплаты труда (МРОТ) </a:t>
            </a:r>
            <a:r>
              <a:rPr lang="ru-RU" dirty="0"/>
              <a:t>это нижний порог </a:t>
            </a:r>
            <a:r>
              <a:rPr lang="ru-RU" dirty="0" smtClean="0"/>
              <a:t>вознаграждения</a:t>
            </a:r>
            <a:r>
              <a:rPr lang="ru-RU" dirty="0"/>
              <a:t> </a:t>
            </a:r>
            <a:r>
              <a:rPr lang="ru-RU" dirty="0" smtClean="0"/>
              <a:t>за проделанную работу, установленный государством</a:t>
            </a:r>
          </a:p>
          <a:p>
            <a:endParaRPr lang="ru-RU" dirty="0"/>
          </a:p>
        </p:txBody>
      </p:sp>
      <p:sp>
        <p:nvSpPr>
          <p:cNvPr id="4" name="Стрелка влево 3">
            <a:hlinkClick r:id="" action="ppaction://hlinkshowjump?jump=previousslide"/>
          </p:cNvPr>
          <p:cNvSpPr/>
          <p:nvPr/>
        </p:nvSpPr>
        <p:spPr>
          <a:xfrm>
            <a:off x="95003" y="6507678"/>
            <a:ext cx="533647" cy="26125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Стрелка вправо 4">
            <a:hlinkClick r:id="" action="ppaction://hlinkshowjump?jump=nextslide"/>
          </p:cNvPr>
          <p:cNvSpPr/>
          <p:nvPr/>
        </p:nvSpPr>
        <p:spPr>
          <a:xfrm>
            <a:off x="8277101" y="6507678"/>
            <a:ext cx="556002" cy="2612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Выгнутая вниз стрелка 6">
            <a:hlinkClick r:id="rId2" action="ppaction://hlinksldjump"/>
          </p:cNvPr>
          <p:cNvSpPr/>
          <p:nvPr/>
        </p:nvSpPr>
        <p:spPr>
          <a:xfrm>
            <a:off x="4352120" y="6513616"/>
            <a:ext cx="439759" cy="255319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2852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1268" y="261257"/>
            <a:ext cx="7874082" cy="688769"/>
          </a:xfrm>
        </p:spPr>
        <p:txBody>
          <a:bodyPr>
            <a:no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Принципы оплаты труда 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( по Ф.Тейлору)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7668052"/>
              </p:ext>
            </p:extLst>
          </p:nvPr>
        </p:nvGraphicFramePr>
        <p:xfrm>
          <a:off x="178130" y="1282535"/>
          <a:ext cx="8965870" cy="46687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Рисунок 4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580" y="6565367"/>
            <a:ext cx="548688" cy="292633"/>
          </a:xfrm>
          <a:prstGeom prst="rect">
            <a:avLst/>
          </a:prstGeom>
        </p:spPr>
      </p:pic>
      <p:pic>
        <p:nvPicPr>
          <p:cNvPr id="6" name="Рисунок 5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8700" y="6539929"/>
            <a:ext cx="573074" cy="273976"/>
          </a:xfrm>
          <a:prstGeom prst="rect">
            <a:avLst/>
          </a:prstGeom>
        </p:spPr>
      </p:pic>
      <p:sp>
        <p:nvSpPr>
          <p:cNvPr id="7" name="Выгнутая вниз стрелка 6">
            <a:hlinkClick r:id="rId9" action="ppaction://hlinksldjump"/>
          </p:cNvPr>
          <p:cNvSpPr/>
          <p:nvPr/>
        </p:nvSpPr>
        <p:spPr>
          <a:xfrm>
            <a:off x="4352120" y="6513616"/>
            <a:ext cx="439759" cy="255319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810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32401"/>
          </a:xfrm>
        </p:spPr>
        <p:txBody>
          <a:bodyPr>
            <a:no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Структура заработной платы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1282537"/>
            <a:ext cx="8515350" cy="890648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Согласно ст.129 ТК РФ структура заработной платы выглядит так:</a:t>
            </a:r>
          </a:p>
          <a:p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3519676"/>
              </p:ext>
            </p:extLst>
          </p:nvPr>
        </p:nvGraphicFramePr>
        <p:xfrm>
          <a:off x="106878" y="2173184"/>
          <a:ext cx="9037122" cy="45838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18561">
                  <a:extLst>
                    <a:ext uri="{9D8B030D-6E8A-4147-A177-3AD203B41FA5}">
                      <a16:colId xmlns:a16="http://schemas.microsoft.com/office/drawing/2014/main" val="2884053874"/>
                    </a:ext>
                  </a:extLst>
                </a:gridCol>
                <a:gridCol w="4518561">
                  <a:extLst>
                    <a:ext uri="{9D8B030D-6E8A-4147-A177-3AD203B41FA5}">
                      <a16:colId xmlns:a16="http://schemas.microsoft.com/office/drawing/2014/main" val="503586400"/>
                    </a:ext>
                  </a:extLst>
                </a:gridCol>
              </a:tblGrid>
              <a:tr h="608887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Составляющие</a:t>
                      </a:r>
                      <a:r>
                        <a:rPr lang="ru-RU" baseline="0" dirty="0" smtClean="0"/>
                        <a:t> заработной платы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Пояснение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0600097"/>
                  </a:ext>
                </a:extLst>
              </a:tr>
              <a:tr h="71346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Вознаграждение за труд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Тарифная ставка или оклад</a:t>
                      </a:r>
                    </a:p>
                    <a:p>
                      <a:pPr algn="ctr"/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915244"/>
                  </a:ext>
                </a:extLst>
              </a:tr>
              <a:tr h="1936533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Компенсационные выплаты	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Доплаты и надбавки компенсационного характера, в том числе за работу в условиях, отклоняющихся от нормальных, работу в особых климатических условиях и на территориях, подвергшихся радиационному загрязнению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8373658"/>
                  </a:ext>
                </a:extLst>
              </a:tr>
              <a:tr h="1324996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Стимулирующие выплаты	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Доплаты и надбавки стимулирующего характера, премии, иные поощрительные выплаты</a:t>
                      </a:r>
                    </a:p>
                    <a:p>
                      <a:pPr algn="ctr"/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153737"/>
                  </a:ext>
                </a:extLst>
              </a:tr>
            </a:tbl>
          </a:graphicData>
        </a:graphic>
      </p:graphicFrame>
      <p:pic>
        <p:nvPicPr>
          <p:cNvPr id="5" name="Рисунок 4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78" y="6565367"/>
            <a:ext cx="548688" cy="292633"/>
          </a:xfrm>
          <a:prstGeom prst="rect">
            <a:avLst/>
          </a:prstGeom>
        </p:spPr>
      </p:pic>
      <p:pic>
        <p:nvPicPr>
          <p:cNvPr id="6" name="Рисунок 5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350" y="6565367"/>
            <a:ext cx="573074" cy="292633"/>
          </a:xfrm>
          <a:prstGeom prst="rect">
            <a:avLst/>
          </a:prstGeom>
        </p:spPr>
      </p:pic>
      <p:sp>
        <p:nvSpPr>
          <p:cNvPr id="7" name="Выгнутая вниз стрелка 6">
            <a:hlinkClick r:id="rId4" action="ppaction://hlinksldjump"/>
          </p:cNvPr>
          <p:cNvSpPr/>
          <p:nvPr/>
        </p:nvSpPr>
        <p:spPr>
          <a:xfrm>
            <a:off x="4352120" y="6513616"/>
            <a:ext cx="439759" cy="255319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9121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51370"/>
            <a:ext cx="7886700" cy="774905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Формы оплаты труда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1341912"/>
            <a:ext cx="8515350" cy="5516088"/>
          </a:xfrm>
        </p:spPr>
        <p:txBody>
          <a:bodyPr>
            <a:normAutofit lnSpcReduction="10000"/>
          </a:bodyPr>
          <a:lstStyle/>
          <a:p>
            <a:pPr marL="0" indent="457200">
              <a:buNone/>
            </a:pPr>
            <a:r>
              <a:rPr lang="ru-RU" b="1" dirty="0"/>
              <a:t>Ст. 131 ТК РФ </a:t>
            </a:r>
            <a:r>
              <a:rPr lang="ru-RU" dirty="0"/>
              <a:t>закрепляет две формы, в которых может быть оплачен труд</a:t>
            </a:r>
            <a:r>
              <a:rPr lang="ru-RU" dirty="0" smtClean="0"/>
              <a:t>:</a:t>
            </a:r>
            <a:endParaRPr lang="ru-RU" dirty="0"/>
          </a:p>
          <a:p>
            <a:r>
              <a:rPr lang="ru-RU" dirty="0" smtClean="0"/>
              <a:t>денежная </a:t>
            </a:r>
            <a:r>
              <a:rPr lang="ru-RU" dirty="0"/>
              <a:t>– производится в рублях.</a:t>
            </a:r>
          </a:p>
          <a:p>
            <a:r>
              <a:rPr lang="ru-RU" dirty="0" smtClean="0"/>
              <a:t>неденежная </a:t>
            </a:r>
            <a:r>
              <a:rPr lang="ru-RU" dirty="0"/>
              <a:t>– натуральная — выплачивается в любом незапрещенном законом вещественном или невещественном виде. Размер натуральной части не более 20 % от всей зарплаты лица</a:t>
            </a:r>
            <a:r>
              <a:rPr lang="ru-RU" dirty="0" smtClean="0"/>
              <a:t>.</a:t>
            </a:r>
          </a:p>
          <a:p>
            <a:pPr marL="0" indent="457200">
              <a:buNone/>
            </a:pPr>
            <a:r>
              <a:rPr lang="ru-RU" dirty="0"/>
              <a:t>Выплата заработной платы в </a:t>
            </a:r>
            <a:r>
              <a:rPr lang="ru-RU" dirty="0" smtClean="0"/>
              <a:t>форме </a:t>
            </a:r>
            <a:r>
              <a:rPr lang="ru-RU" dirty="0"/>
              <a:t>долговых обязательств, расписок, а также в виде спиртных напитков, наркотических, ядовитых, вредных и иных токсических веществ, оружия, боеприпасов и других предметов, в отношении которых установлены запреты или ограничения на их свободный оборот, не допускается.</a:t>
            </a:r>
          </a:p>
        </p:txBody>
      </p:sp>
      <p:pic>
        <p:nvPicPr>
          <p:cNvPr id="4" name="Рисунок 3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44" y="6565367"/>
            <a:ext cx="548688" cy="292633"/>
          </a:xfrm>
          <a:prstGeom prst="rect">
            <a:avLst/>
          </a:prstGeom>
        </p:spPr>
      </p:pic>
      <p:pic>
        <p:nvPicPr>
          <p:cNvPr id="5" name="Рисунок 4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1357" y="6565367"/>
            <a:ext cx="573074" cy="292633"/>
          </a:xfrm>
          <a:prstGeom prst="rect">
            <a:avLst/>
          </a:prstGeom>
        </p:spPr>
      </p:pic>
      <p:sp>
        <p:nvSpPr>
          <p:cNvPr id="6" name="Выгнутая вниз стрелка 5">
            <a:hlinkClick r:id="rId4" action="ppaction://hlinksldjump"/>
          </p:cNvPr>
          <p:cNvSpPr/>
          <p:nvPr/>
        </p:nvSpPr>
        <p:spPr>
          <a:xfrm>
            <a:off x="4352120" y="6513616"/>
            <a:ext cx="439759" cy="255319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7456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51370"/>
            <a:ext cx="7886700" cy="774905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Формы оплаты труда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1341912"/>
            <a:ext cx="9144000" cy="5516088"/>
          </a:xfrm>
        </p:spPr>
        <p:txBody>
          <a:bodyPr>
            <a:normAutofit lnSpcReduction="10000"/>
          </a:bodyPr>
          <a:lstStyle/>
          <a:p>
            <a:pPr marL="0" indent="457200" algn="just">
              <a:buNone/>
            </a:pPr>
            <a:r>
              <a:rPr lang="ru-RU" b="1" dirty="0" smtClean="0"/>
              <a:t>Повременная форма оплата труда</a:t>
            </a:r>
            <a:r>
              <a:rPr lang="ru-RU" dirty="0" smtClean="0"/>
              <a:t>. </a:t>
            </a:r>
            <a:r>
              <a:rPr lang="ru-RU" dirty="0"/>
              <a:t>П</a:t>
            </a:r>
            <a:r>
              <a:rPr lang="ru-RU" dirty="0" smtClean="0"/>
              <a:t>ри </a:t>
            </a:r>
            <a:r>
              <a:rPr lang="ru-RU" dirty="0"/>
              <a:t>повременной оплате труда заработок сотрудника рассчитывают исходя из фактически отработанного времени, его квалификации и условий труда</a:t>
            </a:r>
            <a:r>
              <a:rPr lang="ru-RU" dirty="0" smtClean="0"/>
              <a:t>.</a:t>
            </a:r>
          </a:p>
          <a:p>
            <a:pPr marL="0" indent="457200" algn="just">
              <a:buNone/>
            </a:pPr>
            <a:r>
              <a:rPr lang="ru-RU" b="1" dirty="0"/>
              <a:t>Сдельная форма оплаты труда</a:t>
            </a:r>
            <a:r>
              <a:rPr lang="ru-RU" dirty="0"/>
              <a:t> – это метод начисления зарплаты в зависимости от количества произведенной продукции надлежащего качества. При этом за единицу изделия устанавливается определенный размер оплаты, то есть сдельная расценка.</a:t>
            </a:r>
          </a:p>
          <a:p>
            <a:pPr marL="0" indent="457200" algn="just">
              <a:buNone/>
            </a:pPr>
            <a:r>
              <a:rPr lang="ru-RU" dirty="0"/>
              <a:t>Такой вид начисления зарплаты применяется в том случае, если объем выполняемой работы сотрудника можно измерить в количественных показателях или существует необходимость в увеличении выполняемых работ.</a:t>
            </a:r>
          </a:p>
        </p:txBody>
      </p:sp>
      <p:pic>
        <p:nvPicPr>
          <p:cNvPr id="4" name="Рисунок 3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793" y="6565367"/>
            <a:ext cx="548688" cy="292633"/>
          </a:xfrm>
          <a:prstGeom prst="rect">
            <a:avLst/>
          </a:prstGeom>
        </p:spPr>
      </p:pic>
      <p:sp>
        <p:nvSpPr>
          <p:cNvPr id="5" name="Стрелка вправо 4">
            <a:hlinkClick r:id="" action="ppaction://hlinkshowjump?jump=nextslide"/>
          </p:cNvPr>
          <p:cNvSpPr/>
          <p:nvPr/>
        </p:nvSpPr>
        <p:spPr>
          <a:xfrm>
            <a:off x="8277101" y="6507678"/>
            <a:ext cx="556002" cy="2612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Выгнутая вниз стрелка 5">
            <a:hlinkClick r:id="rId3" action="ppaction://hlinksldjump"/>
          </p:cNvPr>
          <p:cNvSpPr/>
          <p:nvPr/>
        </p:nvSpPr>
        <p:spPr>
          <a:xfrm>
            <a:off x="4352120" y="6513616"/>
            <a:ext cx="439759" cy="255319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4191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54380"/>
            <a:ext cx="7886700" cy="926276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Система оплаты труда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1330036"/>
            <a:ext cx="9144000" cy="5094515"/>
          </a:xfrm>
        </p:spPr>
        <p:txBody>
          <a:bodyPr>
            <a:normAutofit fontScale="92500" lnSpcReduction="10000"/>
          </a:bodyPr>
          <a:lstStyle/>
          <a:p>
            <a:pPr marL="0" indent="457200" algn="just">
              <a:buNone/>
            </a:pPr>
            <a:r>
              <a:rPr lang="ru-RU" dirty="0"/>
              <a:t>Система оплаты труда — это правила, по которым работодатель начисляет зарплаты сотрудникам. В </a:t>
            </a:r>
            <a:r>
              <a:rPr lang="ru-RU" dirty="0" smtClean="0"/>
              <a:t>ТК РФ говорится </a:t>
            </a:r>
            <a:r>
              <a:rPr lang="ru-RU" dirty="0"/>
              <a:t>только о тарифной системе оплаты, но работодатели могут устанавливать и другие системы на своё усмотрение</a:t>
            </a:r>
            <a:r>
              <a:rPr lang="ru-RU" dirty="0" smtClean="0"/>
              <a:t>. </a:t>
            </a:r>
          </a:p>
          <a:p>
            <a:pPr marL="0" indent="457200" algn="just">
              <a:buNone/>
            </a:pPr>
            <a:r>
              <a:rPr lang="ru-RU" dirty="0" smtClean="0"/>
              <a:t>Системы </a:t>
            </a:r>
            <a:r>
              <a:rPr lang="ru-RU" dirty="0"/>
              <a:t>оплаты труда устанавливаются в каждой конкретной организации трудовым договором, коллективным договором, соглашениями или локальными нормативными актами </a:t>
            </a:r>
            <a:r>
              <a:rPr lang="ru-RU" b="1" dirty="0"/>
              <a:t>(ст. 135 ТК РФ). </a:t>
            </a:r>
            <a:endParaRPr lang="ru-RU" b="1" dirty="0" smtClean="0"/>
          </a:p>
          <a:p>
            <a:pPr marL="0" indent="457200" algn="just">
              <a:buNone/>
            </a:pPr>
            <a:r>
              <a:rPr lang="ru-RU" dirty="0" smtClean="0"/>
              <a:t>В систему оплаты труда входят:</a:t>
            </a:r>
            <a:endParaRPr lang="ru-RU" dirty="0"/>
          </a:p>
          <a:p>
            <a:pPr algn="just"/>
            <a:r>
              <a:rPr lang="ru-RU" dirty="0"/>
              <a:t>размеры тарифных ставок, окладов;</a:t>
            </a:r>
          </a:p>
          <a:p>
            <a:pPr algn="just"/>
            <a:r>
              <a:rPr lang="ru-RU" dirty="0"/>
              <a:t>размеры доплат и надбавок компенсационного характера;</a:t>
            </a:r>
          </a:p>
          <a:p>
            <a:pPr algn="just"/>
            <a:r>
              <a:rPr lang="ru-RU" dirty="0"/>
              <a:t>система доплат и надбавок стимулирующего характера и система премирования.</a:t>
            </a:r>
          </a:p>
        </p:txBody>
      </p:sp>
      <p:pic>
        <p:nvPicPr>
          <p:cNvPr id="4" name="Рисунок 3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06" y="6565367"/>
            <a:ext cx="548688" cy="292633"/>
          </a:xfrm>
          <a:prstGeom prst="rect">
            <a:avLst/>
          </a:prstGeom>
        </p:spPr>
      </p:pic>
      <p:sp>
        <p:nvSpPr>
          <p:cNvPr id="5" name="Стрелка вправо 4">
            <a:hlinkClick r:id="" action="ppaction://hlinkshowjump?jump=nextslide"/>
          </p:cNvPr>
          <p:cNvSpPr/>
          <p:nvPr/>
        </p:nvSpPr>
        <p:spPr>
          <a:xfrm>
            <a:off x="8277101" y="6507678"/>
            <a:ext cx="556002" cy="2612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Выгнутая вниз стрелка 5">
            <a:hlinkClick r:id="rId3" action="ppaction://hlinksldjump"/>
          </p:cNvPr>
          <p:cNvSpPr/>
          <p:nvPr/>
        </p:nvSpPr>
        <p:spPr>
          <a:xfrm>
            <a:off x="4352120" y="6513616"/>
            <a:ext cx="439759" cy="255319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5493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8515350" cy="1162975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/>
                </a:solidFill>
              </a:rPr>
              <a:t>Государственные гарантии по оплате труда работников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1296140"/>
            <a:ext cx="9144000" cy="5273336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МРОТ не может быть ниже регионального значения – ст. 133 ТК РФ;</a:t>
            </a:r>
          </a:p>
          <a:p>
            <a:r>
              <a:rPr lang="ru-RU" dirty="0"/>
              <a:t>р</a:t>
            </a:r>
            <a:r>
              <a:rPr lang="ru-RU" dirty="0" smtClean="0"/>
              <a:t>егулярно </a:t>
            </a:r>
            <a:r>
              <a:rPr lang="ru-RU" dirty="0"/>
              <a:t>проводится индексация зарплаты – </a:t>
            </a:r>
            <a:r>
              <a:rPr lang="ru-RU" dirty="0">
                <a:hlinkClick r:id="rId2"/>
              </a:rPr>
              <a:t>ст. 134 ТК РФ</a:t>
            </a:r>
            <a:r>
              <a:rPr lang="ru-RU" dirty="0"/>
              <a:t>;</a:t>
            </a:r>
          </a:p>
          <a:p>
            <a:r>
              <a:rPr lang="ru-RU" dirty="0"/>
              <a:t>выплаты не реже 2 раз в месяц с определенным интервалом – </a:t>
            </a:r>
            <a:r>
              <a:rPr lang="ru-RU" dirty="0">
                <a:hlinkClick r:id="rId3"/>
              </a:rPr>
              <a:t>ст. 136 ТК РФ</a:t>
            </a:r>
            <a:r>
              <a:rPr lang="ru-RU" dirty="0"/>
              <a:t>;</a:t>
            </a:r>
          </a:p>
          <a:p>
            <a:r>
              <a:rPr lang="ru-RU" dirty="0"/>
              <a:t>за задержку зарплаты положены компенсации – </a:t>
            </a:r>
            <a:r>
              <a:rPr lang="ru-RU" dirty="0">
                <a:hlinkClick r:id="rId4"/>
              </a:rPr>
              <a:t>ст. 236 ТК РФ</a:t>
            </a:r>
            <a:r>
              <a:rPr lang="ru-RU" dirty="0"/>
              <a:t>;</a:t>
            </a:r>
          </a:p>
          <a:p>
            <a:r>
              <a:rPr lang="ru-RU" dirty="0"/>
              <a:t>есть условия по суммам выплат сверхурочных (</a:t>
            </a:r>
            <a:r>
              <a:rPr lang="ru-RU" dirty="0">
                <a:hlinkClick r:id="rId5"/>
              </a:rPr>
              <a:t>ст. 152 ТК РФ</a:t>
            </a:r>
            <a:r>
              <a:rPr lang="ru-RU" dirty="0"/>
              <a:t>), за труд в праздники / выходные (</a:t>
            </a:r>
            <a:r>
              <a:rPr lang="ru-RU" dirty="0">
                <a:hlinkClick r:id="rId6"/>
              </a:rPr>
              <a:t>ст. 153 ТК</a:t>
            </a:r>
            <a:r>
              <a:rPr lang="ru-RU" dirty="0"/>
              <a:t>), в ночь (</a:t>
            </a:r>
            <a:r>
              <a:rPr lang="ru-RU" dirty="0">
                <a:hlinkClick r:id="rId7"/>
              </a:rPr>
              <a:t>ст. 154 ТК</a:t>
            </a:r>
            <a:r>
              <a:rPr lang="ru-RU" dirty="0"/>
              <a:t>)</a:t>
            </a:r>
          </a:p>
          <a:p>
            <a:r>
              <a:rPr lang="ru-RU" dirty="0"/>
              <a:t>удержания из заработка сотрудника ограничены – не более 20</a:t>
            </a:r>
            <a:r>
              <a:rPr lang="ru-RU" dirty="0" smtClean="0"/>
              <a:t>%, иногда 50% </a:t>
            </a:r>
            <a:r>
              <a:rPr lang="ru-RU" dirty="0"/>
              <a:t>(</a:t>
            </a:r>
            <a:r>
              <a:rPr lang="ru-RU" dirty="0">
                <a:hlinkClick r:id="rId8"/>
              </a:rPr>
              <a:t>ст. 138 ТК РФ</a:t>
            </a:r>
            <a:r>
              <a:rPr lang="ru-RU" dirty="0"/>
              <a:t>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52856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54380"/>
            <a:ext cx="7886700" cy="926276"/>
          </a:xfrm>
        </p:spPr>
        <p:txBody>
          <a:bodyPr>
            <a:normAutofit/>
          </a:bodyPr>
          <a:lstStyle/>
          <a:p>
            <a:pPr algn="just"/>
            <a:r>
              <a:rPr lang="ru-RU" dirty="0" smtClean="0">
                <a:solidFill>
                  <a:schemeClr val="bg1"/>
                </a:solidFill>
              </a:rPr>
              <a:t>Виды систем </a:t>
            </a:r>
            <a:r>
              <a:rPr lang="ru-RU" dirty="0">
                <a:solidFill>
                  <a:schemeClr val="bg1"/>
                </a:solidFill>
              </a:rPr>
              <a:t>оплаты труда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5032088"/>
              </p:ext>
            </p:extLst>
          </p:nvPr>
        </p:nvGraphicFramePr>
        <p:xfrm>
          <a:off x="0" y="1223158"/>
          <a:ext cx="9144000" cy="56348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Рисунок 4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0669" y="6565367"/>
            <a:ext cx="548688" cy="292633"/>
          </a:xfrm>
          <a:prstGeom prst="rect">
            <a:avLst/>
          </a:prstGeom>
        </p:spPr>
      </p:pic>
      <p:sp>
        <p:nvSpPr>
          <p:cNvPr id="6" name="Стрелка вправо 5">
            <a:hlinkClick r:id="" action="ppaction://hlinkshowjump?jump=nextslide"/>
          </p:cNvPr>
          <p:cNvSpPr/>
          <p:nvPr/>
        </p:nvSpPr>
        <p:spPr>
          <a:xfrm>
            <a:off x="8277101" y="6507678"/>
            <a:ext cx="556002" cy="2612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Выгнутая вниз стрелка 6">
            <a:hlinkClick r:id="rId8" action="ppaction://hlinksldjump"/>
          </p:cNvPr>
          <p:cNvSpPr/>
          <p:nvPr/>
        </p:nvSpPr>
        <p:spPr>
          <a:xfrm>
            <a:off x="4352120" y="6513616"/>
            <a:ext cx="439759" cy="255319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6171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32401"/>
          </a:xfrm>
        </p:spPr>
        <p:txBody>
          <a:bodyPr>
            <a:noAutofit/>
          </a:bodyPr>
          <a:lstStyle/>
          <a:p>
            <a:pPr algn="just"/>
            <a:r>
              <a:rPr lang="ru-RU" dirty="0">
                <a:solidFill>
                  <a:schemeClr val="bg1"/>
                </a:solidFill>
              </a:rPr>
              <a:t>Тарифная система оплаты труда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1425038"/>
            <a:ext cx="9144000" cy="5432961"/>
          </a:xfrm>
        </p:spPr>
        <p:txBody>
          <a:bodyPr>
            <a:normAutofit fontScale="70000" lnSpcReduction="20000"/>
          </a:bodyPr>
          <a:lstStyle/>
          <a:p>
            <a:pPr marL="0" indent="457200">
              <a:buNone/>
            </a:pPr>
            <a:r>
              <a:rPr lang="ru-RU" dirty="0"/>
              <a:t>В тарифной системе номинальная заработная плата сотрудников зависит от их категории, квалификации, трудового стажа, условий труда и прочих характеристик. </a:t>
            </a:r>
          </a:p>
          <a:p>
            <a:pPr marL="0" indent="457200">
              <a:buNone/>
            </a:pPr>
            <a:r>
              <a:rPr lang="ru-RU" b="1" dirty="0" smtClean="0"/>
              <a:t>Тарифная сетка </a:t>
            </a:r>
            <a:r>
              <a:rPr lang="ru-RU" dirty="0" smtClean="0"/>
              <a:t>– это совокупность </a:t>
            </a:r>
            <a:r>
              <a:rPr lang="ru-RU" dirty="0"/>
              <a:t>тарифных разрядов работ (профессий, должностей), определенных в зависимости от сложности работ и требований к квалификации работников с помощью тарифных коэффициентов. Довольно часто тарифная сетка оформляется в виде таблицы, в которой сведены разряды и коэффициенты – чем выше разряд, тем выше тарифный коэффициент. Для того, чтобы определить тарифный коэффициент каждого разряда нужно разделить тарифную ставку разряда на тарифную ставку первого разряда.</a:t>
            </a:r>
          </a:p>
          <a:p>
            <a:pPr marL="0" indent="457200">
              <a:buNone/>
            </a:pPr>
            <a:r>
              <a:rPr lang="ru-RU" b="1" dirty="0" smtClean="0"/>
              <a:t>Тарифный </a:t>
            </a:r>
            <a:r>
              <a:rPr lang="ru-RU" b="1" dirty="0"/>
              <a:t>разряд </a:t>
            </a:r>
            <a:r>
              <a:rPr lang="ru-RU" dirty="0"/>
              <a:t>- это величина, отражающая сложность труда и уровень квалификации работника. Квалификационный разряд - это величина, отражающая уровень профессиональной подготовки работника. Тарификацией работ называют отнесение видов труда к тарифным разрядам или квалификационным категориям в зависимости от сложности труда. Сложность выполняемых работ определяется на основе их тарификации</a:t>
            </a:r>
            <a:r>
              <a:rPr lang="ru-RU" dirty="0" smtClean="0"/>
              <a:t>.</a:t>
            </a:r>
            <a:endParaRPr lang="ru-RU" dirty="0"/>
          </a:p>
          <a:p>
            <a:pPr marL="0" indent="457200">
              <a:buNone/>
            </a:pPr>
            <a:r>
              <a:rPr lang="ru-RU" b="1" dirty="0" smtClean="0"/>
              <a:t>Тарификация </a:t>
            </a:r>
            <a:r>
              <a:rPr lang="ru-RU" b="1" dirty="0"/>
              <a:t>работ и присвоение тарифных разрядов работникам производятся с учетом единого тарифно-квалификационного справочника работ и профессий рабочих, единого квалификационного справочника должностей руководителей, специалистов и служащих или с учетом профессиональных стандартов.</a:t>
            </a:r>
          </a:p>
        </p:txBody>
      </p:sp>
      <p:pic>
        <p:nvPicPr>
          <p:cNvPr id="4" name="Рисунок 3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43" y="6565367"/>
            <a:ext cx="548688" cy="292633"/>
          </a:xfrm>
          <a:prstGeom prst="rect">
            <a:avLst/>
          </a:prstGeom>
        </p:spPr>
      </p:pic>
      <p:sp>
        <p:nvSpPr>
          <p:cNvPr id="5" name="Стрелка вправо 4">
            <a:hlinkClick r:id="" action="ppaction://hlinkshowjump?jump=nextslide"/>
          </p:cNvPr>
          <p:cNvSpPr/>
          <p:nvPr/>
        </p:nvSpPr>
        <p:spPr>
          <a:xfrm>
            <a:off x="8277101" y="6507678"/>
            <a:ext cx="556002" cy="2612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Выгнутая вниз стрелка 5">
            <a:hlinkClick r:id="rId3" action="ppaction://hlinksldjump"/>
          </p:cNvPr>
          <p:cNvSpPr/>
          <p:nvPr/>
        </p:nvSpPr>
        <p:spPr>
          <a:xfrm>
            <a:off x="4352120" y="6513616"/>
            <a:ext cx="439759" cy="255319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6026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49274"/>
          </a:xfrm>
        </p:spPr>
        <p:txBody>
          <a:bodyPr>
            <a:noAutofit/>
          </a:bodyPr>
          <a:lstStyle/>
          <a:p>
            <a:pPr algn="just"/>
            <a:r>
              <a:rPr lang="ru-RU" dirty="0">
                <a:solidFill>
                  <a:schemeClr val="bg1"/>
                </a:solidFill>
              </a:rPr>
              <a:t>Повременная оплата труда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1270660"/>
            <a:ext cx="9144000" cy="5587340"/>
          </a:xfrm>
        </p:spPr>
        <p:txBody>
          <a:bodyPr>
            <a:normAutofit fontScale="92500" lnSpcReduction="10000"/>
          </a:bodyPr>
          <a:lstStyle/>
          <a:p>
            <a:pPr marL="0" indent="457200" algn="just">
              <a:buNone/>
            </a:pPr>
            <a:r>
              <a:rPr lang="ru-RU" b="1" dirty="0" smtClean="0"/>
              <a:t>При </a:t>
            </a:r>
            <a:r>
              <a:rPr lang="ru-RU" b="1" dirty="0"/>
              <a:t>простой повременной </a:t>
            </a:r>
            <a:r>
              <a:rPr lang="ru-RU" dirty="0" smtClean="0"/>
              <a:t>системе </a:t>
            </a:r>
            <a:r>
              <a:rPr lang="ru-RU" dirty="0"/>
              <a:t>оплаты труда заработная плата выплачивается за определенное количество отработанного времени и не зависит от количества выполненных </a:t>
            </a:r>
            <a:r>
              <a:rPr lang="ru-RU" dirty="0" smtClean="0"/>
              <a:t>операций. Дневная </a:t>
            </a:r>
            <a:r>
              <a:rPr lang="ru-RU" dirty="0"/>
              <a:t>(часовая) ставка умножается на количество отработанных дней (часов).</a:t>
            </a:r>
          </a:p>
          <a:p>
            <a:pPr marL="0" indent="457200" algn="just">
              <a:buNone/>
            </a:pPr>
            <a:r>
              <a:rPr lang="ru-RU" dirty="0"/>
              <a:t>Месячная тарифная ставка (оклад) начисляется за полностью отработанный месяц. Если месяц отработан не полностью, то заработная плата начисляется пропорционально отработанному времени</a:t>
            </a:r>
            <a:endParaRPr lang="ru-RU" dirty="0" smtClean="0"/>
          </a:p>
          <a:p>
            <a:pPr marL="0" indent="457200" algn="just">
              <a:buNone/>
            </a:pPr>
            <a:r>
              <a:rPr lang="ru-RU" b="1" dirty="0" smtClean="0"/>
              <a:t>При </a:t>
            </a:r>
            <a:r>
              <a:rPr lang="ru-RU" b="1" dirty="0"/>
              <a:t>повременно-премиальной </a:t>
            </a:r>
            <a:r>
              <a:rPr lang="ru-RU" dirty="0" smtClean="0"/>
              <a:t>системе </a:t>
            </a:r>
            <a:r>
              <a:rPr lang="ru-RU" dirty="0"/>
              <a:t>оплаты труда при расчете зарплаты учитывается не только отработанное время, но и количество/качество работы, исходя из которых сотруднику начисляется </a:t>
            </a:r>
            <a:r>
              <a:rPr lang="ru-RU" dirty="0" smtClean="0"/>
              <a:t>премия.</a:t>
            </a:r>
          </a:p>
          <a:p>
            <a:pPr marL="0" indent="457200" algn="just">
              <a:buNone/>
            </a:pPr>
            <a:r>
              <a:rPr lang="ru-RU" dirty="0" smtClean="0"/>
              <a:t>При </a:t>
            </a:r>
            <a:r>
              <a:rPr lang="ru-RU" b="1" dirty="0" smtClean="0"/>
              <a:t>окладной системе </a:t>
            </a:r>
            <a:r>
              <a:rPr lang="ru-RU" dirty="0" smtClean="0"/>
              <a:t>оплата</a:t>
            </a:r>
            <a:r>
              <a:rPr lang="ru-RU" b="1" dirty="0" smtClean="0"/>
              <a:t> </a:t>
            </a:r>
            <a:r>
              <a:rPr lang="ru-RU" dirty="0" smtClean="0"/>
              <a:t>труда производится по установленным месячным должностным окладам.</a:t>
            </a:r>
            <a:endParaRPr lang="ru-RU" dirty="0"/>
          </a:p>
        </p:txBody>
      </p:sp>
      <p:pic>
        <p:nvPicPr>
          <p:cNvPr id="4" name="Рисунок 3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44" y="6565367"/>
            <a:ext cx="548688" cy="292633"/>
          </a:xfrm>
          <a:prstGeom prst="rect">
            <a:avLst/>
          </a:prstGeom>
        </p:spPr>
      </p:pic>
      <p:sp>
        <p:nvSpPr>
          <p:cNvPr id="5" name="Стрелка вправо 4">
            <a:hlinkClick r:id="" action="ppaction://hlinkshowjump?jump=nextslide"/>
          </p:cNvPr>
          <p:cNvSpPr/>
          <p:nvPr/>
        </p:nvSpPr>
        <p:spPr>
          <a:xfrm>
            <a:off x="8277101" y="6507678"/>
            <a:ext cx="556002" cy="2612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Выгнутая вниз стрелка 5">
            <a:hlinkClick r:id="rId3" action="ppaction://hlinksldjump"/>
          </p:cNvPr>
          <p:cNvSpPr/>
          <p:nvPr/>
        </p:nvSpPr>
        <p:spPr>
          <a:xfrm>
            <a:off x="4352120" y="6513616"/>
            <a:ext cx="439759" cy="255319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7833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49284" y="305751"/>
            <a:ext cx="7886700" cy="549274"/>
          </a:xfrm>
        </p:spPr>
        <p:txBody>
          <a:bodyPr>
            <a:noAutofit/>
          </a:bodyPr>
          <a:lstStyle/>
          <a:p>
            <a:pPr algn="just"/>
            <a:r>
              <a:rPr lang="ru-RU" dirty="0">
                <a:solidFill>
                  <a:schemeClr val="bg1"/>
                </a:solidFill>
              </a:rPr>
              <a:t>Сдельная оплата труда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1270660"/>
            <a:ext cx="9144000" cy="5587340"/>
          </a:xfrm>
        </p:spPr>
        <p:txBody>
          <a:bodyPr>
            <a:normAutofit/>
          </a:bodyPr>
          <a:lstStyle/>
          <a:p>
            <a:pPr marL="0" indent="457200" algn="just">
              <a:buNone/>
            </a:pPr>
            <a:r>
              <a:rPr lang="ru-RU" b="1" dirty="0" smtClean="0"/>
              <a:t>При прямой сдельной</a:t>
            </a:r>
            <a:r>
              <a:rPr lang="ru-RU" dirty="0" smtClean="0"/>
              <a:t> оплате труда зарплата </a:t>
            </a:r>
            <a:r>
              <a:rPr lang="ru-RU" dirty="0"/>
              <a:t>начисляется в соответствии с выработкой. Работодатель утверждает расценки за каждую операцию. При расчете зарплаты используется наряд на сдельную работу. В нем указывается норма выработки и фактически выполненная </a:t>
            </a:r>
            <a:r>
              <a:rPr lang="ru-RU" dirty="0" smtClean="0"/>
              <a:t>работа.</a:t>
            </a:r>
          </a:p>
          <a:p>
            <a:pPr marL="0" indent="457200" algn="just">
              <a:buNone/>
            </a:pPr>
            <a:r>
              <a:rPr lang="ru-RU" b="1" dirty="0" smtClean="0"/>
              <a:t>При сдельно- премиальной </a:t>
            </a:r>
            <a:r>
              <a:rPr lang="ru-RU" dirty="0" smtClean="0"/>
              <a:t>оплате труда работодатель </a:t>
            </a:r>
            <a:r>
              <a:rPr lang="ru-RU" dirty="0"/>
              <a:t>утверждает расценки за каждую операцию. Зарплата начисляется исходя из выработки. Премия выплачивается, если сотрудник выполнил (или перевыполнил) производственное задание. Размер премии нужно предусмотреть в коллективном договоре, Положении о премировании или другом локальном </a:t>
            </a:r>
            <a:r>
              <a:rPr lang="ru-RU" dirty="0" smtClean="0"/>
              <a:t>акте.</a:t>
            </a:r>
          </a:p>
          <a:p>
            <a:pPr marL="0" indent="457200" algn="just">
              <a:buNone/>
            </a:pPr>
            <a:endParaRPr lang="ru-RU" dirty="0"/>
          </a:p>
        </p:txBody>
      </p:sp>
      <p:pic>
        <p:nvPicPr>
          <p:cNvPr id="4" name="Рисунок 3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046" y="6565367"/>
            <a:ext cx="548688" cy="292633"/>
          </a:xfrm>
          <a:prstGeom prst="rect">
            <a:avLst/>
          </a:prstGeom>
        </p:spPr>
      </p:pic>
      <p:sp>
        <p:nvSpPr>
          <p:cNvPr id="5" name="Стрелка вправо 4">
            <a:hlinkClick r:id="" action="ppaction://hlinkshowjump?jump=nextslide"/>
          </p:cNvPr>
          <p:cNvSpPr/>
          <p:nvPr/>
        </p:nvSpPr>
        <p:spPr>
          <a:xfrm>
            <a:off x="8277101" y="6507678"/>
            <a:ext cx="556002" cy="2612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Выгнутая вниз стрелка 5">
            <a:hlinkClick r:id="rId3" action="ppaction://hlinksldjump"/>
          </p:cNvPr>
          <p:cNvSpPr/>
          <p:nvPr/>
        </p:nvSpPr>
        <p:spPr>
          <a:xfrm>
            <a:off x="4352120" y="6513616"/>
            <a:ext cx="439759" cy="255319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6333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49274"/>
          </a:xfrm>
        </p:spPr>
        <p:txBody>
          <a:bodyPr>
            <a:noAutofit/>
          </a:bodyPr>
          <a:lstStyle/>
          <a:p>
            <a:pPr algn="just"/>
            <a:r>
              <a:rPr lang="ru-RU" dirty="0">
                <a:solidFill>
                  <a:schemeClr val="bg1"/>
                </a:solidFill>
              </a:rPr>
              <a:t>Сдельная оплата труда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1270660"/>
            <a:ext cx="9144000" cy="5587340"/>
          </a:xfrm>
        </p:spPr>
        <p:txBody>
          <a:bodyPr>
            <a:normAutofit fontScale="92500" lnSpcReduction="20000"/>
          </a:bodyPr>
          <a:lstStyle/>
          <a:p>
            <a:pPr marL="0" indent="457200" algn="just">
              <a:buNone/>
            </a:pPr>
            <a:r>
              <a:rPr lang="ru-RU" b="1" dirty="0" smtClean="0"/>
              <a:t>При сдельно-прогрессивной</a:t>
            </a:r>
            <a:r>
              <a:rPr lang="ru-RU" dirty="0" smtClean="0"/>
              <a:t> оплате </a:t>
            </a:r>
            <a:r>
              <a:rPr lang="ru-RU" dirty="0"/>
              <a:t>труда </a:t>
            </a:r>
            <a:r>
              <a:rPr lang="ru-RU" dirty="0" smtClean="0"/>
              <a:t>выработка </a:t>
            </a:r>
            <a:r>
              <a:rPr lang="ru-RU" dirty="0"/>
              <a:t>сверх нормы оплачивается по повышенным </a:t>
            </a:r>
            <a:r>
              <a:rPr lang="ru-RU" dirty="0" smtClean="0"/>
              <a:t>расценкам.</a:t>
            </a:r>
          </a:p>
          <a:p>
            <a:pPr marL="0" indent="457200" algn="just">
              <a:buNone/>
            </a:pPr>
            <a:r>
              <a:rPr lang="ru-RU" dirty="0" smtClean="0"/>
              <a:t> </a:t>
            </a:r>
            <a:r>
              <a:rPr lang="ru-RU" b="1" dirty="0" smtClean="0"/>
              <a:t>При косвенно- сдельной </a:t>
            </a:r>
            <a:r>
              <a:rPr lang="ru-RU" dirty="0" smtClean="0"/>
              <a:t>оплате </a:t>
            </a:r>
            <a:r>
              <a:rPr lang="ru-RU" dirty="0"/>
              <a:t>труда </a:t>
            </a:r>
            <a:r>
              <a:rPr lang="ru-RU" dirty="0" smtClean="0"/>
              <a:t>размер </a:t>
            </a:r>
            <a:r>
              <a:rPr lang="ru-RU" dirty="0"/>
              <a:t>заработка (обычно работников вспомогательных производств) ставится в прямую зависимость от результатов труда основных </a:t>
            </a:r>
            <a:r>
              <a:rPr lang="ru-RU" dirty="0" smtClean="0"/>
              <a:t>работников.</a:t>
            </a:r>
          </a:p>
          <a:p>
            <a:pPr marL="0" indent="457200" algn="just">
              <a:buNone/>
            </a:pPr>
            <a:r>
              <a:rPr lang="ru-RU" b="1" dirty="0" smtClean="0"/>
              <a:t>При индивидуальной аккордной системе </a:t>
            </a:r>
            <a:r>
              <a:rPr lang="ru-RU" dirty="0" smtClean="0"/>
              <a:t>оплаты </a:t>
            </a:r>
            <a:r>
              <a:rPr lang="ru-RU" dirty="0"/>
              <a:t>труда </a:t>
            </a:r>
            <a:r>
              <a:rPr lang="ru-RU" dirty="0" smtClean="0"/>
              <a:t>происходит начисление </a:t>
            </a:r>
            <a:r>
              <a:rPr lang="ru-RU" dirty="0"/>
              <a:t>вознаграждения единственному исполнителю при завершении оговоренного объёма работ в конкретные сроки</a:t>
            </a:r>
            <a:r>
              <a:rPr lang="ru-RU" dirty="0" smtClean="0"/>
              <a:t>.</a:t>
            </a:r>
          </a:p>
          <a:p>
            <a:pPr marL="0" indent="457200" algn="just">
              <a:buNone/>
            </a:pPr>
            <a:r>
              <a:rPr lang="ru-RU" b="1" dirty="0" smtClean="0"/>
              <a:t>При коллективной аккордной системе </a:t>
            </a:r>
            <a:r>
              <a:rPr lang="ru-RU" dirty="0"/>
              <a:t>оплаты труда </a:t>
            </a:r>
            <a:r>
              <a:rPr lang="ru-RU" dirty="0" smtClean="0"/>
              <a:t>происходит  </a:t>
            </a:r>
            <a:r>
              <a:rPr lang="ru-RU" dirty="0"/>
              <a:t>начисление зарплаты бригаде по окончанию производственного цикла по результатам комплексной оценки. Вознаграждение в разрезе отдельного работника производится на основании личного вклада, определённого в процентном отношении с учётом качественного показателя и затраченного времени.</a:t>
            </a:r>
          </a:p>
        </p:txBody>
      </p:sp>
      <p:pic>
        <p:nvPicPr>
          <p:cNvPr id="4" name="Рисунок 3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669" y="6565367"/>
            <a:ext cx="548688" cy="292633"/>
          </a:xfrm>
          <a:prstGeom prst="rect">
            <a:avLst/>
          </a:prstGeom>
        </p:spPr>
      </p:pic>
      <p:sp>
        <p:nvSpPr>
          <p:cNvPr id="5" name="Стрелка вправо 4">
            <a:hlinkClick r:id="" action="ppaction://hlinkshowjump?jump=nextslide"/>
          </p:cNvPr>
          <p:cNvSpPr/>
          <p:nvPr/>
        </p:nvSpPr>
        <p:spPr>
          <a:xfrm>
            <a:off x="8277101" y="6507678"/>
            <a:ext cx="556002" cy="2612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Выгнутая вниз стрелка 5">
            <a:hlinkClick r:id="rId3" action="ppaction://hlinksldjump"/>
          </p:cNvPr>
          <p:cNvSpPr/>
          <p:nvPr/>
        </p:nvSpPr>
        <p:spPr>
          <a:xfrm>
            <a:off x="4352120" y="6513616"/>
            <a:ext cx="439759" cy="255319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7144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49274"/>
          </a:xfrm>
        </p:spPr>
        <p:txBody>
          <a:bodyPr>
            <a:noAutofit/>
          </a:bodyPr>
          <a:lstStyle/>
          <a:p>
            <a:pPr algn="just"/>
            <a:r>
              <a:rPr lang="ru-RU" dirty="0">
                <a:solidFill>
                  <a:schemeClr val="bg1"/>
                </a:solidFill>
              </a:rPr>
              <a:t>Бестарифная оплата труда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1270660"/>
            <a:ext cx="9144000" cy="5587340"/>
          </a:xfrm>
        </p:spPr>
        <p:txBody>
          <a:bodyPr>
            <a:normAutofit fontScale="92500" lnSpcReduction="20000"/>
          </a:bodyPr>
          <a:lstStyle/>
          <a:p>
            <a:pPr marL="0" indent="457200" algn="just">
              <a:buNone/>
            </a:pPr>
            <a:r>
              <a:rPr lang="ru-RU" dirty="0"/>
              <a:t>Бестарифная система предполагает, что заработная плата работников зависит от их производительности, но установление индивидуальных расценок затруднительно, поэтому чаще такая система применяется при коллективном труде (например, в бригаде</a:t>
            </a:r>
            <a:r>
              <a:rPr lang="ru-RU" dirty="0" smtClean="0"/>
              <a:t>).</a:t>
            </a:r>
            <a:endParaRPr lang="ru-RU" dirty="0"/>
          </a:p>
          <a:p>
            <a:pPr marL="0" indent="457200" algn="just">
              <a:buNone/>
            </a:pPr>
            <a:r>
              <a:rPr lang="ru-RU" dirty="0"/>
              <a:t>В этом случае фонд оплаты труда, подлежащий начислению группе работников, распределяется между ними с учетом фактических результатов деятельности, квалификации работников и их трудового участия. Для этих целей работодатель разрабатывает порядок расчета и применения </a:t>
            </a:r>
            <a:r>
              <a:rPr lang="ru-RU" b="1" dirty="0"/>
              <a:t>коэффициентов квалификационного уровня (ККУ)</a:t>
            </a:r>
            <a:r>
              <a:rPr lang="ru-RU" dirty="0"/>
              <a:t> и </a:t>
            </a:r>
            <a:r>
              <a:rPr lang="ru-RU" b="1" dirty="0"/>
              <a:t>коэффициентов трудового участия (КТУ</a:t>
            </a:r>
            <a:r>
              <a:rPr lang="ru-RU" b="1" dirty="0" smtClean="0"/>
              <a:t>).</a:t>
            </a:r>
            <a:endParaRPr lang="ru-RU" b="1" dirty="0"/>
          </a:p>
          <a:p>
            <a:pPr marL="0" indent="457200" algn="just">
              <a:buNone/>
            </a:pPr>
            <a:r>
              <a:rPr lang="ru-RU" dirty="0"/>
              <a:t>З</a:t>
            </a:r>
            <a:r>
              <a:rPr lang="ru-RU" dirty="0" smtClean="0"/>
              <a:t>аработная </a:t>
            </a:r>
            <a:r>
              <a:rPr lang="ru-RU" dirty="0"/>
              <a:t>плата работника при бестарифной системе оплаты труда за месяц не может быть меньше МРОТ, если этот месяц отработан полностью в соответствии с установленным графиком и работником выполнены свои трудовые (должностные) обязанности </a:t>
            </a:r>
            <a:r>
              <a:rPr lang="ru-RU" b="1" dirty="0"/>
              <a:t>(ч. 3 ст. 133 ТК РФ).</a:t>
            </a:r>
          </a:p>
        </p:txBody>
      </p:sp>
      <p:pic>
        <p:nvPicPr>
          <p:cNvPr id="4" name="Рисунок 3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170" y="6565367"/>
            <a:ext cx="548688" cy="292633"/>
          </a:xfrm>
          <a:prstGeom prst="rect">
            <a:avLst/>
          </a:prstGeom>
        </p:spPr>
      </p:pic>
      <p:sp>
        <p:nvSpPr>
          <p:cNvPr id="5" name="Стрелка вправо 4">
            <a:hlinkClick r:id="" action="ppaction://hlinkshowjump?jump=nextslide"/>
          </p:cNvPr>
          <p:cNvSpPr/>
          <p:nvPr/>
        </p:nvSpPr>
        <p:spPr>
          <a:xfrm>
            <a:off x="8277101" y="6507678"/>
            <a:ext cx="556002" cy="2612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Выгнутая вниз стрелка 5">
            <a:hlinkClick r:id="rId3" action="ppaction://hlinksldjump"/>
          </p:cNvPr>
          <p:cNvSpPr/>
          <p:nvPr/>
        </p:nvSpPr>
        <p:spPr>
          <a:xfrm>
            <a:off x="4352120" y="6513616"/>
            <a:ext cx="439759" cy="255319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239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49274"/>
          </a:xfrm>
        </p:spPr>
        <p:txBody>
          <a:bodyPr>
            <a:noAutofit/>
          </a:bodyPr>
          <a:lstStyle/>
          <a:p>
            <a:pPr algn="just"/>
            <a:r>
              <a:rPr lang="ru-RU" dirty="0">
                <a:solidFill>
                  <a:schemeClr val="bg1"/>
                </a:solidFill>
              </a:rPr>
              <a:t>Бестарифная оплата труда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1270660"/>
            <a:ext cx="9144000" cy="5587340"/>
          </a:xfrm>
        </p:spPr>
        <p:txBody>
          <a:bodyPr>
            <a:normAutofit/>
          </a:bodyPr>
          <a:lstStyle/>
          <a:p>
            <a:pPr marL="0" indent="457200" algn="just">
              <a:buNone/>
            </a:pPr>
            <a:r>
              <a:rPr lang="ru-RU" dirty="0"/>
              <a:t>Фонд заработной платы при бестарифной системе определяется ежемесячно по результатам работы всего трудового коллектива. Размер коэффициентов устанавливается на общем собрании работников и утверждается в Положении об оплате труда либо в приказе руководителя организации.</a:t>
            </a:r>
            <a:endParaRPr lang="ru-RU" b="1" dirty="0"/>
          </a:p>
        </p:txBody>
      </p:sp>
      <p:pic>
        <p:nvPicPr>
          <p:cNvPr id="4" name="Рисунок 3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62" y="6565367"/>
            <a:ext cx="548688" cy="292633"/>
          </a:xfrm>
          <a:prstGeom prst="rect">
            <a:avLst/>
          </a:prstGeom>
        </p:spPr>
      </p:pic>
      <p:sp>
        <p:nvSpPr>
          <p:cNvPr id="5" name="Стрелка вправо 4">
            <a:hlinkClick r:id="" action="ppaction://hlinkshowjump?jump=nextslide"/>
          </p:cNvPr>
          <p:cNvSpPr/>
          <p:nvPr/>
        </p:nvSpPr>
        <p:spPr>
          <a:xfrm>
            <a:off x="8277101" y="6507678"/>
            <a:ext cx="556002" cy="2612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Выгнутая вниз стрелка 5">
            <a:hlinkClick r:id="rId3" action="ppaction://hlinksldjump"/>
          </p:cNvPr>
          <p:cNvSpPr/>
          <p:nvPr/>
        </p:nvSpPr>
        <p:spPr>
          <a:xfrm>
            <a:off x="4352120" y="6513616"/>
            <a:ext cx="439759" cy="255319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3063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980960" cy="584900"/>
          </a:xfrm>
        </p:spPr>
        <p:txBody>
          <a:bodyPr>
            <a:noAutofit/>
          </a:bodyPr>
          <a:lstStyle/>
          <a:p>
            <a:pPr algn="just"/>
            <a:r>
              <a:rPr lang="ru-RU" sz="4000" dirty="0">
                <a:solidFill>
                  <a:schemeClr val="bg1"/>
                </a:solidFill>
              </a:rPr>
              <a:t>Смешанная система оплаты труда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1330036"/>
            <a:ext cx="9144000" cy="5438899"/>
          </a:xfrm>
        </p:spPr>
        <p:txBody>
          <a:bodyPr>
            <a:normAutofit fontScale="85000" lnSpcReduction="10000"/>
          </a:bodyPr>
          <a:lstStyle/>
          <a:p>
            <a:pPr marL="0" indent="457200">
              <a:buNone/>
            </a:pPr>
            <a:r>
              <a:rPr lang="ru-RU" dirty="0"/>
              <a:t>Смешанная система оплаты труда </a:t>
            </a:r>
            <a:r>
              <a:rPr lang="ru-RU" dirty="0" smtClean="0"/>
              <a:t>сочетает </a:t>
            </a:r>
            <a:r>
              <a:rPr lang="ru-RU" dirty="0"/>
              <a:t>в себе как признаки тарифной системы, так и признаки бестарифной системы оплаты труда.</a:t>
            </a:r>
          </a:p>
          <a:p>
            <a:pPr marL="0" indent="457200">
              <a:buNone/>
            </a:pPr>
            <a:r>
              <a:rPr lang="ru-RU" dirty="0" smtClean="0"/>
              <a:t>Система </a:t>
            </a:r>
            <a:r>
              <a:rPr lang="ru-RU" dirty="0"/>
              <a:t>такого типа может применяться, например, в бюджетной организации, которая имеет право на осуществление предпринимательской деятельности в соответствии с учредительными документами</a:t>
            </a:r>
            <a:r>
              <a:rPr lang="ru-RU" dirty="0" smtClean="0"/>
              <a:t>.</a:t>
            </a:r>
          </a:p>
          <a:p>
            <a:pPr marL="0" indent="457200">
              <a:buNone/>
            </a:pPr>
            <a:r>
              <a:rPr lang="ru-RU" b="1" dirty="0" smtClean="0"/>
              <a:t>При системе плавающих окладов </a:t>
            </a:r>
            <a:r>
              <a:rPr lang="ru-RU" dirty="0" smtClean="0"/>
              <a:t>оклады </a:t>
            </a:r>
            <a:r>
              <a:rPr lang="ru-RU" dirty="0"/>
              <a:t>сотрудников зависят от общей выручки организации (производительности труда) и понижаются или повышаются в зависимости от установленных </a:t>
            </a:r>
            <a:r>
              <a:rPr lang="ru-RU" dirty="0" smtClean="0"/>
              <a:t>коэффициентов.</a:t>
            </a:r>
          </a:p>
          <a:p>
            <a:pPr marL="0" indent="457200">
              <a:buNone/>
            </a:pPr>
            <a:r>
              <a:rPr lang="ru-RU" b="1" dirty="0" smtClean="0"/>
              <a:t>При комиссионной системе</a:t>
            </a:r>
            <a:r>
              <a:rPr lang="ru-RU" dirty="0" smtClean="0"/>
              <a:t> заработок </a:t>
            </a:r>
            <a:r>
              <a:rPr lang="ru-RU" dirty="0"/>
              <a:t>может рассчитываться:</a:t>
            </a:r>
          </a:p>
          <a:p>
            <a:r>
              <a:rPr lang="ru-RU" dirty="0" smtClean="0"/>
              <a:t>как </a:t>
            </a:r>
            <a:r>
              <a:rPr lang="ru-RU" dirty="0"/>
              <a:t>процент от выручки;</a:t>
            </a:r>
          </a:p>
          <a:p>
            <a:r>
              <a:rPr lang="ru-RU" dirty="0" smtClean="0"/>
              <a:t>как </a:t>
            </a:r>
            <a:r>
              <a:rPr lang="ru-RU" dirty="0"/>
              <a:t>фиксированный оклад </a:t>
            </a:r>
            <a:r>
              <a:rPr lang="ru-RU" dirty="0" smtClean="0"/>
              <a:t>+ процент </a:t>
            </a:r>
            <a:r>
              <a:rPr lang="ru-RU" dirty="0"/>
              <a:t>от выручки;</a:t>
            </a:r>
          </a:p>
          <a:p>
            <a:r>
              <a:rPr lang="ru-RU" dirty="0" smtClean="0"/>
              <a:t>как </a:t>
            </a:r>
            <a:r>
              <a:rPr lang="ru-RU" dirty="0"/>
              <a:t>процент от выручки, но не менее фиксированного </a:t>
            </a:r>
            <a:r>
              <a:rPr lang="ru-RU" dirty="0" smtClean="0"/>
              <a:t>оклада.</a:t>
            </a:r>
            <a:endParaRPr lang="ru-RU" dirty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44" y="6565367"/>
            <a:ext cx="548688" cy="292633"/>
          </a:xfrm>
          <a:prstGeom prst="rect">
            <a:avLst/>
          </a:prstGeom>
        </p:spPr>
      </p:pic>
      <p:sp>
        <p:nvSpPr>
          <p:cNvPr id="5" name="Стрелка вправо 4">
            <a:hlinkClick r:id="" action="ppaction://hlinkshowjump?jump=nextslide"/>
          </p:cNvPr>
          <p:cNvSpPr/>
          <p:nvPr/>
        </p:nvSpPr>
        <p:spPr>
          <a:xfrm>
            <a:off x="8277101" y="6507678"/>
            <a:ext cx="556002" cy="2612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Выгнутая вниз стрелка 5">
            <a:hlinkClick r:id="rId3" action="ppaction://hlinksldjump"/>
          </p:cNvPr>
          <p:cNvSpPr/>
          <p:nvPr/>
        </p:nvSpPr>
        <p:spPr>
          <a:xfrm>
            <a:off x="4352120" y="6513616"/>
            <a:ext cx="439759" cy="255319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0954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980960" cy="774905"/>
          </a:xfrm>
        </p:spPr>
        <p:txBody>
          <a:bodyPr>
            <a:normAutofit/>
          </a:bodyPr>
          <a:lstStyle/>
          <a:p>
            <a:pPr algn="just"/>
            <a:r>
              <a:rPr lang="ru-RU" sz="4000" dirty="0">
                <a:solidFill>
                  <a:schemeClr val="bg1"/>
                </a:solidFill>
              </a:rPr>
              <a:t>Смешанная система оплаты труда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1330036"/>
            <a:ext cx="9144000" cy="5438899"/>
          </a:xfrm>
        </p:spPr>
        <p:txBody>
          <a:bodyPr>
            <a:normAutofit/>
          </a:bodyPr>
          <a:lstStyle/>
          <a:p>
            <a:pPr marL="0" indent="457200">
              <a:buNone/>
            </a:pPr>
            <a:r>
              <a:rPr lang="ru-RU" b="1" dirty="0" smtClean="0"/>
              <a:t>Дилерский механизм </a:t>
            </a:r>
            <a:r>
              <a:rPr lang="ru-RU" dirty="0" smtClean="0"/>
              <a:t>оплаты </a:t>
            </a:r>
            <a:r>
              <a:rPr lang="ru-RU" dirty="0"/>
              <a:t>труда основывается на том, что сотрудник компании за свой счет приобретает товары компании, чтобы самостоятельно их реализовать</a:t>
            </a:r>
            <a:r>
              <a:rPr lang="ru-RU" dirty="0" smtClean="0"/>
              <a:t>.</a:t>
            </a:r>
            <a:endParaRPr lang="ru-RU" dirty="0"/>
          </a:p>
          <a:p>
            <a:pPr marL="0" indent="457200">
              <a:buNone/>
            </a:pPr>
            <a:r>
              <a:rPr lang="ru-RU" dirty="0"/>
              <a:t>Соответственно, размер заработка сотрудника в таком случае представляет собой разницу между ценой, по которой сотрудник закупил товары и ценой, по которой он их реализовал покупателям.</a:t>
            </a:r>
            <a:endParaRPr lang="ru-RU" dirty="0" smtClean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95" y="6565367"/>
            <a:ext cx="548688" cy="292633"/>
          </a:xfrm>
          <a:prstGeom prst="rect">
            <a:avLst/>
          </a:prstGeom>
        </p:spPr>
      </p:pic>
      <p:sp>
        <p:nvSpPr>
          <p:cNvPr id="5" name="Стрелка вправо 4">
            <a:hlinkClick r:id="" action="ppaction://hlinkshowjump?jump=nextslide"/>
          </p:cNvPr>
          <p:cNvSpPr/>
          <p:nvPr/>
        </p:nvSpPr>
        <p:spPr>
          <a:xfrm>
            <a:off x="8277101" y="6507678"/>
            <a:ext cx="556002" cy="2612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Выгнутая вниз стрелка 5">
            <a:hlinkClick r:id="rId3" action="ppaction://hlinksldjump"/>
          </p:cNvPr>
          <p:cNvSpPr/>
          <p:nvPr/>
        </p:nvSpPr>
        <p:spPr>
          <a:xfrm>
            <a:off x="4352120" y="6513616"/>
            <a:ext cx="439759" cy="255319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42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63287"/>
            <a:ext cx="8417696" cy="1028668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/>
                </a:solidFill>
              </a:rPr>
              <a:t>Расчет пособия по временной нетрудоспособности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1455938"/>
            <a:ext cx="9081856" cy="514017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Страховой стаж напрямую влияет на размер пособия по временной нетрудоспособности (</a:t>
            </a:r>
            <a:r>
              <a:rPr lang="ru-RU" i="1" dirty="0">
                <a:hlinkClick r:id="rId2"/>
              </a:rPr>
              <a:t>ст. 7 закона от 29.12.2006 № 255-ФЗ</a:t>
            </a:r>
            <a:r>
              <a:rPr lang="ru-RU" dirty="0"/>
              <a:t>), а именно:</a:t>
            </a:r>
          </a:p>
          <a:p>
            <a:r>
              <a:rPr lang="ru-RU" dirty="0"/>
              <a:t>100% среднего заработка за дни болезни получают работники со стажем от восьми лет;</a:t>
            </a:r>
          </a:p>
          <a:p>
            <a:r>
              <a:rPr lang="ru-RU" dirty="0"/>
              <a:t>80% — со стажем от пяти до восьми лет;</a:t>
            </a:r>
          </a:p>
          <a:p>
            <a:r>
              <a:rPr lang="ru-RU" dirty="0"/>
              <a:t>60% — со стажем от полугода до пяти лет;</a:t>
            </a:r>
          </a:p>
          <a:p>
            <a:r>
              <a:rPr lang="ru-RU" dirty="0"/>
              <a:t>если стаж не превышает полугода, то для расчета больничного берут МРОТ.</a:t>
            </a:r>
          </a:p>
          <a:p>
            <a:pPr marL="0" indent="0">
              <a:buNone/>
            </a:pPr>
            <a:r>
              <a:rPr lang="ru-RU" dirty="0"/>
              <a:t>Страховой стаж для больничного исчисляют в календарный годах, месяцах и днях на день, предшествующий наступлению нетрудоспособности. Каждые 30 дней складываются в календарный месяц, а каждые 12 месяцев — в год.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35192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63287"/>
            <a:ext cx="8417696" cy="1028668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/>
                </a:solidFill>
              </a:rPr>
              <a:t>Расчет пособия по временной нетрудоспособности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1455938"/>
            <a:ext cx="9081856" cy="51401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В таблице — </a:t>
            </a:r>
            <a:r>
              <a:rPr lang="ru-RU" dirty="0">
                <a:hlinkClick r:id="rId2"/>
              </a:rPr>
              <a:t>максимальный</a:t>
            </a:r>
            <a:r>
              <a:rPr lang="ru-RU" dirty="0"/>
              <a:t> размер больничного за месяц с </a:t>
            </a:r>
            <a:r>
              <a:rPr lang="ru-RU" dirty="0" smtClean="0"/>
              <a:t>2025 </a:t>
            </a:r>
            <a:r>
              <a:rPr lang="ru-RU" dirty="0"/>
              <a:t>по 2027 год. </a:t>
            </a:r>
            <a:endParaRPr lang="ru-RU" dirty="0" smtClean="0"/>
          </a:p>
          <a:p>
            <a:pPr marL="0" indent="0">
              <a:buNone/>
            </a:pP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801421"/>
              </p:ext>
            </p:extLst>
          </p:nvPr>
        </p:nvGraphicFramePr>
        <p:xfrm>
          <a:off x="88775" y="2539015"/>
          <a:ext cx="9055224" cy="37895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63806">
                  <a:extLst>
                    <a:ext uri="{9D8B030D-6E8A-4147-A177-3AD203B41FA5}">
                      <a16:colId xmlns:a16="http://schemas.microsoft.com/office/drawing/2014/main" val="2794701888"/>
                    </a:ext>
                  </a:extLst>
                </a:gridCol>
                <a:gridCol w="2263806">
                  <a:extLst>
                    <a:ext uri="{9D8B030D-6E8A-4147-A177-3AD203B41FA5}">
                      <a16:colId xmlns:a16="http://schemas.microsoft.com/office/drawing/2014/main" val="1736419674"/>
                    </a:ext>
                  </a:extLst>
                </a:gridCol>
                <a:gridCol w="2263806">
                  <a:extLst>
                    <a:ext uri="{9D8B030D-6E8A-4147-A177-3AD203B41FA5}">
                      <a16:colId xmlns:a16="http://schemas.microsoft.com/office/drawing/2014/main" val="773974073"/>
                    </a:ext>
                  </a:extLst>
                </a:gridCol>
                <a:gridCol w="2263806">
                  <a:extLst>
                    <a:ext uri="{9D8B030D-6E8A-4147-A177-3AD203B41FA5}">
                      <a16:colId xmlns:a16="http://schemas.microsoft.com/office/drawing/2014/main" val="3555491788"/>
                    </a:ext>
                  </a:extLst>
                </a:gridCol>
              </a:tblGrid>
              <a:tr h="369713">
                <a:tc rowSpan="2"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effectLst/>
                        </a:rPr>
                        <a:t>Условия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effectLst/>
                        </a:rPr>
                        <a:t>Год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472522"/>
                  </a:ext>
                </a:extLst>
              </a:tr>
              <a:tr h="36971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effectLst/>
                        </a:rPr>
                        <a:t>2025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effectLst/>
                        </a:rPr>
                        <a:t>2026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effectLst/>
                        </a:rPr>
                        <a:t>2027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372756"/>
                  </a:ext>
                </a:extLst>
              </a:tr>
              <a:tr h="924283">
                <a:tc>
                  <a:txBody>
                    <a:bodyPr/>
                    <a:lstStyle/>
                    <a:p>
                      <a:r>
                        <a:rPr lang="ru-RU" b="1" dirty="0">
                          <a:effectLst/>
                        </a:rPr>
                        <a:t>Стаж до 5 лет, размер пособия — 60% от з/п</a:t>
                      </a:r>
                      <a:endParaRPr lang="ru-RU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103 493,15 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124 531,78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144 920,63</a:t>
                      </a:r>
                      <a:endParaRPr lang="ru-RU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8790327"/>
                  </a:ext>
                </a:extLst>
              </a:tr>
              <a:tr h="924283">
                <a:tc>
                  <a:txBody>
                    <a:bodyPr/>
                    <a:lstStyle/>
                    <a:p>
                      <a:r>
                        <a:rPr lang="ru-RU" b="1" dirty="0">
                          <a:effectLst/>
                        </a:rPr>
                        <a:t>Стаж 5–8 лет, размер пособия — 80% от з/п</a:t>
                      </a:r>
                      <a:endParaRPr lang="ru-RU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137 991,07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166 042,37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193 227,50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1854621"/>
                  </a:ext>
                </a:extLst>
              </a:tr>
              <a:tr h="1201568">
                <a:tc>
                  <a:txBody>
                    <a:bodyPr/>
                    <a:lstStyle/>
                    <a:p>
                      <a:r>
                        <a:rPr lang="ru-RU" b="1" dirty="0">
                          <a:effectLst/>
                        </a:rPr>
                        <a:t>Стаж больше 8 лет, размер пособия — 100% от з/п</a:t>
                      </a:r>
                      <a:endParaRPr lang="ru-RU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172 488,69</a:t>
                      </a:r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207 552,96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241 534,38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01324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7098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1" y="0"/>
            <a:ext cx="9144001" cy="966523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Виды материальной ответственности сотрудников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-1" y="1287262"/>
            <a:ext cx="9144001" cy="5570738"/>
          </a:xfrm>
        </p:spPr>
        <p:txBody>
          <a:bodyPr>
            <a:normAutofit/>
          </a:bodyPr>
          <a:lstStyle/>
          <a:p>
            <a:pPr algn="just"/>
            <a:r>
              <a:rPr lang="ru-RU" b="1" dirty="0">
                <a:solidFill>
                  <a:srgbClr val="000000"/>
                </a:solidFill>
                <a:latin typeface="Arial" panose="020B0604020202020204" pitchFamily="34" charset="0"/>
              </a:rPr>
              <a:t>Материальная ответственность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  <a:t> выражается в возложении на каждую сторону обязанности возместить ущерб, причиненный другой стороне неисполнением или ненадлежащим исполнением обязанностей, вытекающих из трудового договора.</a:t>
            </a:r>
          </a:p>
          <a:p>
            <a:pPr algn="just"/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  <a:t>Материальная ответственность стороны трудового договора наступает </a:t>
            </a:r>
            <a:r>
              <a:rPr lang="ru-RU" b="1" dirty="0">
                <a:solidFill>
                  <a:srgbClr val="000000"/>
                </a:solidFill>
                <a:latin typeface="Arial" panose="020B0604020202020204" pitchFamily="34" charset="0"/>
              </a:rPr>
              <a:t>за ущерб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  <a:t>, причиненный ею другой стороне договора в результате ее </a:t>
            </a:r>
            <a:r>
              <a:rPr lang="ru-RU" b="1" dirty="0">
                <a:solidFill>
                  <a:srgbClr val="000000"/>
                </a:solidFill>
                <a:latin typeface="Arial" panose="020B0604020202020204" pitchFamily="34" charset="0"/>
              </a:rPr>
              <a:t>виновного противоправного поведения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  <a:t> (действий или бездействия)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853708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" y="1143"/>
            <a:ext cx="9144000" cy="1073055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/>
                </a:solidFill>
              </a:rPr>
              <a:t>Материальная ответственность работодателя перед </a:t>
            </a:r>
            <a:r>
              <a:rPr lang="ru-RU" dirty="0" smtClean="0">
                <a:solidFill>
                  <a:schemeClr val="bg1"/>
                </a:solidFill>
              </a:rPr>
              <a:t>работником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026" y="1181067"/>
            <a:ext cx="4144161" cy="5676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0590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" y="1143"/>
            <a:ext cx="9144000" cy="1073055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/>
                </a:solidFill>
              </a:rPr>
              <a:t>Материальная ответственность работодателя перед </a:t>
            </a:r>
            <a:r>
              <a:rPr lang="ru-RU" dirty="0" smtClean="0">
                <a:solidFill>
                  <a:schemeClr val="bg1"/>
                </a:solidFill>
              </a:rPr>
              <a:t>работником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-1" y="1370951"/>
            <a:ext cx="9144001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>
                <a:solidFill>
                  <a:srgbClr val="000000"/>
                </a:solidFill>
                <a:latin typeface="Arial" panose="020B0604020202020204" pitchFamily="34" charset="0"/>
              </a:rPr>
              <a:t>Работодатель обязан возместить работнику не полученный им заработок во всех случаях незаконного лишения его возможности </a:t>
            </a:r>
            <a:r>
              <a:rPr lang="ru-RU" sz="2000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трудиться</a:t>
            </a:r>
            <a:r>
              <a:rPr lang="ru-RU" sz="2000" b="1" dirty="0">
                <a:solidFill>
                  <a:srgbClr val="000000"/>
                </a:solidFill>
                <a:latin typeface="Arial" panose="020B0604020202020204" pitchFamily="34" charset="0"/>
              </a:rPr>
              <a:t> (</a:t>
            </a:r>
            <a:r>
              <a:rPr lang="ru-RU" sz="2000" b="1" dirty="0" smtClean="0">
                <a:solidFill>
                  <a:srgbClr val="000000"/>
                </a:solidFill>
                <a:latin typeface="Arial" panose="020B0604020202020204" pitchFamily="34" charset="0"/>
                <a:hlinkClick r:id="rId2"/>
              </a:rPr>
              <a:t>Ст.234 ТК РФ</a:t>
            </a:r>
            <a:r>
              <a:rPr lang="ru-RU" sz="2000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</a:p>
          <a:p>
            <a:pPr algn="just"/>
            <a:r>
              <a:rPr lang="ru-RU" sz="2000" dirty="0" smtClean="0">
                <a:solidFill>
                  <a:srgbClr val="000000"/>
                </a:solidFill>
                <a:latin typeface="Arial" panose="020B0604020202020204" pitchFamily="34" charset="0"/>
              </a:rPr>
              <a:t>Такая </a:t>
            </a:r>
            <a:r>
              <a:rPr lang="ru-RU" sz="2000" dirty="0">
                <a:solidFill>
                  <a:srgbClr val="000000"/>
                </a:solidFill>
                <a:latin typeface="Arial" panose="020B0604020202020204" pitchFamily="34" charset="0"/>
              </a:rPr>
              <a:t>обязанность, в частности, наступает, если заработок не получен в результате: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ru-RU" sz="2000" dirty="0" smtClean="0">
                <a:solidFill>
                  <a:srgbClr val="000000"/>
                </a:solidFill>
                <a:latin typeface="Arial" panose="020B0604020202020204" pitchFamily="34" charset="0"/>
              </a:rPr>
              <a:t>незаконного </a:t>
            </a:r>
            <a:r>
              <a:rPr lang="ru-RU" sz="2000" dirty="0">
                <a:solidFill>
                  <a:srgbClr val="000000"/>
                </a:solidFill>
                <a:latin typeface="Arial" panose="020B0604020202020204" pitchFamily="34" charset="0"/>
              </a:rPr>
              <a:t>отстранения работника от работы, его увольнения (несоблюдение общих и особых норм об основаниях и порядке расторжения трудового договора) или перевода на другую работу;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rgbClr val="000000"/>
                </a:solidFill>
                <a:latin typeface="Arial" panose="020B0604020202020204" pitchFamily="34" charset="0"/>
              </a:rPr>
              <a:t>отказа работодателя от исполнения решения о восстановлении работника на прежней работе;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rgbClr val="000000"/>
                </a:solidFill>
                <a:latin typeface="Arial" panose="020B0604020202020204" pitchFamily="34" charset="0"/>
              </a:rPr>
              <a:t>задержки работодателем выдачи работнику трудовой книжки, которая должна быть выдана работнику в день увольнения (последний день работы), внесения в трудовую книжку неправильной или не соответствующей законодательству формулировки причины увольнения работника;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rgbClr val="000000"/>
                </a:solidFill>
                <a:latin typeface="Arial" panose="020B0604020202020204" pitchFamily="34" charset="0"/>
              </a:rPr>
              <a:t>других случаев, предусмотренных федеральными законами и коллективным договором.</a:t>
            </a:r>
            <a:endParaRPr lang="ru-RU" sz="20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24343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" y="1143"/>
            <a:ext cx="9144000" cy="1073055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/>
                </a:solidFill>
              </a:rPr>
              <a:t>Материальная ответственность работодателя перед </a:t>
            </a:r>
            <a:r>
              <a:rPr lang="ru-RU" dirty="0" smtClean="0">
                <a:solidFill>
                  <a:schemeClr val="bg1"/>
                </a:solidFill>
              </a:rPr>
              <a:t>работником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-1" y="1370951"/>
            <a:ext cx="9144001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В случаях, когда нарушение законодательства лишило работника возможности трудиться и привело к материальному ущербу, оплачивается вынужденный прогул в размере </a:t>
            </a:r>
            <a:r>
              <a:rPr lang="ru-RU" sz="2000" b="1" dirty="0"/>
              <a:t>среднего заработка работника.</a:t>
            </a:r>
            <a:endParaRPr lang="ru-RU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Работодатель, причинивший ущерб имуществу работника, возмещает этот </a:t>
            </a:r>
            <a:r>
              <a:rPr lang="ru-RU" sz="2000" b="1" dirty="0"/>
              <a:t>ущерб в полном объеме</a:t>
            </a:r>
            <a:r>
              <a:rPr lang="ru-RU" sz="2000" dirty="0"/>
              <a:t>. Размер ущерба исчисляется по рыночным </a:t>
            </a:r>
            <a:r>
              <a:rPr lang="ru-RU" sz="2000" dirty="0" smtClean="0"/>
              <a:t>ценам, действующим </a:t>
            </a:r>
            <a:r>
              <a:rPr lang="ru-RU" sz="2000" dirty="0"/>
              <a:t>в данной местности на день возмещения ущерба.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При нарушении работодателем установленного срока выплаты заработной платы, оплаты отпуска, выплат при увольнении и других выплат, причитающихся работнику, работодатель обязан выплатить их с уплатой </a:t>
            </a:r>
            <a:r>
              <a:rPr lang="ru-RU" sz="2000" b="1" dirty="0"/>
              <a:t>процентов в размере не ниже одной трехсотой ставки рефинансирования</a:t>
            </a:r>
            <a:r>
              <a:rPr lang="ru-RU" sz="2000" dirty="0"/>
              <a:t> Центрального банка РФ от невыплаченных в срок сумм за каждый день задержки (</a:t>
            </a:r>
            <a:r>
              <a:rPr lang="ru-RU" sz="2000" dirty="0">
                <a:hlinkClick r:id="rId2"/>
              </a:rPr>
              <a:t>ст. 236 ТК РФ</a:t>
            </a:r>
            <a:r>
              <a:rPr lang="ru-RU" sz="2000" dirty="0"/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Моральный вред, причиненный работнику неправомерными действиями или бездействием работодателя, возмещается работнику в денежной форме в размерах, определяемых соглашением сторон трудового договора. При этом право на возмещение морального вреда работник имеет во всех случаях нарушения его трудовых прав, сопровождающихся нравственными или физическими страданиями.</a:t>
            </a:r>
          </a:p>
        </p:txBody>
      </p:sp>
    </p:spTree>
    <p:extLst>
      <p:ext uri="{BB962C8B-B14F-4D97-AF65-F5344CB8AC3E}">
        <p14:creationId xmlns:p14="http://schemas.microsoft.com/office/powerpoint/2010/main" val="30492779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" y="1143"/>
            <a:ext cx="9144000" cy="1073055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/>
                </a:solidFill>
              </a:rPr>
              <a:t>Материальная ответственность </a:t>
            </a:r>
            <a:r>
              <a:rPr lang="ru-RU" dirty="0" smtClean="0">
                <a:solidFill>
                  <a:schemeClr val="bg1"/>
                </a:solidFill>
              </a:rPr>
              <a:t>работника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" y="1225689"/>
            <a:ext cx="9144001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solidFill>
                  <a:srgbClr val="000000"/>
                </a:solidFill>
                <a:latin typeface="Arial" panose="020B0604020202020204" pitchFamily="34" charset="0"/>
              </a:rPr>
              <a:t>Работник обязан возместить работодателю причиненный ему </a:t>
            </a:r>
            <a:r>
              <a:rPr lang="ru-RU" sz="2400" b="1" dirty="0">
                <a:solidFill>
                  <a:srgbClr val="000000"/>
                </a:solidFill>
                <a:latin typeface="Arial" panose="020B0604020202020204" pitchFamily="34" charset="0"/>
              </a:rPr>
              <a:t>прямой действительный ущерб</a:t>
            </a:r>
            <a:r>
              <a:rPr lang="ru-RU" sz="2400" dirty="0">
                <a:solidFill>
                  <a:srgbClr val="000000"/>
                </a:solidFill>
                <a:latin typeface="Arial" panose="020B0604020202020204" pitchFamily="34" charset="0"/>
              </a:rPr>
              <a:t>. Неполученные доходы (упущенная выгода) взысканию с работника не подлежат.</a:t>
            </a:r>
          </a:p>
          <a:p>
            <a:pPr algn="just"/>
            <a:r>
              <a:rPr lang="ru-RU" sz="2400" b="1" dirty="0">
                <a:solidFill>
                  <a:srgbClr val="000000"/>
                </a:solidFill>
                <a:latin typeface="Arial" panose="020B0604020202020204" pitchFamily="34" charset="0"/>
              </a:rPr>
              <a:t>Под прямым действительным ущербом</a:t>
            </a:r>
            <a:r>
              <a:rPr lang="ru-RU" sz="2400" dirty="0">
                <a:solidFill>
                  <a:srgbClr val="000000"/>
                </a:solidFill>
                <a:latin typeface="Arial" panose="020B0604020202020204" pitchFamily="34" charset="0"/>
              </a:rPr>
              <a:t> понимается реальное уменьшение наличного имущества работодателя или ухудшение состоянии указанного имущества, а также необходимость для работодателя произвести затраты либо излишние выплаты на приобретение или восстановление имущества.</a:t>
            </a:r>
          </a:p>
          <a:p>
            <a:pPr algn="just"/>
            <a:r>
              <a:rPr lang="ru-RU" sz="2400" b="1" dirty="0">
                <a:solidFill>
                  <a:srgbClr val="000000"/>
                </a:solidFill>
                <a:latin typeface="Arial" panose="020B0604020202020204" pitchFamily="34" charset="0"/>
              </a:rPr>
              <a:t>Материальная ответственность работника исключается</a:t>
            </a:r>
            <a:r>
              <a:rPr lang="ru-RU" sz="2400" dirty="0">
                <a:solidFill>
                  <a:srgbClr val="000000"/>
                </a:solidFill>
                <a:latin typeface="Arial" panose="020B0604020202020204" pitchFamily="34" charset="0"/>
              </a:rPr>
              <a:t> в случаях возникновения ущерба вследствие непреодолимой силы, нормального хозяйственного риска, крайней необходимости или необходимой обороны либо неисполнении работодателем обязанности по обеспечению надлежащих условий для хранения имущества, вверенного работнику.</a:t>
            </a:r>
            <a:endParaRPr lang="ru-RU" sz="24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50848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" y="1143"/>
            <a:ext cx="9144000" cy="1073055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/>
                </a:solidFill>
              </a:rPr>
              <a:t>Материальная ответственность </a:t>
            </a:r>
            <a:r>
              <a:rPr lang="ru-RU" dirty="0" smtClean="0">
                <a:solidFill>
                  <a:schemeClr val="bg1"/>
                </a:solidFill>
              </a:rPr>
              <a:t>работника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" y="1225689"/>
            <a:ext cx="9144001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dirty="0">
                <a:solidFill>
                  <a:srgbClr val="000000"/>
                </a:solidFill>
                <a:latin typeface="Arial" panose="020B0604020202020204" pitchFamily="34" charset="0"/>
              </a:rPr>
              <a:t>Трудовым кодексом предусмотрены два вида материальной ответственности: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000000"/>
                </a:solidFill>
                <a:latin typeface="Arial" panose="020B0604020202020204" pitchFamily="34" charset="0"/>
              </a:rPr>
              <a:t>ограниченная;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000000"/>
                </a:solidFill>
                <a:latin typeface="Arial" panose="020B0604020202020204" pitchFamily="34" charset="0"/>
              </a:rPr>
              <a:t>полная.</a:t>
            </a:r>
          </a:p>
          <a:p>
            <a:pPr algn="just"/>
            <a:r>
              <a:rPr lang="ru-RU" sz="2800" dirty="0">
                <a:solidFill>
                  <a:srgbClr val="000000"/>
                </a:solidFill>
                <a:latin typeface="Arial" panose="020B0604020202020204" pitchFamily="34" charset="0"/>
              </a:rPr>
              <a:t>При </a:t>
            </a:r>
            <a:r>
              <a:rPr lang="ru-RU" sz="2800" b="1" dirty="0">
                <a:solidFill>
                  <a:srgbClr val="000000"/>
                </a:solidFill>
                <a:latin typeface="Arial" panose="020B0604020202020204" pitchFamily="34" charset="0"/>
              </a:rPr>
              <a:t>ограниченной </a:t>
            </a:r>
            <a:r>
              <a:rPr lang="ru-RU" sz="2800" dirty="0">
                <a:solidFill>
                  <a:srgbClr val="000000"/>
                </a:solidFill>
                <a:latin typeface="Arial" panose="020B0604020202020204" pitchFamily="34" charset="0"/>
              </a:rPr>
              <a:t>материальной ответственности установлен максимальный предел ответственности. </a:t>
            </a:r>
            <a:endParaRPr lang="ru-RU" sz="280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/>
            <a:r>
              <a:rPr lang="ru-RU" sz="2800" dirty="0" smtClean="0">
                <a:solidFill>
                  <a:srgbClr val="000000"/>
                </a:solidFill>
                <a:latin typeface="Arial" panose="020B0604020202020204" pitchFamily="34" charset="0"/>
              </a:rPr>
              <a:t>Согласно </a:t>
            </a:r>
            <a:r>
              <a:rPr lang="ru-RU" sz="2800" dirty="0">
                <a:solidFill>
                  <a:srgbClr val="000000"/>
                </a:solidFill>
                <a:latin typeface="Arial" panose="020B0604020202020204" pitchFamily="34" charset="0"/>
                <a:hlinkClick r:id="rId2"/>
              </a:rPr>
              <a:t>ст. 241 ТК РФ </a:t>
            </a:r>
            <a:r>
              <a:rPr lang="ru-RU" sz="2800" dirty="0">
                <a:solidFill>
                  <a:srgbClr val="000000"/>
                </a:solidFill>
                <a:latin typeface="Arial" panose="020B0604020202020204" pitchFamily="34" charset="0"/>
              </a:rPr>
              <a:t>за причиненный ущерб работник несет материальную ответственность </a:t>
            </a:r>
            <a:r>
              <a:rPr lang="ru-RU" sz="2800" b="1" dirty="0">
                <a:solidFill>
                  <a:srgbClr val="000000"/>
                </a:solidFill>
                <a:latin typeface="Arial" panose="020B0604020202020204" pitchFamily="34" charset="0"/>
              </a:rPr>
              <a:t>в пределах своего среднего месячного заработка, если иное не предусмотрено законом.</a:t>
            </a:r>
          </a:p>
          <a:p>
            <a:pPr algn="just"/>
            <a:r>
              <a:rPr lang="ru-RU" sz="2800" b="1" dirty="0">
                <a:solidFill>
                  <a:srgbClr val="000000"/>
                </a:solidFill>
                <a:latin typeface="Arial" panose="020B0604020202020204" pitchFamily="34" charset="0"/>
              </a:rPr>
              <a:t>Полная </a:t>
            </a:r>
            <a:r>
              <a:rPr lang="ru-RU" sz="2800" dirty="0">
                <a:solidFill>
                  <a:srgbClr val="000000"/>
                </a:solidFill>
                <a:latin typeface="Arial" panose="020B0604020202020204" pitchFamily="34" charset="0"/>
              </a:rPr>
              <a:t>материальная ответственность работника состоит в его обязанности возмещать причиненный ущерб в полном размере (</a:t>
            </a:r>
            <a:r>
              <a:rPr lang="ru-RU" sz="2800" dirty="0">
                <a:solidFill>
                  <a:srgbClr val="000000"/>
                </a:solidFill>
                <a:latin typeface="Arial" panose="020B0604020202020204" pitchFamily="34" charset="0"/>
                <a:hlinkClick r:id="rId3"/>
              </a:rPr>
              <a:t>ст. 242 ТК РФ</a:t>
            </a:r>
            <a:r>
              <a:rPr lang="ru-RU" sz="2800" dirty="0">
                <a:solidFill>
                  <a:srgbClr val="000000"/>
                </a:solidFill>
                <a:latin typeface="Arial" panose="020B0604020202020204" pitchFamily="34" charset="0"/>
              </a:rPr>
              <a:t>).</a:t>
            </a:r>
            <a:endParaRPr lang="ru-RU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11809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4222" y="-164263"/>
            <a:ext cx="9059778" cy="1367421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/>
                </a:solidFill>
              </a:rPr>
              <a:t>не исчерпывающий список материально ответственных должностей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1203158"/>
            <a:ext cx="9143999" cy="5654842"/>
          </a:xfrm>
        </p:spPr>
        <p:txBody>
          <a:bodyPr>
            <a:normAutofit fontScale="55000" lnSpcReduction="20000"/>
          </a:bodyPr>
          <a:lstStyle/>
          <a:p>
            <a:r>
              <a:rPr lang="ru-RU" sz="3300" dirty="0"/>
              <a:t>кассиры, контролеры, кассиры-контролеры, а также другие работники, выполняющие обязанности кассиров (контролеров);</a:t>
            </a:r>
          </a:p>
          <a:p>
            <a:r>
              <a:rPr lang="ru-RU" sz="3300" dirty="0"/>
              <a:t>руководители, их заместители, специалисты и иные работники, осуществляющие инкассаторские функции и перевозку денежных средств и иных ценностей (в </a:t>
            </a:r>
            <a:r>
              <a:rPr lang="ru-RU" sz="3300" dirty="0" err="1"/>
              <a:t>т.ч</a:t>
            </a:r>
            <a:r>
              <a:rPr lang="ru-RU" sz="3300" dirty="0"/>
              <a:t>. водители-инкассаторы);</a:t>
            </a:r>
          </a:p>
          <a:p>
            <a:r>
              <a:rPr lang="ru-RU" sz="3300" dirty="0"/>
              <a:t>директора, заведующие, администраторы, другие руководители организаций и подразделений торговли, общественного питания, бытового обслуживания, гостиниц, их заместители, помощники, продавцы, товароведы всех специализаций, а также иные работники, выполняющие аналогичные функции;</a:t>
            </a:r>
          </a:p>
          <a:p>
            <a:r>
              <a:rPr lang="ru-RU" sz="3300" dirty="0"/>
              <a:t>начальники (руководители) строительных и монтажных цехов, участков и иных строительно-монтажных подразделений, производители работ и мастера строительных и монтажных работ;</a:t>
            </a:r>
          </a:p>
          <a:p>
            <a:r>
              <a:rPr lang="ru-RU" sz="3300" dirty="0"/>
              <a:t>заведующие, другие руководители складов, кладовых, ломбардов, камер хранения, других организаций и подразделений по заготовке, транспортировке, хранению, учету и выдаче материальных ценностей, их заместители;</a:t>
            </a:r>
          </a:p>
          <a:p>
            <a:r>
              <a:rPr lang="ru-RU" sz="3300" dirty="0"/>
              <a:t>заведующие хозяйством, коменданты зданий и иных сооружений, кладовщики, кастелянши;</a:t>
            </a:r>
          </a:p>
          <a:p>
            <a:r>
              <a:rPr lang="ru-RU" sz="3300" dirty="0" smtClean="0"/>
              <a:t>заведующие </a:t>
            </a:r>
            <a:r>
              <a:rPr lang="ru-RU" sz="3300" dirty="0"/>
              <a:t>и иные руководители аптечных и иных фармацевтических организаций, отделов, пунктов и иных подразделений, их заместители, провизоры, технологи, фармацевты;</a:t>
            </a:r>
          </a:p>
          <a:p>
            <a:r>
              <a:rPr lang="ru-RU" sz="3300" dirty="0"/>
              <a:t>лаборанты, методисты кафедр, деканатов, заведующие секторами библиотек.</a:t>
            </a:r>
          </a:p>
          <a:p>
            <a:pPr marL="0" indent="0">
              <a:buNone/>
            </a:pPr>
            <a:r>
              <a:rPr lang="ru-RU" sz="7300" dirty="0" smtClean="0">
                <a:hlinkClick r:id="rId2"/>
              </a:rPr>
              <a:t>Подробнее</a:t>
            </a:r>
            <a:endParaRPr lang="ru-RU" sz="7300" dirty="0"/>
          </a:p>
        </p:txBody>
      </p:sp>
    </p:spTree>
    <p:extLst>
      <p:ext uri="{BB962C8B-B14F-4D97-AF65-F5344CB8AC3E}">
        <p14:creationId xmlns:p14="http://schemas.microsoft.com/office/powerpoint/2010/main" val="12432258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Схема 3"/>
          <p:cNvGraphicFramePr/>
          <p:nvPr>
            <p:extLst>
              <p:ext uri="{D42A27DB-BD31-4B8C-83A1-F6EECF244321}">
                <p14:modId xmlns:p14="http://schemas.microsoft.com/office/powerpoint/2010/main" val="2112197094"/>
              </p:ext>
            </p:extLst>
          </p:nvPr>
        </p:nvGraphicFramePr>
        <p:xfrm>
          <a:off x="1" y="1191127"/>
          <a:ext cx="9144000" cy="56668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Прямоугольник 6"/>
          <p:cNvSpPr/>
          <p:nvPr/>
        </p:nvSpPr>
        <p:spPr>
          <a:xfrm>
            <a:off x="1" y="1"/>
            <a:ext cx="872289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Ответственность в полном размере причиненного ущерба возлагается на работника в следующих случаях:</a:t>
            </a:r>
          </a:p>
        </p:txBody>
      </p:sp>
    </p:spTree>
    <p:extLst>
      <p:ext uri="{BB962C8B-B14F-4D97-AF65-F5344CB8AC3E}">
        <p14:creationId xmlns:p14="http://schemas.microsoft.com/office/powerpoint/2010/main" val="41137039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Схема 3"/>
          <p:cNvGraphicFramePr/>
          <p:nvPr>
            <p:extLst>
              <p:ext uri="{D42A27DB-BD31-4B8C-83A1-F6EECF244321}">
                <p14:modId xmlns:p14="http://schemas.microsoft.com/office/powerpoint/2010/main" val="3001934365"/>
              </p:ext>
            </p:extLst>
          </p:nvPr>
        </p:nvGraphicFramePr>
        <p:xfrm>
          <a:off x="-1" y="1034716"/>
          <a:ext cx="9144001" cy="60016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60156" y="-48126"/>
            <a:ext cx="902368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Ответственность в полном размере причиненного ущерба возлагается на работника в следующих случаях:</a:t>
            </a:r>
          </a:p>
        </p:txBody>
      </p:sp>
    </p:spTree>
    <p:extLst>
      <p:ext uri="{BB962C8B-B14F-4D97-AF65-F5344CB8AC3E}">
        <p14:creationId xmlns:p14="http://schemas.microsoft.com/office/powerpoint/2010/main" val="10333473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9261" y="-140201"/>
            <a:ext cx="9044739" cy="1415548"/>
          </a:xfrm>
        </p:spPr>
        <p:txBody>
          <a:bodyPr/>
          <a:lstStyle/>
          <a:p>
            <a:r>
              <a:rPr lang="ru-RU" dirty="0" smtClean="0">
                <a:solidFill>
                  <a:schemeClr val="bg1"/>
                </a:solidFill>
              </a:rPr>
              <a:t>Письменные договоры о материальной ответственности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1275348"/>
            <a:ext cx="9144000" cy="5498431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Письменные договоры о полной индивидуальной или коллективной (бригадной) материальной ответственности, т.е. о возмещении работодателю причиненного ущерба в полном размере за недостачу вверенного работникам имущества, заключаются с работниками, достигшими 18-летнего возраста и непосредственно обслуживающими или использующими денежные, товарные ценности или иное имущество (кассиры, контролеры, заведующие склада, экспедиторы и др.).</a:t>
            </a:r>
          </a:p>
          <a:p>
            <a:r>
              <a:rPr lang="ru-RU" dirty="0"/>
              <a:t>Договор о полной материальной ответственности является дополнительным к трудовому договору.</a:t>
            </a:r>
          </a:p>
          <a:p>
            <a:r>
              <a:rPr lang="ru-RU" dirty="0"/>
              <a:t>Трудовой кодекс предусматривает два вида полной материальной ответственности: индивидуальную и коллективную (бригадную).</a:t>
            </a:r>
          </a:p>
          <a:p>
            <a:r>
              <a:rPr lang="ru-RU" dirty="0"/>
              <a:t>При совместном выполнении работниками отдельных видов работ, связанных с хранением, обработкой, продажей (отпуском), перевозкой, применением или иным использованием переданных им ценностей, когда невозможно разграничить ответственность каждого работника за причинение ущерба и заключить с ним договор о возмещении ущерба в полном размере, может вводиться коллективная (бригадная) материальная ответственность.</a:t>
            </a:r>
          </a:p>
          <a:p>
            <a:r>
              <a:rPr lang="ru-RU" dirty="0"/>
              <a:t>Письменный договор о коллективной (бригадной) материальной ответственности за причинение ущерба заключается между работодателем и всеми членами коллектива (бригады</a:t>
            </a:r>
            <a:r>
              <a:rPr lang="ru-RU" dirty="0" smtClean="0"/>
              <a:t>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882584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77748"/>
          </a:xfrm>
        </p:spPr>
        <p:txBody>
          <a:bodyPr/>
          <a:lstStyle/>
          <a:p>
            <a:pPr algn="ctr"/>
            <a:r>
              <a:rPr lang="ru-RU" dirty="0" smtClean="0">
                <a:solidFill>
                  <a:schemeClr val="bg1"/>
                </a:solidFill>
              </a:rPr>
              <a:t>Практикум</a:t>
            </a:r>
            <a:endParaRPr lang="ru-RU" dirty="0">
              <a:solidFill>
                <a:schemeClr val="bg1"/>
              </a:solidFill>
            </a:endParaRPr>
          </a:p>
        </p:txBody>
      </p:sp>
      <p:graphicFrame>
        <p:nvGraphicFramePr>
          <p:cNvPr id="6" name="Содержимое 5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164420"/>
              </p:ext>
            </p:extLst>
          </p:nvPr>
        </p:nvGraphicFramePr>
        <p:xfrm>
          <a:off x="3069454" y="2170312"/>
          <a:ext cx="3005092" cy="25355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Документ" showAsIcon="1" r:id="rId3" imgW="914400" imgH="771480" progId="Word.Document.12">
                  <p:embed/>
                </p:oleObj>
              </mc:Choice>
              <mc:Fallback>
                <p:oleObj name="Документ" showAsIcon="1" r:id="rId3" imgW="914400" imgH="771480" progId="Word.Document.12">
                  <p:embed/>
                  <p:pic>
                    <p:nvPicPr>
                      <p:cNvPr id="0" name="Содержимое 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9454" y="2170312"/>
                        <a:ext cx="3005092" cy="253554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5878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Уголки</Template>
  <TotalTime>543</TotalTime>
  <Words>2072</Words>
  <Application>Microsoft Office PowerPoint</Application>
  <PresentationFormat>Экран (4:3)</PresentationFormat>
  <Paragraphs>175</Paragraphs>
  <Slides>30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36" baseType="lpstr">
      <vt:lpstr>Arial</vt:lpstr>
      <vt:lpstr>Calibri</vt:lpstr>
      <vt:lpstr>Calibri Light</vt:lpstr>
      <vt:lpstr>Wingdings</vt:lpstr>
      <vt:lpstr>Office Theme</vt:lpstr>
      <vt:lpstr>Документ</vt:lpstr>
      <vt:lpstr>Формы и системы оплаты труда</vt:lpstr>
      <vt:lpstr>Понятие оплаты труда</vt:lpstr>
      <vt:lpstr>Принципы оплаты труда  ( по Ф.Тейлору)</vt:lpstr>
      <vt:lpstr>Структура заработной платы</vt:lpstr>
      <vt:lpstr>Формы оплаты труда</vt:lpstr>
      <vt:lpstr>Формы оплаты труда</vt:lpstr>
      <vt:lpstr>Система оплаты труда</vt:lpstr>
      <vt:lpstr>Государственные гарантии по оплате труда работников</vt:lpstr>
      <vt:lpstr>Виды систем оплаты труда</vt:lpstr>
      <vt:lpstr>Тарифная система оплаты труда</vt:lpstr>
      <vt:lpstr>Повременная оплата труда</vt:lpstr>
      <vt:lpstr>Сдельная оплата труда</vt:lpstr>
      <vt:lpstr>Сдельная оплата труда</vt:lpstr>
      <vt:lpstr>Бестарифная оплата труда</vt:lpstr>
      <vt:lpstr>Бестарифная оплата труда</vt:lpstr>
      <vt:lpstr>Смешанная система оплаты труда</vt:lpstr>
      <vt:lpstr>Смешанная система оплаты труда</vt:lpstr>
      <vt:lpstr>Расчет пособия по временной нетрудоспособности </vt:lpstr>
      <vt:lpstr>Расчет пособия по временной нетрудоспособности </vt:lpstr>
      <vt:lpstr>Виды материальной ответственности сотрудников</vt:lpstr>
      <vt:lpstr>Материальная ответственность работодателя перед работником</vt:lpstr>
      <vt:lpstr>Материальная ответственность работодателя перед работником</vt:lpstr>
      <vt:lpstr>Материальная ответственность работодателя перед работником</vt:lpstr>
      <vt:lpstr>Материальная ответственность работника</vt:lpstr>
      <vt:lpstr>Материальная ответственность работника</vt:lpstr>
      <vt:lpstr>не исчерпывающий список материально ответственных должностей</vt:lpstr>
      <vt:lpstr>Презентация PowerPoint</vt:lpstr>
      <vt:lpstr>Презентация PowerPoint</vt:lpstr>
      <vt:lpstr>Письменные договоры о материальной ответственности</vt:lpstr>
      <vt:lpstr>Практикум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 OF PRESENTATION</dc:title>
  <dc:creator>User</dc:creator>
  <cp:lastModifiedBy>Марина Леденцова</cp:lastModifiedBy>
  <cp:revision>45</cp:revision>
  <dcterms:created xsi:type="dcterms:W3CDTF">2019-10-28T08:40:00Z</dcterms:created>
  <dcterms:modified xsi:type="dcterms:W3CDTF">2025-11-15T04:08:11Z</dcterms:modified>
</cp:coreProperties>
</file>