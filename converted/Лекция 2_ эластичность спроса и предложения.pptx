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15.wmf" ContentType="image/x-wmf"/>
  <Override PartName="/ppt/media/image3.png" ContentType="image/png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2.jpeg" ContentType="image/jpeg"/>
  <Override PartName="/ppt/media/image11.png" ContentType="image/png"/>
  <Override PartName="/ppt/media/image2.png" ContentType="image/png"/>
  <Override PartName="/ppt/media/image8.png" ContentType="image/png"/>
  <Override PartName="/ppt/media/image9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21.xml.rels" ContentType="application/vnd.openxmlformats-package.relationships+xml"/>
  <Override PartName="/ppt/notesSlides/notesSlide2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1" r:id="rId4"/>
    <p:sldMasterId id="2147483652" r:id="rId5"/>
    <p:sldMasterId id="2147483653" r:id="rId6"/>
    <p:sldMasterId id="214748365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19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4e3b30"/>
                </a:solidFill>
                <a:latin typeface="Franklin Gothic Book"/>
              </a:rPr>
              <a:t>Click to move the slide</a:t>
            </a:r>
            <a:endParaRPr b="0" lang="en-US" sz="44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0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1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2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2131EEA9-DE31-4EDE-B2CC-685057A177CD}" type="slidenum">
              <a:rPr b="0" lang="ru-R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Номер слайда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4F081BAB-8E3A-4913-AE94-1327F9BA6576}" type="slidenum">
              <a:rPr b="0" lang="ru-R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0C5118-17A1-4DE8-B0E7-97B4074695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306778D-2CE2-4BA8-A2A2-300FC0B9F8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e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4e3b30"/>
                </a:solidFill>
                <a:latin typeface="Franklin Gothic Book"/>
              </a:rPr>
              <a:t>Click to edit the title text format</a:t>
            </a:r>
            <a:endParaRPr b="0" lang="en-US" sz="44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1" marL="9144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2" marL="13716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Third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3" marL="18288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Fourth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4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5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6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042560" y="6453360"/>
            <a:ext cx="9032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2170080" y="6453360"/>
            <a:ext cx="47102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104240" y="6453360"/>
            <a:ext cx="11966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4e3b30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CF838FE6-9B90-4E8F-8DA7-5A247ECBB343}" type="slidenum">
              <a:rPr b="0" lang="ru-RU" sz="1000" spc="-1" strike="noStrike">
                <a:solidFill>
                  <a:srgbClr val="4e3b30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358920" y="0"/>
            <a:ext cx="171360" cy="6858000"/>
          </a:xfrm>
          <a:prstGeom prst="rect">
            <a:avLst/>
          </a:prstGeom>
          <a:solidFill>
            <a:srgbClr val="4e3b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358920" y="0"/>
            <a:ext cx="171360" cy="6858000"/>
          </a:xfrm>
          <a:prstGeom prst="rect">
            <a:avLst/>
          </a:prstGeom>
          <a:solidFill>
            <a:srgbClr val="4e3b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e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65200" y="744480"/>
            <a:ext cx="8005680" cy="5349960"/>
            <a:chOff x="565200" y="744480"/>
            <a:chExt cx="8005680" cy="5349960"/>
          </a:xfrm>
        </p:grpSpPr>
        <p:sp>
          <p:nvSpPr>
            <p:cNvPr id="8" name="Freeform 6"/>
            <p:cNvSpPr/>
            <p:nvPr/>
          </p:nvSpPr>
          <p:spPr>
            <a:xfrm>
              <a:off x="6114960" y="1685880"/>
              <a:ext cx="2455920" cy="4408560"/>
            </a:xfrm>
            <a:custGeom>
              <a:avLst/>
              <a:gdLst/>
              <a:ah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rgbClr val="4e3b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9" name="Freeform 6"/>
            <p:cNvSpPr/>
            <p:nvPr/>
          </p:nvSpPr>
          <p:spPr>
            <a:xfrm flipH="1" flipV="1">
              <a:off x="564840" y="744480"/>
              <a:ext cx="2455920" cy="4408560"/>
            </a:xfrm>
            <a:custGeom>
              <a:avLst/>
              <a:gdLst/>
              <a:ah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rgbClr val="4e3b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</p:grp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4e3b30"/>
                </a:solidFill>
                <a:latin typeface="Franklin Gothic Book"/>
              </a:rPr>
              <a:t>Click to edit the title text format</a:t>
            </a:r>
            <a:endParaRPr b="0" lang="en-US" sz="44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1" marL="9144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2" marL="13716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Third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3" marL="18288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Fourth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4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5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6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564840" y="6453360"/>
            <a:ext cx="120492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1938240" y="6453360"/>
            <a:ext cx="526752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7372080" y="6453360"/>
            <a:ext cx="11984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4e3b30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2B4F13DA-A8E9-4E54-8895-6FB762B5C6E8}" type="slidenum">
              <a:rPr b="0" lang="ru-RU" sz="1000" spc="-1" strike="noStrike">
                <a:solidFill>
                  <a:srgbClr val="4e3b30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0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e3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/>
          <p:cNvSpPr/>
          <p:nvPr/>
        </p:nvSpPr>
        <p:spPr>
          <a:xfrm>
            <a:off x="6113520" y="1685880"/>
            <a:ext cx="2457360" cy="4408560"/>
          </a:xfrm>
          <a:custGeom>
            <a:avLst/>
            <a:gdLst/>
            <a:ahLst/>
            <a:rect l="l" t="t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rgbClr val="4e3b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" name="Freeform 7"/>
          <p:cNvSpPr/>
          <p:nvPr/>
        </p:nvSpPr>
        <p:spPr>
          <a:xfrm>
            <a:off x="6113520" y="1685880"/>
            <a:ext cx="2457360" cy="4408560"/>
          </a:xfrm>
          <a:custGeom>
            <a:avLst/>
            <a:gdLst/>
            <a:ahLst/>
            <a:rect l="l" t="t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rgbClr val="fbee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fbeec9"/>
                </a:solidFill>
                <a:latin typeface="Franklin Gothic Book"/>
              </a:rPr>
              <a:t>Click to edit the title text format</a:t>
            </a:r>
            <a:endParaRPr b="0" lang="en-US" sz="4400" spc="-1" strike="noStrike">
              <a:solidFill>
                <a:srgbClr val="fbeec9"/>
              </a:solidFill>
              <a:latin typeface="Franklin Gothic Boo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fbeec9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fbeec9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fbeec9"/>
              </a:solidFill>
              <a:latin typeface="Franklin Gothic Book"/>
            </a:endParaRPr>
          </a:p>
          <a:p>
            <a:pPr lvl="1" marL="9144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fbeec9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fbeec9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rgbClr val="fbeec9"/>
              </a:solidFill>
              <a:latin typeface="Franklin Gothic Book"/>
            </a:endParaRPr>
          </a:p>
          <a:p>
            <a:pPr lvl="2" marL="13716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fbeec9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fbeec9"/>
                </a:solidFill>
                <a:latin typeface="Franklin Gothic Book"/>
              </a:rPr>
              <a:t>Third Outline Level</a:t>
            </a:r>
            <a:endParaRPr b="0" lang="en-US" sz="2000" spc="-1" strike="noStrike">
              <a:solidFill>
                <a:srgbClr val="fbeec9"/>
              </a:solidFill>
              <a:latin typeface="Franklin Gothic Book"/>
            </a:endParaRPr>
          </a:p>
          <a:p>
            <a:pPr lvl="3" marL="18288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fbeec9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fbeec9"/>
                </a:solidFill>
                <a:latin typeface="Franklin Gothic Book"/>
              </a:rPr>
              <a:t>Fourth Outline Level</a:t>
            </a:r>
            <a:endParaRPr b="0" lang="en-US" sz="2000" spc="-1" strike="noStrike">
              <a:solidFill>
                <a:srgbClr val="fbeec9"/>
              </a:solidFill>
              <a:latin typeface="Franklin Gothic Book"/>
            </a:endParaRPr>
          </a:p>
          <a:p>
            <a:pPr lvl="4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fbeec9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fbeec9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fbeec9"/>
              </a:solidFill>
              <a:latin typeface="Franklin Gothic Book"/>
            </a:endParaRPr>
          </a:p>
          <a:p>
            <a:pPr lvl="5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ffffff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fbeec9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fbeec9"/>
              </a:solidFill>
              <a:latin typeface="Franklin Gothic Book"/>
            </a:endParaRPr>
          </a:p>
          <a:p>
            <a:pPr lvl="6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ffffff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fbeec9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fbeec9"/>
              </a:solidFill>
              <a:latin typeface="Franklin Gothic Book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554040" y="6453360"/>
            <a:ext cx="121752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1938240" y="6453360"/>
            <a:ext cx="526752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7372080" y="6453360"/>
            <a:ext cx="11984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fbeec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7E760E5B-0E91-4A91-9514-9F9C8B7EB032}" type="slidenum">
              <a:rPr b="0" lang="ru-RU" sz="1000" spc="-1" strike="noStrike">
                <a:solidFill>
                  <a:srgbClr val="fbeec9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e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/>
          <p:cNvSpPr/>
          <p:nvPr/>
        </p:nvSpPr>
        <p:spPr>
          <a:xfrm>
            <a:off x="0" y="0"/>
            <a:ext cx="3978360" cy="6858000"/>
          </a:xfrm>
          <a:prstGeom prst="rect">
            <a:avLst/>
          </a:prstGeom>
          <a:solidFill>
            <a:srgbClr val="f0a2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3" name="Rectangle 8"/>
          <p:cNvSpPr/>
          <p:nvPr/>
        </p:nvSpPr>
        <p:spPr>
          <a:xfrm>
            <a:off x="3978360" y="0"/>
            <a:ext cx="171360" cy="6858000"/>
          </a:xfrm>
          <a:prstGeom prst="rect">
            <a:avLst/>
          </a:prstGeom>
          <a:solidFill>
            <a:srgbClr val="4e3b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4" name="Rectangle 10"/>
          <p:cNvSpPr/>
          <p:nvPr/>
        </p:nvSpPr>
        <p:spPr>
          <a:xfrm>
            <a:off x="3978360" y="0"/>
            <a:ext cx="171360" cy="6858000"/>
          </a:xfrm>
          <a:prstGeom prst="rect">
            <a:avLst/>
          </a:prstGeom>
          <a:solidFill>
            <a:srgbClr val="4e3b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4e3b30"/>
                </a:solidFill>
                <a:latin typeface="Franklin Gothic Book"/>
              </a:rPr>
              <a:t>Click to edit the title text format</a:t>
            </a:r>
            <a:endParaRPr b="0" lang="en-US" sz="44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1" marL="9144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2" marL="13716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Third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3" marL="18288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Fourth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4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5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6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542520" y="6453360"/>
            <a:ext cx="9032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1654200" y="6453360"/>
            <a:ext cx="178128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7411680" y="6453360"/>
            <a:ext cx="119700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4e3b30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8EA5F51F-78E3-4E57-B857-6EF113ED5129}" type="slidenum">
              <a:rPr b="0" lang="ru-RU" sz="1000" spc="-1" strike="noStrike">
                <a:solidFill>
                  <a:srgbClr val="4e3b30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e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/>
          <p:cNvSpPr/>
          <p:nvPr/>
        </p:nvSpPr>
        <p:spPr>
          <a:xfrm>
            <a:off x="0" y="0"/>
            <a:ext cx="3978360" cy="6858000"/>
          </a:xfrm>
          <a:prstGeom prst="rect">
            <a:avLst/>
          </a:prstGeom>
          <a:solidFill>
            <a:srgbClr val="f0a2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1" name="Rectangle 8"/>
          <p:cNvSpPr/>
          <p:nvPr/>
        </p:nvSpPr>
        <p:spPr>
          <a:xfrm>
            <a:off x="3978360" y="0"/>
            <a:ext cx="171360" cy="6858000"/>
          </a:xfrm>
          <a:prstGeom prst="rect">
            <a:avLst/>
          </a:prstGeom>
          <a:solidFill>
            <a:srgbClr val="4e3b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2" name="Rectangle 10"/>
          <p:cNvSpPr/>
          <p:nvPr/>
        </p:nvSpPr>
        <p:spPr>
          <a:xfrm>
            <a:off x="3978360" y="0"/>
            <a:ext cx="171360" cy="6858000"/>
          </a:xfrm>
          <a:prstGeom prst="rect">
            <a:avLst/>
          </a:prstGeom>
          <a:solidFill>
            <a:srgbClr val="4e3b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4e3b30"/>
                </a:solidFill>
                <a:latin typeface="Franklin Gothic Book"/>
              </a:rPr>
              <a:t>Click to edit the title text format</a:t>
            </a:r>
            <a:endParaRPr b="0" lang="en-US" sz="44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1" marL="9144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2" marL="13716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Third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3" marL="18288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Fourth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4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5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6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3"/>
          </p:nvPr>
        </p:nvSpPr>
        <p:spPr>
          <a:xfrm>
            <a:off x="542520" y="6453360"/>
            <a:ext cx="90324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4"/>
          </p:nvPr>
        </p:nvSpPr>
        <p:spPr>
          <a:xfrm>
            <a:off x="1654200" y="6453360"/>
            <a:ext cx="178128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5"/>
          </p:nvPr>
        </p:nvSpPr>
        <p:spPr>
          <a:xfrm>
            <a:off x="7411680" y="6453360"/>
            <a:ext cx="1197000" cy="4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4e3b30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9F07A0AE-308A-4214-9975-8A3E172E111A}" type="slidenum">
              <a:rPr b="0" lang="ru-RU" sz="1000" spc="-1" strike="noStrike">
                <a:solidFill>
                  <a:srgbClr val="4e3b30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e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8"/>
          <p:cNvSpPr/>
          <p:nvPr/>
        </p:nvSpPr>
        <p:spPr>
          <a:xfrm>
            <a:off x="358920" y="0"/>
            <a:ext cx="171360" cy="6858000"/>
          </a:xfrm>
          <a:prstGeom prst="rect">
            <a:avLst/>
          </a:prstGeom>
          <a:solidFill>
            <a:srgbClr val="4e3b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9" name="Rectangle 7"/>
          <p:cNvSpPr/>
          <p:nvPr/>
        </p:nvSpPr>
        <p:spPr>
          <a:xfrm>
            <a:off x="358920" y="0"/>
            <a:ext cx="171360" cy="6858000"/>
          </a:xfrm>
          <a:prstGeom prst="rect">
            <a:avLst/>
          </a:prstGeom>
          <a:solidFill>
            <a:srgbClr val="4e3b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28880" y="685800"/>
            <a:ext cx="7200720" cy="14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4400" spc="-1" strike="noStrike">
                <a:solidFill>
                  <a:srgbClr val="4e3b30"/>
                </a:solidFill>
                <a:latin typeface="Franklin Gothic Book"/>
              </a:rPr>
              <a:t>Click to edit the title text format</a:t>
            </a:r>
            <a:endParaRPr b="0" lang="en-US" sz="44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028880" y="2286000"/>
            <a:ext cx="720072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8268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1" marL="9144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Second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2" marL="13716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Third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3" marL="18288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–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Fourth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4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e3b3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5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  <a:p>
            <a:pPr lvl="6" marL="2286000" indent="-38268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  <a:tabLst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en-US" sz="2000" spc="-1" strike="noStrike">
                <a:solidFill>
                  <a:srgbClr val="4e3b30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6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17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18"/>
          </p:nvPr>
        </p:nvSpPr>
        <p:spPr>
          <a:xfrm>
            <a:off x="8388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  <a:defRPr b="0" lang="ru-RU" sz="1000" spc="-1" strike="noStrike">
                <a:solidFill>
                  <a:srgbClr val="4e3b30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988A2D43-EBEA-4AEB-92F7-85059EF7B791}" type="slidenum">
              <a:rPr b="0" lang="ru-RU" sz="1000" spc="-1" strike="noStrike">
                <a:solidFill>
                  <a:srgbClr val="4e3b30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5.wmf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071360" y="2071800"/>
            <a:ext cx="7143480" cy="192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4000" spc="-1" strike="noStrike">
                <a:solidFill>
                  <a:srgbClr val="000000"/>
                </a:solidFill>
                <a:latin typeface="Franklin Gothic Book"/>
              </a:rPr>
              <a:t>ПОНЯТИЕ ЭЛАСТИЧНОСТИ СПРОСА И ПРЕДЛОЖЕНИЯ</a:t>
            </a:r>
            <a:endParaRPr b="0" lang="en-US" sz="4000" spc="-1" strike="noStrike">
              <a:solidFill>
                <a:srgbClr val="4e3b30"/>
              </a:solidFill>
              <a:latin typeface="Franklin Gothic Book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54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A1BC8033-A8F9-45D3-AD2F-BCB395D7FE6A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5" name="Rectangle 3"/>
          <p:cNvSpPr/>
          <p:nvPr/>
        </p:nvSpPr>
        <p:spPr>
          <a:xfrm>
            <a:off x="1042920" y="1556640"/>
            <a:ext cx="7488360" cy="26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Чувствительность</a:t>
            </a: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 рынка к изменению цен, дохода или каких-либо других показателей рыночной конъюнктуры отражается в показателе </a:t>
            </a: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эластичности</a:t>
            </a:r>
            <a:r>
              <a:rPr b="0" i="1" lang="ru-RU" sz="2800" spc="-1" strike="noStrike">
                <a:solidFill>
                  <a:srgbClr val="000000"/>
                </a:solidFill>
                <a:latin typeface="Times New Roman"/>
              </a:rPr>
              <a:t>, </a:t>
            </a: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которая может быть охарактеризована специальным </a:t>
            </a: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коэффициентом</a:t>
            </a: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.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6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7" name="Rectangle 6"/>
          <p:cNvSpPr/>
          <p:nvPr/>
        </p:nvSpPr>
        <p:spPr>
          <a:xfrm>
            <a:off x="1042920" y="4440960"/>
            <a:ext cx="7488360" cy="22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Коэффициент эластичности</a:t>
            </a: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 показывает степень количественного изменения одного фактора (объема спроса или предложения) при изменении другого фактора (цены, доходов или издержек) на 1 %.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0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59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8905917F-2157-4E38-9B2C-F310B96BC8C4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0" name="Rectangle 3"/>
          <p:cNvSpPr/>
          <p:nvPr/>
        </p:nvSpPr>
        <p:spPr>
          <a:xfrm>
            <a:off x="880920" y="539280"/>
            <a:ext cx="7705800" cy="18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3200" spc="-1" strike="noStrike">
                <a:solidFill>
                  <a:srgbClr val="000000"/>
                </a:solidFill>
                <a:latin typeface="Times New Roman"/>
              </a:rPr>
              <a:t>Эластичность спроса по цене</a:t>
            </a: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показывает степень количественного изменения спроса при изменении цены на 1 %. 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ru-RU" sz="2400" spc="-1" strike="noStrike">
                <a:solidFill>
                  <a:srgbClr val="000000"/>
                </a:solidFill>
                <a:latin typeface="Times New Roman"/>
              </a:rPr>
              <a:t>Эластичность в точке (или точечная эластичность)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1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2" name="Rectangle 6"/>
          <p:cNvSpPr/>
          <p:nvPr/>
        </p:nvSpPr>
        <p:spPr>
          <a:xfrm>
            <a:off x="1006560" y="3980520"/>
            <a:ext cx="7705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ru-RU" sz="2400" spc="-1" strike="noStrike">
                <a:solidFill>
                  <a:srgbClr val="000000"/>
                </a:solidFill>
                <a:latin typeface="Times New Roman"/>
              </a:rPr>
              <a:t>Эластичность по дуге (или дуговая эластичность)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63" name="Рисунок 1" descr=""/>
          <p:cNvPicPr/>
          <p:nvPr/>
        </p:nvPicPr>
        <p:blipFill>
          <a:blip r:embed="rId1"/>
          <a:stretch/>
        </p:blipFill>
        <p:spPr>
          <a:xfrm>
            <a:off x="2843280" y="2562120"/>
            <a:ext cx="3636720" cy="1255680"/>
          </a:xfrm>
          <a:prstGeom prst="rect">
            <a:avLst/>
          </a:prstGeom>
          <a:ln w="0">
            <a:noFill/>
          </a:ln>
        </p:spPr>
      </p:pic>
      <p:pic>
        <p:nvPicPr>
          <p:cNvPr id="64" name="Рисунок 2" descr=""/>
          <p:cNvPicPr/>
          <p:nvPr/>
        </p:nvPicPr>
        <p:blipFill>
          <a:blip r:embed="rId2"/>
          <a:stretch/>
        </p:blipFill>
        <p:spPr>
          <a:xfrm>
            <a:off x="2556000" y="4518000"/>
            <a:ext cx="5016240" cy="218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66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CBB0E119-9E2F-4778-96E5-85AFEAA0F1C0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7" name="Rectangle 3"/>
          <p:cNvSpPr/>
          <p:nvPr/>
        </p:nvSpPr>
        <p:spPr>
          <a:xfrm>
            <a:off x="971640" y="1772640"/>
            <a:ext cx="7705800" cy="13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Абсолютно неэластичный спрос:</a:t>
            </a: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Е = 0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когда изменение цены никак не влияет на величину спроса. 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68" name="Рисунок 1" descr=""/>
          <p:cNvPicPr/>
          <p:nvPr/>
        </p:nvPicPr>
        <p:blipFill>
          <a:blip r:embed="rId1"/>
          <a:stretch/>
        </p:blipFill>
        <p:spPr>
          <a:xfrm>
            <a:off x="2700360" y="3146400"/>
            <a:ext cx="4824360" cy="284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70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78C686F3-A097-43DB-9D3C-59E422A3EDC6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969840" y="1627920"/>
            <a:ext cx="7705800" cy="22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Неэластичный спрос по цене: 0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 &lt; </a:t>
            </a: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Е &lt; 1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когда темпы изменения спроса меньше темпа изменения цены, а именно, изменение цены на 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1 % приведет к изменению в спросе меньше, чем на 1 %.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</p:txBody>
      </p:sp>
      <p:grpSp>
        <p:nvGrpSpPr>
          <p:cNvPr id="72" name="Group 19"/>
          <p:cNvGrpSpPr/>
          <p:nvPr/>
        </p:nvGrpSpPr>
        <p:grpSpPr>
          <a:xfrm>
            <a:off x="3006720" y="3716280"/>
            <a:ext cx="3581280" cy="2881440"/>
            <a:chOff x="3006720" y="3716280"/>
            <a:chExt cx="3581280" cy="2881440"/>
          </a:xfrm>
        </p:grpSpPr>
        <p:sp>
          <p:nvSpPr>
            <p:cNvPr id="73" name="Rectangle 4"/>
            <p:cNvSpPr/>
            <p:nvPr/>
          </p:nvSpPr>
          <p:spPr>
            <a:xfrm>
              <a:off x="3106800" y="4889880"/>
              <a:ext cx="1807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spAutoFit/>
            </a:bodyPr>
            <a:p>
              <a:pPr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br>
                <a:rPr sz="900"/>
              </a:br>
              <a:endParaRPr b="0" lang="en-US" sz="9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74" name="Text Box 6"/>
            <p:cNvSpPr/>
            <p:nvPr/>
          </p:nvSpPr>
          <p:spPr>
            <a:xfrm>
              <a:off x="5888160" y="6126120"/>
              <a:ext cx="699840" cy="4716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36000" bIns="36000" anchor="t">
              <a:noAutofit/>
            </a:bodyPr>
            <a:p>
              <a:pPr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r>
                <a:rPr b="0" lang="en-US" sz="2400" spc="-1" strike="noStrike">
                  <a:solidFill>
                    <a:srgbClr val="000000"/>
                  </a:solidFill>
                  <a:latin typeface="Franklin Gothic Book"/>
                </a:rPr>
                <a:t>Q</a:t>
              </a:r>
              <a:endParaRPr b="0" lang="en-US" sz="24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75" name="Text Box 7"/>
            <p:cNvSpPr/>
            <p:nvPr/>
          </p:nvSpPr>
          <p:spPr>
            <a:xfrm>
              <a:off x="3006720" y="3716280"/>
              <a:ext cx="700200" cy="4716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36000" bIns="36000" anchor="t">
              <a:noAutofit/>
            </a:bodyPr>
            <a:p>
              <a:pPr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r>
                <a:rPr b="0" lang="en-US" sz="2400" spc="-1" strike="noStrike">
                  <a:solidFill>
                    <a:srgbClr val="000000"/>
                  </a:solidFill>
                  <a:latin typeface="Franklin Gothic Book"/>
                </a:rPr>
                <a:t>P</a:t>
              </a:r>
              <a:endParaRPr b="0" lang="en-US" sz="24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76" name="Line 8"/>
            <p:cNvSpPr/>
            <p:nvPr/>
          </p:nvSpPr>
          <p:spPr>
            <a:xfrm flipV="1">
              <a:off x="3473280" y="3716280"/>
              <a:ext cx="0" cy="257040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77" name="Line 9"/>
            <p:cNvSpPr/>
            <p:nvPr/>
          </p:nvSpPr>
          <p:spPr>
            <a:xfrm>
              <a:off x="3473280" y="6286680"/>
              <a:ext cx="2335320" cy="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78" name="Line 10"/>
            <p:cNvSpPr/>
            <p:nvPr/>
          </p:nvSpPr>
          <p:spPr>
            <a:xfrm>
              <a:off x="3997440" y="3716280"/>
              <a:ext cx="934920" cy="233676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79" name="Text Box 11"/>
            <p:cNvSpPr/>
            <p:nvPr/>
          </p:nvSpPr>
          <p:spPr>
            <a:xfrm>
              <a:off x="4875120" y="5581800"/>
              <a:ext cx="700200" cy="4712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36000" bIns="36000" anchor="t">
              <a:noAutofit/>
            </a:bodyPr>
            <a:p>
              <a:pPr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r>
                <a:rPr b="0" lang="en-US" sz="2400" spc="-1" strike="noStrike">
                  <a:solidFill>
                    <a:srgbClr val="000000"/>
                  </a:solidFill>
                  <a:latin typeface="Franklin Gothic Book"/>
                </a:rPr>
                <a:t>D</a:t>
              </a:r>
              <a:endParaRPr b="0" lang="en-US" sz="24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80" name="Line 12"/>
            <p:cNvSpPr/>
            <p:nvPr/>
          </p:nvSpPr>
          <p:spPr>
            <a:xfrm>
              <a:off x="3473280" y="4183200"/>
              <a:ext cx="700200" cy="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81" name="Line 13"/>
            <p:cNvSpPr/>
            <p:nvPr/>
          </p:nvSpPr>
          <p:spPr>
            <a:xfrm>
              <a:off x="4173480" y="4183200"/>
              <a:ext cx="0" cy="210348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82" name="Line 14"/>
            <p:cNvSpPr/>
            <p:nvPr/>
          </p:nvSpPr>
          <p:spPr>
            <a:xfrm>
              <a:off x="3473280" y="5351400"/>
              <a:ext cx="1168560" cy="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83" name="Line 15"/>
            <p:cNvSpPr/>
            <p:nvPr/>
          </p:nvSpPr>
          <p:spPr>
            <a:xfrm>
              <a:off x="4641840" y="5351400"/>
              <a:ext cx="0" cy="93528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84" name="Line 16"/>
            <p:cNvSpPr/>
            <p:nvPr/>
          </p:nvSpPr>
          <p:spPr>
            <a:xfrm>
              <a:off x="3240000" y="4183200"/>
              <a:ext cx="0" cy="116820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headEnd len="med" type="arrow" w="med"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85" name="Line 17"/>
            <p:cNvSpPr/>
            <p:nvPr/>
          </p:nvSpPr>
          <p:spPr>
            <a:xfrm>
              <a:off x="4173480" y="6521400"/>
              <a:ext cx="468360" cy="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headEnd len="med" type="arrow" w="med"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87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3570DD5F-2EEE-4FF6-BAD2-56ECD5A9D087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88" name="Rectangle 3"/>
          <p:cNvSpPr/>
          <p:nvPr/>
        </p:nvSpPr>
        <p:spPr>
          <a:xfrm>
            <a:off x="971640" y="1839240"/>
            <a:ext cx="7705800" cy="13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Единичная эластичность: Е = 1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когда спрос изменяется теми же темпами, что и цена.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</p:txBody>
      </p:sp>
      <p:grpSp>
        <p:nvGrpSpPr>
          <p:cNvPr id="89" name="Group 19"/>
          <p:cNvGrpSpPr/>
          <p:nvPr/>
        </p:nvGrpSpPr>
        <p:grpSpPr>
          <a:xfrm>
            <a:off x="2871720" y="3317760"/>
            <a:ext cx="3716280" cy="3279960"/>
            <a:chOff x="2871720" y="3317760"/>
            <a:chExt cx="3716280" cy="3279960"/>
          </a:xfrm>
        </p:grpSpPr>
        <p:sp>
          <p:nvSpPr>
            <p:cNvPr id="90" name="Text Box 11"/>
            <p:cNvSpPr/>
            <p:nvPr/>
          </p:nvSpPr>
          <p:spPr>
            <a:xfrm>
              <a:off x="5413320" y="5473800"/>
              <a:ext cx="814320" cy="5475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36000" bIns="36000" anchor="t">
              <a:noAutofit/>
            </a:bodyPr>
            <a:p>
              <a:pPr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r>
                <a:rPr b="0" lang="en-US" sz="2400" spc="-1" strike="noStrike">
                  <a:solidFill>
                    <a:srgbClr val="000000"/>
                  </a:solidFill>
                  <a:latin typeface="Franklin Gothic Book"/>
                </a:rPr>
                <a:t>D</a:t>
              </a:r>
              <a:endParaRPr b="0" lang="en-US" sz="24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91" name="Text Box 6"/>
            <p:cNvSpPr/>
            <p:nvPr/>
          </p:nvSpPr>
          <p:spPr>
            <a:xfrm>
              <a:off x="5773680" y="6310440"/>
              <a:ext cx="814320" cy="2872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36000" bIns="36000" anchor="t">
              <a:noAutofit/>
            </a:bodyPr>
            <a:p>
              <a:pPr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r>
                <a:rPr b="0" lang="en-US" sz="2400" spc="-1" strike="noStrike">
                  <a:solidFill>
                    <a:srgbClr val="000000"/>
                  </a:solidFill>
                  <a:latin typeface="Franklin Gothic Book"/>
                </a:rPr>
                <a:t>Q</a:t>
              </a:r>
              <a:endParaRPr b="0" lang="en-US" sz="24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92" name="Text Box 7"/>
            <p:cNvSpPr/>
            <p:nvPr/>
          </p:nvSpPr>
          <p:spPr>
            <a:xfrm>
              <a:off x="2871720" y="3317760"/>
              <a:ext cx="814320" cy="5479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36000" bIns="36000" anchor="t">
              <a:noAutofit/>
            </a:bodyPr>
            <a:p>
              <a:pPr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r>
                <a:rPr b="0" lang="en-US" sz="2400" spc="-1" strike="noStrike">
                  <a:solidFill>
                    <a:srgbClr val="000000"/>
                  </a:solidFill>
                  <a:latin typeface="Franklin Gothic Book"/>
                </a:rPr>
                <a:t>P</a:t>
              </a:r>
              <a:endParaRPr b="0" lang="en-US" sz="24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93" name="Line 8"/>
            <p:cNvSpPr/>
            <p:nvPr/>
          </p:nvSpPr>
          <p:spPr>
            <a:xfrm flipV="1">
              <a:off x="3220920" y="3317760"/>
              <a:ext cx="0" cy="298296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94" name="Line 9"/>
            <p:cNvSpPr/>
            <p:nvPr/>
          </p:nvSpPr>
          <p:spPr>
            <a:xfrm>
              <a:off x="3220920" y="6300720"/>
              <a:ext cx="2713320" cy="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95" name="Line 10"/>
            <p:cNvSpPr/>
            <p:nvPr/>
          </p:nvSpPr>
          <p:spPr>
            <a:xfrm>
              <a:off x="3419640" y="4194000"/>
              <a:ext cx="2170080" cy="189900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96" name="Line 12"/>
            <p:cNvSpPr/>
            <p:nvPr/>
          </p:nvSpPr>
          <p:spPr>
            <a:xfrm>
              <a:off x="3225960" y="4797360"/>
              <a:ext cx="841320" cy="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97" name="Line 13"/>
            <p:cNvSpPr/>
            <p:nvPr/>
          </p:nvSpPr>
          <p:spPr>
            <a:xfrm>
              <a:off x="4067280" y="4797360"/>
              <a:ext cx="36360" cy="150336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98" name="Line 14"/>
            <p:cNvSpPr/>
            <p:nvPr/>
          </p:nvSpPr>
          <p:spPr>
            <a:xfrm flipV="1">
              <a:off x="3220920" y="5442120"/>
              <a:ext cx="1567080" cy="288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920" bIns="-43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99" name="Line 15"/>
            <p:cNvSpPr/>
            <p:nvPr/>
          </p:nvSpPr>
          <p:spPr>
            <a:xfrm>
              <a:off x="4788000" y="5445000"/>
              <a:ext cx="0" cy="89244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00" name="Line 16"/>
            <p:cNvSpPr/>
            <p:nvPr/>
          </p:nvSpPr>
          <p:spPr>
            <a:xfrm>
              <a:off x="3052800" y="4730760"/>
              <a:ext cx="0" cy="64296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headEnd len="med" type="arrow" w="med"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01" name="Line 17"/>
            <p:cNvSpPr/>
            <p:nvPr/>
          </p:nvSpPr>
          <p:spPr>
            <a:xfrm>
              <a:off x="4067280" y="6453360"/>
              <a:ext cx="739800" cy="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headEnd len="med" type="arrow" w="med"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03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E080EEC8-17AA-4A7A-8373-D87D64E6EA4A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969840" y="1632960"/>
            <a:ext cx="7705800" cy="22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Эластичный спрос по цене: Е &gt; 1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когда спрос изменяется более высокими темпами, чем изменяется цена, т.е. изменение цены на 1 % вызывает изменения в спросе больше, чем на 1 %.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  <p:grpSp>
        <p:nvGrpSpPr>
          <p:cNvPr id="106" name="Group 19"/>
          <p:cNvGrpSpPr/>
          <p:nvPr/>
        </p:nvGrpSpPr>
        <p:grpSpPr>
          <a:xfrm>
            <a:off x="2865600" y="3860280"/>
            <a:ext cx="3217680" cy="2808720"/>
            <a:chOff x="2865600" y="3860280"/>
            <a:chExt cx="3217680" cy="2808720"/>
          </a:xfrm>
        </p:grpSpPr>
        <p:sp>
          <p:nvSpPr>
            <p:cNvPr id="107" name="Text Box 11"/>
            <p:cNvSpPr/>
            <p:nvPr/>
          </p:nvSpPr>
          <p:spPr>
            <a:xfrm>
              <a:off x="5168880" y="4976640"/>
              <a:ext cx="698400" cy="4683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36000" bIns="36000" anchor="t">
              <a:noAutofit/>
            </a:bodyPr>
            <a:p>
              <a:pPr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r>
                <a:rPr b="0" lang="en-US" sz="2400" spc="-1" strike="noStrike">
                  <a:solidFill>
                    <a:srgbClr val="000000"/>
                  </a:solidFill>
                  <a:latin typeface="Franklin Gothic Book"/>
                </a:rPr>
                <a:t>D</a:t>
              </a:r>
              <a:endParaRPr b="0" lang="en-US" sz="24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08" name="Text Box 6"/>
            <p:cNvSpPr/>
            <p:nvPr/>
          </p:nvSpPr>
          <p:spPr>
            <a:xfrm>
              <a:off x="5580000" y="6310440"/>
              <a:ext cx="503280" cy="3585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36000" bIns="36000" anchor="t">
              <a:noAutofit/>
            </a:bodyPr>
            <a:p>
              <a:pPr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r>
                <a:rPr b="0" lang="en-US" sz="2400" spc="-1" strike="noStrike">
                  <a:solidFill>
                    <a:srgbClr val="000000"/>
                  </a:solidFill>
                  <a:latin typeface="Franklin Gothic Book"/>
                </a:rPr>
                <a:t>Q</a:t>
              </a:r>
              <a:endParaRPr b="0" lang="en-US" sz="24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09" name="Text Box 7"/>
            <p:cNvSpPr/>
            <p:nvPr/>
          </p:nvSpPr>
          <p:spPr>
            <a:xfrm>
              <a:off x="2865600" y="3860640"/>
              <a:ext cx="698400" cy="4701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36000" bIns="36000" anchor="t">
              <a:noAutofit/>
            </a:bodyPr>
            <a:p>
              <a:pPr>
                <a:tabLst>
                  <a:tab algn="l" pos="0"/>
                  <a:tab algn="l" pos="457200"/>
                  <a:tab algn="l" pos="914400"/>
                  <a:tab algn="l" pos="1371600"/>
                  <a:tab algn="l" pos="1828800"/>
                  <a:tab algn="l" pos="2286000"/>
                  <a:tab algn="l" pos="2743200"/>
                  <a:tab algn="l" pos="3200400"/>
                  <a:tab algn="l" pos="3657600"/>
                  <a:tab algn="l" pos="4114800"/>
                  <a:tab algn="l" pos="4572000"/>
                  <a:tab algn="l" pos="5029200"/>
                  <a:tab algn="l" pos="5486400"/>
                  <a:tab algn="l" pos="5943600"/>
                  <a:tab algn="l" pos="6400800"/>
                  <a:tab algn="l" pos="6858000"/>
                  <a:tab algn="l" pos="7315200"/>
                  <a:tab algn="l" pos="7772400"/>
                  <a:tab algn="l" pos="8229600"/>
                  <a:tab algn="l" pos="8686800"/>
                  <a:tab algn="l" pos="9144000"/>
                </a:tabLst>
              </a:pPr>
              <a:r>
                <a:rPr b="0" lang="en-US" sz="2400" spc="-1" strike="noStrike">
                  <a:solidFill>
                    <a:srgbClr val="000000"/>
                  </a:solidFill>
                  <a:latin typeface="Franklin Gothic Book"/>
                </a:rPr>
                <a:t>P</a:t>
              </a:r>
              <a:endParaRPr b="0" lang="en-US" sz="24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10" name="Line 8"/>
            <p:cNvSpPr/>
            <p:nvPr/>
          </p:nvSpPr>
          <p:spPr>
            <a:xfrm flipV="1">
              <a:off x="3165480" y="3860280"/>
              <a:ext cx="0" cy="256068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11" name="Line 9"/>
            <p:cNvSpPr/>
            <p:nvPr/>
          </p:nvSpPr>
          <p:spPr>
            <a:xfrm>
              <a:off x="3165480" y="6421320"/>
              <a:ext cx="2325600" cy="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12" name="Line 10"/>
            <p:cNvSpPr/>
            <p:nvPr/>
          </p:nvSpPr>
          <p:spPr>
            <a:xfrm>
              <a:off x="3398760" y="4797360"/>
              <a:ext cx="2181240" cy="71928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13" name="Line 12"/>
            <p:cNvSpPr/>
            <p:nvPr/>
          </p:nvSpPr>
          <p:spPr>
            <a:xfrm>
              <a:off x="3165480" y="5024520"/>
              <a:ext cx="930240" cy="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14" name="Line 13"/>
            <p:cNvSpPr/>
            <p:nvPr/>
          </p:nvSpPr>
          <p:spPr>
            <a:xfrm>
              <a:off x="4095720" y="5024520"/>
              <a:ext cx="0" cy="139680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15" name="Line 14"/>
            <p:cNvSpPr/>
            <p:nvPr/>
          </p:nvSpPr>
          <p:spPr>
            <a:xfrm>
              <a:off x="3165480" y="5257800"/>
              <a:ext cx="1628640" cy="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16" name="Line 15"/>
            <p:cNvSpPr/>
            <p:nvPr/>
          </p:nvSpPr>
          <p:spPr>
            <a:xfrm>
              <a:off x="4794120" y="5257800"/>
              <a:ext cx="0" cy="1163520"/>
            </a:xfrm>
            <a:prstGeom prst="line">
              <a:avLst/>
            </a:prstGeom>
            <a:ln w="3168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17" name="Line 16"/>
            <p:cNvSpPr/>
            <p:nvPr/>
          </p:nvSpPr>
          <p:spPr>
            <a:xfrm>
              <a:off x="3059280" y="5024520"/>
              <a:ext cx="0" cy="27612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headEnd len="sm" type="arrow" w="sm"/>
              <a:tailEnd len="sm" type="arrow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  <p:sp>
          <p:nvSpPr>
            <p:cNvPr id="118" name="Line 17"/>
            <p:cNvSpPr/>
            <p:nvPr/>
          </p:nvSpPr>
          <p:spPr>
            <a:xfrm>
              <a:off x="4095720" y="6524640"/>
              <a:ext cx="698400" cy="0"/>
            </a:xfrm>
            <a:prstGeom prst="line">
              <a:avLst/>
            </a:prstGeom>
            <a:ln w="31680">
              <a:solidFill>
                <a:srgbClr val="000000"/>
              </a:solidFill>
              <a:miter/>
              <a:headEnd len="med" type="arrow" w="med"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Franklin Gothic Book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20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A09F7B63-65BA-47ED-B50E-615F4BCA9C68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21" name="Rectangle 3"/>
          <p:cNvSpPr/>
          <p:nvPr/>
        </p:nvSpPr>
        <p:spPr>
          <a:xfrm>
            <a:off x="969840" y="1632960"/>
            <a:ext cx="770580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Абсолютно эластичный спрос: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 E</a:t>
            </a:r>
            <a:r>
              <a:rPr b="1" lang="ru-RU" sz="2800" spc="-1" strike="noStrike">
                <a:solidFill>
                  <a:srgbClr val="000000"/>
                </a:solidFill>
                <a:latin typeface="Times New Roman"/>
              </a:rPr>
              <a:t> = </a:t>
            </a:r>
            <a:r>
              <a:rPr b="1" lang="en-US" sz="2800" spc="-1" strike="noStrike">
                <a:solidFill>
                  <a:srgbClr val="000000"/>
                </a:solidFill>
                <a:latin typeface="Symbol"/>
                <a:ea typeface="Symbol"/>
              </a:rPr>
              <a:t>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когда незначительное изменение цены повышает (или понижает) объем спроса на неограниченную величину.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22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23" name="Рисунок 1" descr=""/>
          <p:cNvPicPr/>
          <p:nvPr/>
        </p:nvPicPr>
        <p:blipFill>
          <a:blip r:embed="rId1"/>
          <a:stretch/>
        </p:blipFill>
        <p:spPr>
          <a:xfrm>
            <a:off x="2627280" y="3716280"/>
            <a:ext cx="4786200" cy="227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11280" y="0"/>
            <a:ext cx="8532720" cy="129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4400" spc="-1" strike="noStrike">
                <a:solidFill>
                  <a:srgbClr val="4e3b30"/>
                </a:solidFill>
                <a:latin typeface="Franklin Gothic Book"/>
              </a:rPr>
              <a:t>Эластичность линейного спроса зависит от цены</a:t>
            </a:r>
            <a:endParaRPr b="0" lang="en-US" sz="4400" spc="-1" strike="noStrike">
              <a:solidFill>
                <a:srgbClr val="4e3b30"/>
              </a:solidFill>
              <a:latin typeface="Franklin Gothic Book"/>
            </a:endParaRPr>
          </a:p>
        </p:txBody>
      </p:sp>
      <p:pic>
        <p:nvPicPr>
          <p:cNvPr id="125" name="Рисунок 3" descr=""/>
          <p:cNvPicPr/>
          <p:nvPr/>
        </p:nvPicPr>
        <p:blipFill>
          <a:blip r:embed="rId1"/>
          <a:srcRect l="0" t="35422" r="-6645" b="0"/>
          <a:stretch/>
        </p:blipFill>
        <p:spPr>
          <a:xfrm>
            <a:off x="4986360" y="4486320"/>
            <a:ext cx="3363840" cy="1206360"/>
          </a:xfrm>
          <a:prstGeom prst="rect">
            <a:avLst/>
          </a:prstGeom>
          <a:ln w="0">
            <a:noFill/>
          </a:ln>
        </p:spPr>
      </p:pic>
      <p:pic>
        <p:nvPicPr>
          <p:cNvPr id="126" name="Рисунок 4" descr=""/>
          <p:cNvPicPr/>
          <p:nvPr/>
        </p:nvPicPr>
        <p:blipFill>
          <a:blip r:embed="rId2"/>
          <a:stretch/>
        </p:blipFill>
        <p:spPr>
          <a:xfrm>
            <a:off x="539640" y="1378080"/>
            <a:ext cx="4465800" cy="5479920"/>
          </a:xfrm>
          <a:prstGeom prst="rect">
            <a:avLst/>
          </a:prstGeom>
          <a:ln w="0">
            <a:noFill/>
          </a:ln>
        </p:spPr>
      </p:pic>
      <p:pic>
        <p:nvPicPr>
          <p:cNvPr id="127" name="Рисунок 1" descr=""/>
          <p:cNvPicPr/>
          <p:nvPr/>
        </p:nvPicPr>
        <p:blipFill>
          <a:blip r:embed="rId3"/>
          <a:stretch/>
        </p:blipFill>
        <p:spPr>
          <a:xfrm>
            <a:off x="5005440" y="1371600"/>
            <a:ext cx="4056120" cy="315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graphicFrame>
        <p:nvGraphicFramePr>
          <p:cNvPr id="129" name=""/>
          <p:cNvGraphicFramePr/>
          <p:nvPr/>
        </p:nvGraphicFramePr>
        <p:xfrm>
          <a:off x="949320" y="2489040"/>
          <a:ext cx="7489800" cy="2868840"/>
        </p:xfrm>
        <a:graphic>
          <a:graphicData uri="http://schemas.openxmlformats.org/drawingml/2006/table">
            <a:tbl>
              <a:tblPr/>
              <a:tblGrid>
                <a:gridCol w="2495520"/>
                <a:gridCol w="2497320"/>
                <a:gridCol w="2496960"/>
              </a:tblGrid>
              <a:tr h="680400">
                <a:tc rowSpan="2"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ru-RU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Изменение цены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ru-RU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Спрос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6832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ru-RU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Неэластичный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ru-RU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Эластичный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ru-RU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Увеличивается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TR (</a:t>
                      </a:r>
                      <a:r>
                        <a:rPr b="0" lang="ru-RU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выручка) растет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TR </a:t>
                      </a:r>
                      <a:r>
                        <a:rPr b="0" lang="ru-RU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падает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7968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ru-RU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Сокращается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TR </a:t>
                      </a:r>
                      <a:r>
                        <a:rPr b="0" lang="ru-RU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падает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TR </a:t>
                      </a:r>
                      <a:r>
                        <a:rPr b="0" lang="ru-RU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растет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Franklin Gothic Book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0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86B1B7B0-868A-44AC-A33F-78F2595F8243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31" name="Rectangle 3"/>
          <p:cNvSpPr/>
          <p:nvPr/>
        </p:nvSpPr>
        <p:spPr>
          <a:xfrm>
            <a:off x="755640" y="1772280"/>
            <a:ext cx="7705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Практическое значение ценовой эластичности спроса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32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33" name="Прямоугольник 6"/>
          <p:cNvSpPr/>
          <p:nvPr/>
        </p:nvSpPr>
        <p:spPr>
          <a:xfrm>
            <a:off x="654120" y="5918040"/>
            <a:ext cx="84978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1800" spc="-1" strike="noStrike">
                <a:solidFill>
                  <a:srgbClr val="7030a0"/>
                </a:solidFill>
                <a:latin typeface="Franklin Gothic Book"/>
              </a:rPr>
              <a:t>Товары Гиффена (эффект Гиффена, парадокс Гиффена) и эффект Веблена (эффект престижного спроса)  -????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35" name="Номер слайда 5"/>
          <p:cNvSpPr/>
          <p:nvPr/>
        </p:nvSpPr>
        <p:spPr>
          <a:xfrm>
            <a:off x="395280" y="6369120"/>
            <a:ext cx="58752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1598B195-4BCF-4FA8-8207-ADA02D82753D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36" name="Rectangle 3"/>
          <p:cNvSpPr/>
          <p:nvPr/>
        </p:nvSpPr>
        <p:spPr>
          <a:xfrm>
            <a:off x="900000" y="873000"/>
            <a:ext cx="7705800" cy="13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3200" spc="-1" strike="noStrike">
                <a:solidFill>
                  <a:srgbClr val="000000"/>
                </a:solidFill>
                <a:latin typeface="Times New Roman"/>
              </a:rPr>
              <a:t>Эластичность спроса по доходу</a:t>
            </a:r>
            <a:endParaRPr b="0" lang="en-US" sz="32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степень количественного изменения спроса при изменении дохода потребителей на 1%. 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37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38" name="Rectangle 5"/>
          <p:cNvSpPr/>
          <p:nvPr/>
        </p:nvSpPr>
        <p:spPr>
          <a:xfrm>
            <a:off x="874800" y="2323800"/>
            <a:ext cx="7705800" cy="30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i="1" lang="ru-RU" sz="2400" spc="-1" strike="noStrike" u="sng">
                <a:solidFill>
                  <a:srgbClr val="000000"/>
                </a:solidFill>
                <a:uFillTx/>
                <a:latin typeface="Times New Roman"/>
              </a:rPr>
              <a:t>Интервалы эластичности спроса по доходу: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1) </a:t>
            </a: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Е &lt; 0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– для товаров низкого качества, т.е. «относительно худших»;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2) </a:t>
            </a: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0 &lt; Е &lt; 1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– нормальные товары, товары первой необходимости;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3) </a:t>
            </a: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Е = 1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– товары второй необходимости или товары длительного пользования;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4) </a:t>
            </a: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Е &gt; 1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– предметы (товары) роскоши.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nodeType="clickEffect" fill="hold">
                      <p:stCondLst>
                        <p:cond delay="0"/>
                      </p:stCondLst>
                      <p:childTnLst>
                        <p:par>
                          <p:cTn id="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with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1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nodeType="clickEffect" fill="hold">
                      <p:stCondLst>
                        <p:cond delay="indefinite"/>
                      </p:stCondLst>
                      <p:childTnLst>
                        <p:par>
                          <p:cTn id="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8" presetSubtype="16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2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40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60FD7B7A-5E44-4854-903E-9863FA6CE90B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1" name="Rectangle 3"/>
          <p:cNvSpPr/>
          <p:nvPr/>
        </p:nvSpPr>
        <p:spPr>
          <a:xfrm>
            <a:off x="1042920" y="1936440"/>
            <a:ext cx="7705800" cy="37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3200" spc="-1" strike="noStrike">
                <a:solidFill>
                  <a:srgbClr val="000000"/>
                </a:solidFill>
                <a:latin typeface="Times New Roman"/>
              </a:rPr>
              <a:t>Практическое значение эластичности спроса по доходу</a:t>
            </a:r>
            <a:endParaRPr b="0" lang="en-US" sz="3200" spc="-1" strike="noStrike">
              <a:solidFill>
                <a:srgbClr val="000000"/>
              </a:solidFill>
              <a:latin typeface="Franklin Gothic Book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Состояние и динамика данного показателя характеризует перспективы отрасли, которая производит рассматриваемый товар, если Е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I</a:t>
            </a: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&gt;</a:t>
            </a: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 0 и доходы растут, то отрасль будет расширяться.</a:t>
            </a:r>
            <a:endParaRPr b="0" lang="en-US" sz="32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2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44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AF00F64A-FBD6-4199-A3E4-F3C1E4AC7829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5" name="Rectangle 3"/>
          <p:cNvSpPr/>
          <p:nvPr/>
        </p:nvSpPr>
        <p:spPr>
          <a:xfrm>
            <a:off x="250920" y="603000"/>
            <a:ext cx="8426520" cy="14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3200" spc="-1" strike="noStrike">
                <a:solidFill>
                  <a:srgbClr val="000000"/>
                </a:solidFill>
                <a:latin typeface="Times New Roman"/>
              </a:rPr>
              <a:t>Перекрестная эластичность спроса</a:t>
            </a:r>
            <a:endParaRPr b="0" lang="en-US" sz="32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характеризует степень изменения спроса на один товар при изменении цены другого товара на 1%.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6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47" name="Рисунок 1" descr=""/>
          <p:cNvPicPr/>
          <p:nvPr/>
        </p:nvPicPr>
        <p:blipFill>
          <a:blip r:embed="rId1"/>
          <a:stretch/>
        </p:blipFill>
        <p:spPr>
          <a:xfrm>
            <a:off x="2370240" y="2021040"/>
            <a:ext cx="4908600" cy="1784160"/>
          </a:xfrm>
          <a:prstGeom prst="rect">
            <a:avLst/>
          </a:prstGeom>
          <a:ln w="0">
            <a:noFill/>
          </a:ln>
        </p:spPr>
      </p:pic>
      <p:sp>
        <p:nvSpPr>
          <p:cNvPr id="148" name="Прямоугольник 2"/>
          <p:cNvSpPr/>
          <p:nvPr/>
        </p:nvSpPr>
        <p:spPr>
          <a:xfrm>
            <a:off x="577800" y="4149720"/>
            <a:ext cx="889308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Это точечный коэффициент перекрестной эластичности спроса (используется при небольших изменениях цены товара Y). Коэффициент перекрестной эластичности спроса может быть выражен через производную от функции спроса: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49" name="Рисунок 3" descr=""/>
          <p:cNvPicPr/>
          <p:nvPr/>
        </p:nvPicPr>
        <p:blipFill>
          <a:blip r:embed="rId2"/>
          <a:stretch/>
        </p:blipFill>
        <p:spPr>
          <a:xfrm>
            <a:off x="2936880" y="5430960"/>
            <a:ext cx="4175280" cy="92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nodeType="clickEffect" fill="hold">
                      <p:stCondLst>
                        <p:cond delay="0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51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CBB3F3B9-F87E-416E-8559-E8E574BAFA23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52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53" name="Rectangle 13"/>
          <p:cNvSpPr/>
          <p:nvPr/>
        </p:nvSpPr>
        <p:spPr>
          <a:xfrm>
            <a:off x="539640" y="4921560"/>
            <a:ext cx="858996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1) </a:t>
            </a: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Е &gt; 0,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товары являются</a:t>
            </a: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 взаимозаменяемыми (субституты)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2) </a:t>
            </a: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Е &lt; 0,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товары являются</a:t>
            </a:r>
            <a:r>
              <a:rPr b="0" lang="ru-RU" sz="16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взаимодополняющими (комплементы)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3) </a:t>
            </a: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Е = 0,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товары являются</a:t>
            </a:r>
            <a:r>
              <a:rPr b="0" lang="ru-RU" sz="16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независимыми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друг от друга. 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54" name="Прямоугольник 2"/>
          <p:cNvSpPr/>
          <p:nvPr/>
        </p:nvSpPr>
        <p:spPr>
          <a:xfrm>
            <a:off x="655560" y="382680"/>
            <a:ext cx="847404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Когда рассматриваемые изменения ΔQх и Δ</a:t>
            </a:r>
            <a:r>
              <a:rPr b="0" lang="en-US" sz="1800" spc="-1" strike="noStrike">
                <a:solidFill>
                  <a:srgbClr val="000000"/>
                </a:solidFill>
                <a:latin typeface="Franklin Gothic Book"/>
              </a:rPr>
              <a:t>P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у оказываются значительными,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значения коэффициента эластичности</a:t>
            </a:r>
            <a:r>
              <a:rPr b="0" lang="en-US" sz="18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при использовании начальных и конечных величин спроса и цены на товар Y</a:t>
            </a:r>
            <a:r>
              <a:rPr b="0" lang="en-US" sz="18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могут существенно расходиться. Тогда</a:t>
            </a:r>
            <a:r>
              <a:rPr b="0" lang="en-US" sz="1800" spc="-1" strike="noStrike">
                <a:solidFill>
                  <a:srgbClr val="000000"/>
                </a:solidFill>
                <a:latin typeface="Franklin Gothic Book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лучше определять дуговую эластичность: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55" name="Рисунок 3" descr=""/>
          <p:cNvPicPr/>
          <p:nvPr/>
        </p:nvPicPr>
        <p:blipFill>
          <a:blip r:embed="rId1"/>
          <a:stretch/>
        </p:blipFill>
        <p:spPr>
          <a:xfrm>
            <a:off x="2700360" y="1563840"/>
            <a:ext cx="4619520" cy="315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" dur="indefinite" restart="never" nodeType="tmRoot">
          <p:childTnLst>
            <p:seq>
              <p:cTn id="33" dur="indefinite" nodeType="mainSeq">
                <p:childTnLst>
                  <p:par>
                    <p:cTn id="34" nodeType="clickEffect" fill="hold">
                      <p:stCondLst>
                        <p:cond delay="indefinite"/>
                      </p:stCondLst>
                      <p:childTnLst>
                        <p:par>
                          <p:cTn id="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clickEffect" fill="hold" presetClass="entr" presetID="10" repeatCount="1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57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C4B896E9-4C10-496A-A7F4-A45A9EE634BF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58" name="Rectangle 3"/>
          <p:cNvSpPr/>
          <p:nvPr/>
        </p:nvSpPr>
        <p:spPr>
          <a:xfrm>
            <a:off x="1042920" y="1555920"/>
            <a:ext cx="7705800" cy="49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3200" spc="-1" strike="noStrike">
                <a:solidFill>
                  <a:srgbClr val="000000"/>
                </a:solidFill>
                <a:latin typeface="Times New Roman"/>
              </a:rPr>
              <a:t>Практическое значение перекрестной эластичности спроса</a:t>
            </a:r>
            <a:endParaRPr b="0" lang="en-US" sz="32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1) может быть использована с определенными оговорками для определения границы отрасли;</a:t>
            </a:r>
            <a:endParaRPr b="0" lang="en-US" sz="32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Times New Roman"/>
              </a:rPr>
              <a:t>2) позволяет предсказывать изменение спроса на данный товар в зависимости от того, что происходит на рынках взаимозаменяемых и взаимодополняющих товаров.</a:t>
            </a:r>
            <a:endParaRPr b="0" lang="en-US" sz="32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59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1. Эластичность спроса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61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7589F99E-612B-4FAD-B57A-D80320C39345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2" name="Rectangle 3"/>
          <p:cNvSpPr/>
          <p:nvPr/>
        </p:nvSpPr>
        <p:spPr>
          <a:xfrm>
            <a:off x="539640" y="1699200"/>
            <a:ext cx="8604360" cy="442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3200" spc="-1" strike="noStrike">
                <a:solidFill>
                  <a:srgbClr val="000000"/>
                </a:solidFill>
                <a:latin typeface="Times New Roman"/>
              </a:rPr>
              <a:t>Общие факторы эластичности спроса</a:t>
            </a:r>
            <a:endParaRPr b="0" lang="en-US" sz="32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наличие и доступность товаров-заменителей;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временной фактор;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доля расходов на товар в потребительском бюджете;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степень насыщения рынка рассматриваемым товаром;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разнообразие возможностей использования данного товара;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Times New Roman"/>
              </a:rPr>
              <a:t>важность товара для потребителя.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3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Times New Roman"/>
              </a:rPr>
              <a:t>2. Эластичность предложения</a:t>
            </a:r>
            <a:endParaRPr b="0" lang="en-US" sz="18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65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D8895198-BFFF-4FCF-B260-D76FD017B46E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7" name="Rectangle 4"/>
          <p:cNvSpPr/>
          <p:nvPr/>
        </p:nvSpPr>
        <p:spPr>
          <a:xfrm>
            <a:off x="971640" y="1663560"/>
            <a:ext cx="777708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Коэффициент ценовой эластичности предложения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 показывает</a:t>
            </a: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степень количественного изменения предложения при изменении цены на 1%. 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8" name="Rectangle 5"/>
          <p:cNvSpPr/>
          <p:nvPr/>
        </p:nvSpPr>
        <p:spPr>
          <a:xfrm>
            <a:off x="539640" y="3094200"/>
            <a:ext cx="8604360" cy="33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ru-RU" sz="2400" spc="-1" strike="noStrike">
                <a:solidFill>
                  <a:srgbClr val="000000"/>
                </a:solidFill>
                <a:latin typeface="Times New Roman"/>
              </a:rPr>
              <a:t>Общие факторы эластичности предложения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период времени;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специфика производства (минимальный объем затрат на расширение производства); 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возможности хранения изготовленной продукции;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максимально возможный объем производства при полной загрузке мощностей;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виды предлагаемых к реализации товаров и услуг;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Times New Roman"/>
              </a:rPr>
              <a:t>конъюнктура рынка.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69" name="Picture 10" descr="Picture background"/>
          <p:cNvPicPr/>
          <p:nvPr/>
        </p:nvPicPr>
        <p:blipFill>
          <a:blip r:embed="rId1"/>
          <a:stretch/>
        </p:blipFill>
        <p:spPr>
          <a:xfrm>
            <a:off x="785880" y="857160"/>
            <a:ext cx="3686040" cy="819360"/>
          </a:xfrm>
          <a:prstGeom prst="rect">
            <a:avLst/>
          </a:prstGeom>
          <a:ln w="0">
            <a:noFill/>
          </a:ln>
        </p:spPr>
      </p:pic>
      <p:pic>
        <p:nvPicPr>
          <p:cNvPr id="170" name="Picture 12" descr="Picture background"/>
          <p:cNvPicPr/>
          <p:nvPr/>
        </p:nvPicPr>
        <p:blipFill>
          <a:blip r:embed="rId2"/>
          <a:srcRect l="31255" t="59728" r="15622" b="16664"/>
          <a:stretch/>
        </p:blipFill>
        <p:spPr>
          <a:xfrm>
            <a:off x="5143680" y="571680"/>
            <a:ext cx="3643200" cy="121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nodeType="clickEffect" fill="hold">
                      <p:stCondLst>
                        <p:cond delay="0"/>
                      </p:stCondLst>
                      <p:childTnLst>
                        <p:par>
                          <p:cTn id="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after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nodeType="clickEffect" fill="hold">
                      <p:stCondLst>
                        <p:cond delay="indefinite"/>
                      </p:stCondLst>
                      <p:childTnLst>
                        <p:par>
                          <p:cTn id="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2195280" y="2708280"/>
            <a:ext cx="5940360" cy="105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4400" spc="-1" strike="noStrike">
                <a:solidFill>
                  <a:srgbClr val="4e3b30"/>
                </a:solidFill>
                <a:latin typeface="Franklin Gothic Book"/>
              </a:rPr>
              <a:t>Практические задания</a:t>
            </a:r>
            <a:endParaRPr b="0" lang="en-US" sz="4400" spc="-1" strike="noStrike">
              <a:solidFill>
                <a:srgbClr val="4e3b3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Номер слайда 5"/>
          <p:cNvSpPr/>
          <p:nvPr/>
        </p:nvSpPr>
        <p:spPr>
          <a:xfrm>
            <a:off x="8424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CEB45A96-0C3E-462F-A02B-3927DF02A8B6}" type="slidenum">
              <a:rPr b="0" lang="ru-RU" sz="1000" spc="-1" strike="noStrike">
                <a:solidFill>
                  <a:srgbClr val="4e3b30"/>
                </a:solidFill>
                <a:latin typeface="Franklin Gothic Book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3" name="Rectangle 3"/>
          <p:cNvSpPr/>
          <p:nvPr/>
        </p:nvSpPr>
        <p:spPr>
          <a:xfrm>
            <a:off x="1332000" y="336240"/>
            <a:ext cx="770580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600" spc="-1" strike="noStrike">
                <a:solidFill>
                  <a:srgbClr val="000000"/>
                </a:solidFill>
                <a:latin typeface="Times New Roman"/>
              </a:rPr>
              <a:t>1.</a:t>
            </a:r>
            <a:endParaRPr b="0" lang="en-US" sz="2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600" spc="-1" strike="noStrike">
                <a:solidFill>
                  <a:srgbClr val="000000"/>
                </a:solidFill>
                <a:latin typeface="Times New Roman"/>
              </a:rPr>
              <a:t>Каким образом следующие изменения цены повлияют на общую выручку предприятия: увеличится ли она, сократится или останется неизменной?</a:t>
            </a:r>
            <a:endParaRPr b="0" lang="en-US" sz="2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600" spc="-1" strike="noStrike">
                <a:solidFill>
                  <a:srgbClr val="000000"/>
                </a:solidFill>
                <a:latin typeface="Times New Roman"/>
              </a:rPr>
              <a:t>а) Цена падает при неэластичном спросе.</a:t>
            </a:r>
            <a:endParaRPr b="0" lang="en-US" sz="2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600" spc="-1" strike="noStrike">
                <a:solidFill>
                  <a:srgbClr val="000000"/>
                </a:solidFill>
                <a:latin typeface="Times New Roman"/>
              </a:rPr>
              <a:t>б) Цена растет при эластичном спросе.</a:t>
            </a:r>
            <a:endParaRPr b="0" lang="en-US" sz="2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600" spc="-1" strike="noStrike">
                <a:solidFill>
                  <a:srgbClr val="000000"/>
                </a:solidFill>
                <a:latin typeface="Times New Roman"/>
              </a:rPr>
              <a:t>в) Цена растет, предложение эластично.</a:t>
            </a:r>
            <a:endParaRPr b="0" lang="en-US" sz="2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600" spc="-1" strike="noStrike">
                <a:solidFill>
                  <a:srgbClr val="000000"/>
                </a:solidFill>
                <a:latin typeface="Times New Roman"/>
              </a:rPr>
              <a:t>г) Цена растет, предложение неэластично.</a:t>
            </a:r>
            <a:endParaRPr b="0" lang="en-US" sz="2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600" spc="-1" strike="noStrike">
                <a:solidFill>
                  <a:srgbClr val="000000"/>
                </a:solidFill>
                <a:latin typeface="Times New Roman"/>
              </a:rPr>
              <a:t>д) Цена растет при неэластичном спросе.</a:t>
            </a:r>
            <a:endParaRPr b="0" lang="en-US" sz="2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600" spc="-1" strike="noStrike">
                <a:solidFill>
                  <a:srgbClr val="000000"/>
                </a:solidFill>
                <a:latin typeface="Times New Roman"/>
              </a:rPr>
              <a:t>е) Цена падает при эластичном спросе.</a:t>
            </a:r>
            <a:endParaRPr b="0" lang="en-US" sz="2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2600" spc="-1" strike="noStrike">
                <a:solidFill>
                  <a:srgbClr val="000000"/>
                </a:solidFill>
                <a:latin typeface="Times New Roman"/>
              </a:rPr>
              <a:t>ж) Цена падает, у спроса единичная эластичность.</a:t>
            </a:r>
            <a:endParaRPr b="0" lang="en-US" sz="26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4" name="Rectangle 4"/>
          <p:cNvSpPr/>
          <p:nvPr/>
        </p:nvSpPr>
        <p:spPr>
          <a:xfrm>
            <a:off x="1503360" y="5034240"/>
            <a:ext cx="1807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br>
              <a:rPr sz="900"/>
            </a:br>
            <a:endParaRPr b="0" lang="en-US" sz="9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105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4400" spc="-1" strike="noStrike">
                <a:solidFill>
                  <a:srgbClr val="4e3b30"/>
                </a:solidFill>
                <a:latin typeface="Franklin Gothic Book"/>
              </a:rPr>
              <a:t>Решите задачи</a:t>
            </a:r>
            <a:endParaRPr b="0" lang="en-US" sz="44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76" name="Прямоугольник 3"/>
          <p:cNvSpPr/>
          <p:nvPr/>
        </p:nvSpPr>
        <p:spPr>
          <a:xfrm>
            <a:off x="611280" y="1062000"/>
            <a:ext cx="8532720" cy="42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1. При цене продукта Р1 = 50 денежных единиц объем его предложения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составил 100 единиц. При снижении цены до Р2 = 40 денежных единиц объем предложения сократился до 80 единиц. Рассчитайте коэффициент эластичности предложения.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2. Для функции спроса QD=200−4P определить: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а) ценовую эластичность спроса при цене P=10;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б) ценовую эластичность спроса при росте цены с 10 до 12;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в) при какой цене эластичность данной функции спроса равна –4.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3. Опытным путем установлены функции спроса q(p) и предложения q, S – предложение товара: p – цена товара. Найти: а) равновесную цену, т.е. цену, при которой спрос и предложение уравновешиваются; б) эластичность спроса и предложения для этой цены; в) изменение спроса  при увеличении цены на 5 % от равновесной.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77" name="Рисунок 4" descr=""/>
          <p:cNvPicPr/>
          <p:nvPr/>
        </p:nvPicPr>
        <p:blipFill>
          <a:blip r:embed="rId1"/>
          <a:stretch/>
        </p:blipFill>
        <p:spPr>
          <a:xfrm>
            <a:off x="611280" y="5318280"/>
            <a:ext cx="3722760" cy="71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3203280" y="0"/>
            <a:ext cx="5940360" cy="105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4400" spc="-1" strike="noStrike">
                <a:solidFill>
                  <a:srgbClr val="4e3b30"/>
                </a:solidFill>
                <a:latin typeface="Franklin Gothic Book"/>
              </a:rPr>
              <a:t>Решите задачи</a:t>
            </a:r>
            <a:endParaRPr b="0" lang="en-US" sz="4400" spc="-1" strike="noStrike">
              <a:solidFill>
                <a:srgbClr val="4e3b30"/>
              </a:solidFill>
              <a:latin typeface="Franklin Gothic Book"/>
            </a:endParaRPr>
          </a:p>
        </p:txBody>
      </p:sp>
      <p:sp>
        <p:nvSpPr>
          <p:cNvPr id="179" name="Прямоугольник 3"/>
          <p:cNvSpPr/>
          <p:nvPr/>
        </p:nvSpPr>
        <p:spPr>
          <a:xfrm>
            <a:off x="611280" y="1125360"/>
            <a:ext cx="8532720" cy="25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4. Известна функция спроса QD = 200 – 4P. 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Найти: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При какой цене эластичность равна ( – 4)?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При какой цене эластичность равна ( – 1)?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Какова максимальная выручка на этом рынке?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Franklin Gothic Book"/>
              </a:rPr>
              <a:t>5. При цене 10 тыс. руб. за единицу величина спроса на товар равна нулю. При величине спроса 10 ед. ценовая эластичность спроса на товар равна (-1). Найти уравнение линейной функции спроса.</a:t>
            </a: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6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80" name="Рисунок 1" descr=""/>
          <p:cNvPicPr/>
          <p:nvPr/>
        </p:nvPicPr>
        <p:blipFill>
          <a:blip r:embed="rId1"/>
          <a:stretch/>
        </p:blipFill>
        <p:spPr>
          <a:xfrm>
            <a:off x="611280" y="3689280"/>
            <a:ext cx="6481800" cy="3186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39280" y="0"/>
            <a:ext cx="8604360" cy="11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89000"/>
              </a:lnSpc>
              <a:buNone/>
              <a:tabLst>
                <a:tab algn="l" pos="0"/>
                <a:tab algn="l" pos="685800"/>
                <a:tab algn="l" pos="1371600"/>
                <a:tab algn="l" pos="2057400"/>
                <a:tab algn="l" pos="2743200"/>
                <a:tab algn="l" pos="3429000"/>
                <a:tab algn="l" pos="4114800"/>
                <a:tab algn="l" pos="4800600"/>
                <a:tab algn="l" pos="5486400"/>
                <a:tab algn="l" pos="6172200"/>
                <a:tab algn="l" pos="6858000"/>
                <a:tab algn="l" pos="7543800"/>
                <a:tab algn="l" pos="8229600"/>
                <a:tab algn="l" pos="8915400"/>
                <a:tab algn="l" pos="9601200"/>
                <a:tab algn="l" pos="10287000"/>
              </a:tabLst>
            </a:pPr>
            <a:r>
              <a:rPr b="0" lang="ru-RU" sz="4400" spc="-1" strike="noStrike">
                <a:solidFill>
                  <a:srgbClr val="4e3b30"/>
                </a:solidFill>
                <a:latin typeface="Franklin Gothic Book"/>
              </a:rPr>
              <a:t>Дополнительные материалы</a:t>
            </a:r>
            <a:endParaRPr b="0" lang="en-US" sz="4400" spc="-1" strike="noStrike">
              <a:solidFill>
                <a:srgbClr val="4e3b30"/>
              </a:solidFill>
              <a:latin typeface="Franklin Gothic Book"/>
            </a:endParaRPr>
          </a:p>
        </p:txBody>
      </p:sp>
      <p:pic>
        <p:nvPicPr>
          <p:cNvPr id="182" name="Объект 3" descr=""/>
          <p:cNvPicPr/>
          <p:nvPr/>
        </p:nvPicPr>
        <p:blipFill>
          <a:blip r:embed="rId1"/>
          <a:stretch/>
        </p:blipFill>
        <p:spPr>
          <a:xfrm>
            <a:off x="768240" y="719280"/>
            <a:ext cx="7807320" cy="1515960"/>
          </a:xfrm>
          <a:prstGeom prst="rect">
            <a:avLst/>
          </a:prstGeom>
          <a:ln w="0">
            <a:noFill/>
          </a:ln>
        </p:spPr>
      </p:pic>
      <p:sp>
        <p:nvSpPr>
          <p:cNvPr id="183" name="Прямоугольник 4"/>
          <p:cNvSpPr/>
          <p:nvPr/>
        </p:nvSpPr>
        <p:spPr>
          <a:xfrm>
            <a:off x="684360" y="2492280"/>
            <a:ext cx="8604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Franklin Gothic Book"/>
              </a:rPr>
              <a:t>https://books.econ.msu.ru/Introduction-to-Economics/chap07/7.4/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84" name="Прямоугольник 1"/>
          <p:cNvSpPr/>
          <p:nvPr/>
        </p:nvSpPr>
        <p:spPr>
          <a:xfrm>
            <a:off x="684360" y="2954160"/>
            <a:ext cx="8459640" cy="22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Спрос и его факторы 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https://resh.edu.ru/subject/lesson/5414/start/161236/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Предложение и его факторы https://resh.edu.ru/subject/lesson/5416/start/170679/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Рыночное равновесие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https://resh.edu.ru/subject/lesson/5417/start/170731/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Franklin Gothic Book"/>
              </a:rPr>
              <a:t>Нарушение рыночного равновесия https://resh.edu.ru/subject/lesson/5980/start/170763/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2004-06-16T06:47:00Z</dcterms:created>
  <dc:creator>JR</dc:creator>
  <dc:description/>
  <dc:language>en-US</dc:language>
  <cp:lastModifiedBy>Марина Леденцова</cp:lastModifiedBy>
  <dcterms:modified xsi:type="dcterms:W3CDTF">2025-09-06T04:07:59Z</dcterms:modified>
  <cp:revision>111</cp:revision>
  <dc:subject/>
  <dc:title>Слайд 1</dc:title>
</cp:coreProperties>
</file>