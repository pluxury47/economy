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2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_rels/presentation.xml.rels" ContentType="application/vnd.openxmlformats-package.relationships+xml"/>
  <Override PartName="/ppt/media/image13.png" ContentType="image/png"/>
  <Override PartName="/ppt/media/image4.png" ContentType="image/png"/>
  <Override PartName="/ppt/media/image9.png" ContentType="image/png"/>
  <Override PartName="/ppt/media/image2.jpeg" ContentType="image/jpeg"/>
  <Override PartName="/ppt/media/image14.png" ContentType="image/png"/>
  <Override PartName="/ppt/media/image5.png" ContentType="image/png"/>
  <Override PartName="/ppt/media/image15.png" ContentType="image/png"/>
  <Override PartName="/ppt/media/image6.png" ContentType="image/png"/>
  <Override PartName="/ppt/media/image10.png" ContentType="image/png"/>
  <Override PartName="/ppt/media/image1.png" ContentType="image/png"/>
  <Override PartName="/ppt/media/image16.png" ContentType="image/png"/>
  <Override PartName="/ppt/media/image7.png" ContentType="image/png"/>
  <Override PartName="/ppt/media/image11.png" ContentType="image/png"/>
  <Override PartName="/ppt/media/image17.png" ContentType="image/png"/>
  <Override PartName="/ppt/media/image8.png" ContentType="image/png"/>
  <Override PartName="/ppt/media/image12.png" ContentType="image/png"/>
  <Override PartName="/ppt/media/image3.png" ContentType="image/png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3" r:id="rId5"/>
    <p:sldMasterId id="2147483654" r:id="rId6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94A7B61-D98B-4E3A-B471-97402134D62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8007C11-BEB8-42B4-84CC-07A5CBDAD02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f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028880" y="685800"/>
            <a:ext cx="7200720" cy="1486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lnSpc>
                <a:spcPct val="89000"/>
              </a:lnSpc>
              <a:buNone/>
              <a:tabLst>
                <a:tab algn="l" pos="0"/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0" lang="en-US" sz="4400" spc="-1" strike="noStrike">
                <a:solidFill>
                  <a:srgbClr val="191b0e"/>
                </a:solidFill>
                <a:latin typeface="Franklin Gothic Book"/>
              </a:rPr>
              <a:t>Click to edit the title text format</a:t>
            </a:r>
            <a:endParaRPr b="0" lang="en-US" sz="4400" spc="-1" strike="noStrike">
              <a:solidFill>
                <a:srgbClr val="191b0e"/>
              </a:solidFill>
              <a:latin typeface="Franklin Gothic Book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1028880" y="2286000"/>
            <a:ext cx="7200720" cy="3581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82680" indent="-38268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  <a:tabLst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0" lang="en-US" sz="2000" spc="-1" strike="noStrike">
                <a:solidFill>
                  <a:srgbClr val="191b0e"/>
                </a:solidFill>
                <a:latin typeface="Franklin Gothic Book"/>
              </a:rPr>
              <a:t>Click to edit the outline text format</a:t>
            </a:r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  <a:p>
            <a:pPr lvl="1" marL="914400" indent="-38268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–"/>
              <a:tabLst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0" lang="en-US" sz="2000" spc="-1" strike="noStrike">
                <a:solidFill>
                  <a:srgbClr val="191b0e"/>
                </a:solidFill>
                <a:latin typeface="Franklin Gothic Book"/>
              </a:rPr>
              <a:t>Second Outline Level</a:t>
            </a:r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  <a:p>
            <a:pPr lvl="2" marL="1371600" indent="-38268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  <a:tabLst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0" lang="en-US" sz="2000" spc="-1" strike="noStrike">
                <a:solidFill>
                  <a:srgbClr val="191b0e"/>
                </a:solidFill>
                <a:latin typeface="Franklin Gothic Book"/>
              </a:rPr>
              <a:t>Third Outline Level</a:t>
            </a:r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  <a:p>
            <a:pPr lvl="3" marL="1828800" indent="-38268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–"/>
              <a:tabLst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0" lang="en-US" sz="2000" spc="-1" strike="noStrike">
                <a:solidFill>
                  <a:srgbClr val="191b0e"/>
                </a:solidFill>
                <a:latin typeface="Franklin Gothic Book"/>
              </a:rPr>
              <a:t>Fourth Outline Level</a:t>
            </a:r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  <a:p>
            <a:pPr lvl="4" marL="2286000" indent="-38268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  <a:tabLst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0" lang="en-US" sz="2000" spc="-1" strike="noStrike">
                <a:solidFill>
                  <a:srgbClr val="191b0e"/>
                </a:solidFill>
                <a:latin typeface="Franklin Gothic Book"/>
              </a:rPr>
              <a:t>Fifth Outline Level</a:t>
            </a:r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  <a:p>
            <a:pPr lvl="5" marL="2286000" indent="-38268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000000"/>
              </a:buClr>
              <a:buFont typeface="Franklin Gothic Book"/>
              <a:buChar char="■"/>
              <a:tabLst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0" lang="en-US" sz="2000" spc="-1" strike="noStrike">
                <a:solidFill>
                  <a:srgbClr val="191b0e"/>
                </a:solidFill>
                <a:latin typeface="Franklin Gothic Book"/>
              </a:rPr>
              <a:t>Sixth Outline Level</a:t>
            </a:r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  <a:p>
            <a:pPr lvl="6" marL="2286000" indent="-38268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000000"/>
              </a:buClr>
              <a:buFont typeface="Franklin Gothic Book"/>
              <a:buChar char="■"/>
              <a:tabLst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0" lang="en-US" sz="2000" spc="-1" strike="noStrike">
                <a:solidFill>
                  <a:srgbClr val="191b0e"/>
                </a:solidFill>
                <a:latin typeface="Franklin Gothic Book"/>
              </a:rPr>
              <a:t>Seventh Outline Level</a:t>
            </a:r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1042560" y="6453360"/>
            <a:ext cx="903240" cy="404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  <a:defRPr b="0" lang="ru-RU" sz="1000" spc="-1" strike="noStrike">
                <a:solidFill>
                  <a:srgbClr val="191b0e"/>
                </a:solidFill>
                <a:latin typeface="Times New Roman"/>
              </a:defRPr>
            </a:lvl1pPr>
          </a:lstStyle>
          <a:p>
            <a:pPr indent="0"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ru-RU" sz="1000" spc="-1" strike="noStrike">
                <a:solidFill>
                  <a:srgbClr val="191b0e"/>
                </a:solidFill>
                <a:latin typeface="Times New Roman"/>
              </a:rPr>
              <a:t>&lt;date/time&gt;</a:t>
            </a:r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2170080" y="6453360"/>
            <a:ext cx="4710240" cy="404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104240" y="6453360"/>
            <a:ext cx="1196640" cy="404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 algn="r"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  <a:defRPr b="0" lang="ru-RU" sz="1000" spc="-1" strike="noStrike">
                <a:solidFill>
                  <a:srgbClr val="191b0e"/>
                </a:solidFill>
                <a:latin typeface="Times New Roman"/>
              </a:defRPr>
            </a:lvl1pPr>
          </a:lstStyle>
          <a:p>
            <a:pPr indent="0" algn="r"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fld id="{4295EAF5-F341-4C63-906B-3FC18B3ECE83}" type="slidenum">
              <a:rPr b="0" lang="ru-RU" sz="1000" spc="-1" strike="noStrike">
                <a:solidFill>
                  <a:srgbClr val="191b0e"/>
                </a:solidFill>
                <a:latin typeface="Times New Roman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Rectangle 8"/>
          <p:cNvSpPr/>
          <p:nvPr/>
        </p:nvSpPr>
        <p:spPr>
          <a:xfrm>
            <a:off x="358920" y="0"/>
            <a:ext cx="171360" cy="6858000"/>
          </a:xfrm>
          <a:prstGeom prst="rect">
            <a:avLst/>
          </a:prstGeom>
          <a:solidFill>
            <a:srgbClr val="191b0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6" name="Rectangle 7"/>
          <p:cNvSpPr/>
          <p:nvPr/>
        </p:nvSpPr>
        <p:spPr>
          <a:xfrm>
            <a:off x="358920" y="0"/>
            <a:ext cx="171360" cy="6858000"/>
          </a:xfrm>
          <a:prstGeom prst="rect">
            <a:avLst/>
          </a:prstGeom>
          <a:solidFill>
            <a:srgbClr val="191b0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f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565200" y="744120"/>
            <a:ext cx="8005680" cy="5350320"/>
            <a:chOff x="565200" y="744120"/>
            <a:chExt cx="8005680" cy="5350320"/>
          </a:xfrm>
        </p:grpSpPr>
        <p:sp>
          <p:nvSpPr>
            <p:cNvPr id="8" name="Freeform 6"/>
            <p:cNvSpPr/>
            <p:nvPr/>
          </p:nvSpPr>
          <p:spPr>
            <a:xfrm>
              <a:off x="6114600" y="1685520"/>
              <a:ext cx="2456280" cy="4408920"/>
            </a:xfrm>
            <a:custGeom>
              <a:avLst/>
              <a:gdLst/>
              <a:ah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357"/>
                  </a:lnTo>
                  <a:lnTo>
                    <a:pt x="8761" y="935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rgbClr val="191b0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Franklin Gothic Book"/>
              </a:endParaRPr>
            </a:p>
          </p:txBody>
        </p:sp>
        <p:sp>
          <p:nvSpPr>
            <p:cNvPr id="9" name="Freeform 6"/>
            <p:cNvSpPr/>
            <p:nvPr/>
          </p:nvSpPr>
          <p:spPr>
            <a:xfrm flipH="1" flipV="1">
              <a:off x="564840" y="743760"/>
              <a:ext cx="2456640" cy="4408920"/>
            </a:xfrm>
            <a:custGeom>
              <a:avLst/>
              <a:gdLst/>
              <a:ahLst/>
              <a:rect l="l" t="t" r="r" b="b"/>
              <a:pathLst>
                <a:path w="10001" h="10000">
                  <a:moveTo>
                    <a:pt x="8762" y="0"/>
                  </a:moveTo>
                  <a:lnTo>
                    <a:pt x="10001" y="0"/>
                  </a:lnTo>
                  <a:lnTo>
                    <a:pt x="10001" y="10000"/>
                  </a:lnTo>
                  <a:lnTo>
                    <a:pt x="1" y="10000"/>
                  </a:lnTo>
                  <a:cubicBezTo>
                    <a:pt x="-2" y="9766"/>
                    <a:pt x="4" y="9586"/>
                    <a:pt x="1" y="9352"/>
                  </a:cubicBezTo>
                  <a:lnTo>
                    <a:pt x="8762" y="9346"/>
                  </a:lnTo>
                  <a:lnTo>
                    <a:pt x="8762" y="0"/>
                  </a:lnTo>
                  <a:close/>
                </a:path>
              </a:pathLst>
            </a:custGeom>
            <a:solidFill>
              <a:srgbClr val="191b0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Franklin Gothic Book"/>
              </a:endParaRPr>
            </a:p>
          </p:txBody>
        </p:sp>
      </p:grpSp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1028880" y="685800"/>
            <a:ext cx="7200720" cy="1486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lnSpc>
                <a:spcPct val="89000"/>
              </a:lnSpc>
              <a:buNone/>
              <a:tabLst>
                <a:tab algn="l" pos="0"/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0" lang="en-US" sz="4400" spc="-1" strike="noStrike">
                <a:solidFill>
                  <a:srgbClr val="191b0e"/>
                </a:solidFill>
                <a:latin typeface="Franklin Gothic Book"/>
              </a:rPr>
              <a:t>Click to edit the title text format</a:t>
            </a:r>
            <a:endParaRPr b="0" lang="en-US" sz="4400" spc="-1" strike="noStrike">
              <a:solidFill>
                <a:srgbClr val="191b0e"/>
              </a:solidFill>
              <a:latin typeface="Franklin Gothic Book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1028880" y="2286000"/>
            <a:ext cx="7200720" cy="3581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82680" indent="-38268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  <a:tabLst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0" lang="en-US" sz="2000" spc="-1" strike="noStrike">
                <a:solidFill>
                  <a:srgbClr val="191b0e"/>
                </a:solidFill>
                <a:latin typeface="Franklin Gothic Book"/>
              </a:rPr>
              <a:t>Click to edit the outline text format</a:t>
            </a:r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  <a:p>
            <a:pPr lvl="1" marL="914400" indent="-38268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–"/>
              <a:tabLst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0" lang="en-US" sz="2000" spc="-1" strike="noStrike">
                <a:solidFill>
                  <a:srgbClr val="191b0e"/>
                </a:solidFill>
                <a:latin typeface="Franklin Gothic Book"/>
              </a:rPr>
              <a:t>Second Outline Level</a:t>
            </a:r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  <a:p>
            <a:pPr lvl="2" marL="1371600" indent="-38268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  <a:tabLst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0" lang="en-US" sz="2000" spc="-1" strike="noStrike">
                <a:solidFill>
                  <a:srgbClr val="191b0e"/>
                </a:solidFill>
                <a:latin typeface="Franklin Gothic Book"/>
              </a:rPr>
              <a:t>Third Outline Level</a:t>
            </a:r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  <a:p>
            <a:pPr lvl="3" marL="1828800" indent="-38268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–"/>
              <a:tabLst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0" lang="en-US" sz="2000" spc="-1" strike="noStrike">
                <a:solidFill>
                  <a:srgbClr val="191b0e"/>
                </a:solidFill>
                <a:latin typeface="Franklin Gothic Book"/>
              </a:rPr>
              <a:t>Fourth Outline Level</a:t>
            </a:r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  <a:p>
            <a:pPr lvl="4" marL="2286000" indent="-38268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  <a:tabLst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0" lang="en-US" sz="2000" spc="-1" strike="noStrike">
                <a:solidFill>
                  <a:srgbClr val="191b0e"/>
                </a:solidFill>
                <a:latin typeface="Franklin Gothic Book"/>
              </a:rPr>
              <a:t>Fifth Outline Level</a:t>
            </a:r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  <a:p>
            <a:pPr lvl="5" marL="2286000" indent="-38268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000000"/>
              </a:buClr>
              <a:buFont typeface="Franklin Gothic Book"/>
              <a:buChar char="■"/>
              <a:tabLst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0" lang="en-US" sz="2000" spc="-1" strike="noStrike">
                <a:solidFill>
                  <a:srgbClr val="191b0e"/>
                </a:solidFill>
                <a:latin typeface="Franklin Gothic Book"/>
              </a:rPr>
              <a:t>Sixth Outline Level</a:t>
            </a:r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  <a:p>
            <a:pPr lvl="6" marL="2286000" indent="-38268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000000"/>
              </a:buClr>
              <a:buFont typeface="Franklin Gothic Book"/>
              <a:buChar char="■"/>
              <a:tabLst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0" lang="en-US" sz="2000" spc="-1" strike="noStrike">
                <a:solidFill>
                  <a:srgbClr val="191b0e"/>
                </a:solidFill>
                <a:latin typeface="Franklin Gothic Book"/>
              </a:rPr>
              <a:t>Seventh Outline Level</a:t>
            </a:r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4"/>
          </p:nvPr>
        </p:nvSpPr>
        <p:spPr>
          <a:xfrm>
            <a:off x="564840" y="6453360"/>
            <a:ext cx="1204920" cy="404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  <a:defRPr b="0" lang="ru-RU" sz="1000" spc="-1" strike="noStrike">
                <a:solidFill>
                  <a:srgbClr val="191b0e"/>
                </a:solidFill>
                <a:latin typeface="Times New Roman"/>
              </a:defRPr>
            </a:lvl1pPr>
          </a:lstStyle>
          <a:p>
            <a:pPr indent="0"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ru-RU" sz="1000" spc="-1" strike="noStrike">
                <a:solidFill>
                  <a:srgbClr val="191b0e"/>
                </a:solidFill>
                <a:latin typeface="Times New Roman"/>
              </a:rPr>
              <a:t>&lt;date/time&gt;</a:t>
            </a:r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ftr" idx="5"/>
          </p:nvPr>
        </p:nvSpPr>
        <p:spPr>
          <a:xfrm>
            <a:off x="1938240" y="6453360"/>
            <a:ext cx="5267520" cy="404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6"/>
          </p:nvPr>
        </p:nvSpPr>
        <p:spPr>
          <a:xfrm>
            <a:off x="7372080" y="6453360"/>
            <a:ext cx="1198440" cy="404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 algn="r"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  <a:defRPr b="0" lang="ru-RU" sz="1000" spc="-1" strike="noStrike">
                <a:solidFill>
                  <a:srgbClr val="191b0e"/>
                </a:solidFill>
                <a:latin typeface="Times New Roman"/>
              </a:defRPr>
            </a:lvl1pPr>
          </a:lstStyle>
          <a:p>
            <a:pPr indent="0" algn="r"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fld id="{677D35A6-0B64-47B1-8508-F7E443BB6D63}" type="slidenum">
              <a:rPr b="0" lang="ru-RU" sz="1000" spc="-1" strike="noStrike">
                <a:solidFill>
                  <a:srgbClr val="191b0e"/>
                </a:solidFill>
                <a:latin typeface="Times New Roman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91b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6"/>
          <p:cNvSpPr/>
          <p:nvPr/>
        </p:nvSpPr>
        <p:spPr>
          <a:xfrm>
            <a:off x="6113520" y="1685880"/>
            <a:ext cx="2457360" cy="4408560"/>
          </a:xfrm>
          <a:custGeom>
            <a:avLst/>
            <a:gdLst/>
            <a:ahLst/>
            <a:rect l="l" t="t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rgbClr val="191b0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16" name="Freeform 7"/>
          <p:cNvSpPr/>
          <p:nvPr/>
        </p:nvSpPr>
        <p:spPr>
          <a:xfrm>
            <a:off x="6113520" y="1685880"/>
            <a:ext cx="2457360" cy="4408560"/>
          </a:xfrm>
          <a:custGeom>
            <a:avLst/>
            <a:gdLst/>
            <a:ahLst/>
            <a:rect l="l" t="t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rgbClr val="efed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1028880" y="685800"/>
            <a:ext cx="7200720" cy="1486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lnSpc>
                <a:spcPct val="89000"/>
              </a:lnSpc>
              <a:buNone/>
              <a:tabLst>
                <a:tab algn="l" pos="0"/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0" lang="en-US" sz="4400" spc="-1" strike="noStrike">
                <a:solidFill>
                  <a:srgbClr val="efede3"/>
                </a:solidFill>
                <a:latin typeface="Franklin Gothic Book"/>
              </a:rPr>
              <a:t>Click to edit the title text format</a:t>
            </a:r>
            <a:endParaRPr b="0" lang="en-US" sz="4400" spc="-1" strike="noStrike">
              <a:solidFill>
                <a:srgbClr val="efede3"/>
              </a:solidFill>
              <a:latin typeface="Franklin Gothic Book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1028880" y="2286000"/>
            <a:ext cx="7200720" cy="3581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82680" indent="-38268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efede3"/>
              </a:buClr>
              <a:buFont typeface="Franklin Gothic Book"/>
              <a:buChar char="■"/>
              <a:tabLst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0" lang="en-US" sz="2000" spc="-1" strike="noStrike">
                <a:solidFill>
                  <a:srgbClr val="efede3"/>
                </a:solidFill>
                <a:latin typeface="Franklin Gothic Book"/>
              </a:rPr>
              <a:t>Click to edit the outline text format</a:t>
            </a:r>
            <a:endParaRPr b="0" lang="en-US" sz="2000" spc="-1" strike="noStrike">
              <a:solidFill>
                <a:srgbClr val="efede3"/>
              </a:solidFill>
              <a:latin typeface="Franklin Gothic Book"/>
            </a:endParaRPr>
          </a:p>
          <a:p>
            <a:pPr lvl="1" marL="914400" indent="-38268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efede3"/>
              </a:buClr>
              <a:buFont typeface="Franklin Gothic Book"/>
              <a:buChar char="–"/>
              <a:tabLst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0" lang="en-US" sz="2000" spc="-1" strike="noStrike">
                <a:solidFill>
                  <a:srgbClr val="efede3"/>
                </a:solidFill>
                <a:latin typeface="Franklin Gothic Book"/>
              </a:rPr>
              <a:t>Second Outline Level</a:t>
            </a:r>
            <a:endParaRPr b="0" lang="en-US" sz="2000" spc="-1" strike="noStrike">
              <a:solidFill>
                <a:srgbClr val="efede3"/>
              </a:solidFill>
              <a:latin typeface="Franklin Gothic Book"/>
            </a:endParaRPr>
          </a:p>
          <a:p>
            <a:pPr lvl="2" marL="1371600" indent="-38268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efede3"/>
              </a:buClr>
              <a:buFont typeface="Franklin Gothic Book"/>
              <a:buChar char="■"/>
              <a:tabLst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0" lang="en-US" sz="2000" spc="-1" strike="noStrike">
                <a:solidFill>
                  <a:srgbClr val="efede3"/>
                </a:solidFill>
                <a:latin typeface="Franklin Gothic Book"/>
              </a:rPr>
              <a:t>Third Outline Level</a:t>
            </a:r>
            <a:endParaRPr b="0" lang="en-US" sz="2000" spc="-1" strike="noStrike">
              <a:solidFill>
                <a:srgbClr val="efede3"/>
              </a:solidFill>
              <a:latin typeface="Franklin Gothic Book"/>
            </a:endParaRPr>
          </a:p>
          <a:p>
            <a:pPr lvl="3" marL="1828800" indent="-38268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efede3"/>
              </a:buClr>
              <a:buFont typeface="Franklin Gothic Book"/>
              <a:buChar char="–"/>
              <a:tabLst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0" lang="en-US" sz="2000" spc="-1" strike="noStrike">
                <a:solidFill>
                  <a:srgbClr val="efede3"/>
                </a:solidFill>
                <a:latin typeface="Franklin Gothic Book"/>
              </a:rPr>
              <a:t>Fourth Outline Level</a:t>
            </a:r>
            <a:endParaRPr b="0" lang="en-US" sz="2000" spc="-1" strike="noStrike">
              <a:solidFill>
                <a:srgbClr val="efede3"/>
              </a:solidFill>
              <a:latin typeface="Franklin Gothic Book"/>
            </a:endParaRPr>
          </a:p>
          <a:p>
            <a:pPr lvl="4" marL="2286000" indent="-38268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efede3"/>
              </a:buClr>
              <a:buFont typeface="Franklin Gothic Book"/>
              <a:buChar char="■"/>
              <a:tabLst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0" lang="en-US" sz="2000" spc="-1" strike="noStrike">
                <a:solidFill>
                  <a:srgbClr val="efede3"/>
                </a:solidFill>
                <a:latin typeface="Franklin Gothic Book"/>
              </a:rPr>
              <a:t>Fifth Outline Level</a:t>
            </a:r>
            <a:endParaRPr b="0" lang="en-US" sz="2000" spc="-1" strike="noStrike">
              <a:solidFill>
                <a:srgbClr val="efede3"/>
              </a:solidFill>
              <a:latin typeface="Franklin Gothic Book"/>
            </a:endParaRPr>
          </a:p>
          <a:p>
            <a:pPr lvl="5" marL="2286000" indent="-38268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ffffff"/>
              </a:buClr>
              <a:buFont typeface="Franklin Gothic Book"/>
              <a:buChar char="■"/>
              <a:tabLst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0" lang="en-US" sz="2000" spc="-1" strike="noStrike">
                <a:solidFill>
                  <a:srgbClr val="efede3"/>
                </a:solidFill>
                <a:latin typeface="Franklin Gothic Book"/>
              </a:rPr>
              <a:t>Sixth Outline Level</a:t>
            </a:r>
            <a:endParaRPr b="0" lang="en-US" sz="2000" spc="-1" strike="noStrike">
              <a:solidFill>
                <a:srgbClr val="efede3"/>
              </a:solidFill>
              <a:latin typeface="Franklin Gothic Book"/>
            </a:endParaRPr>
          </a:p>
          <a:p>
            <a:pPr lvl="6" marL="2286000" indent="-38268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ffffff"/>
              </a:buClr>
              <a:buFont typeface="Franklin Gothic Book"/>
              <a:buChar char="■"/>
              <a:tabLst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0" lang="en-US" sz="2000" spc="-1" strike="noStrike">
                <a:solidFill>
                  <a:srgbClr val="efede3"/>
                </a:solidFill>
                <a:latin typeface="Franklin Gothic Book"/>
              </a:rPr>
              <a:t>Seventh Outline Level</a:t>
            </a:r>
            <a:endParaRPr b="0" lang="en-US" sz="2000" spc="-1" strike="noStrike">
              <a:solidFill>
                <a:srgbClr val="efede3"/>
              </a:solidFill>
              <a:latin typeface="Franklin Gothic Book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7"/>
          </p:nvPr>
        </p:nvSpPr>
        <p:spPr>
          <a:xfrm>
            <a:off x="554040" y="6453360"/>
            <a:ext cx="1217520" cy="404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  <a:defRPr b="0" lang="ru-RU" sz="1000" spc="-1" strike="noStrike">
                <a:solidFill>
                  <a:srgbClr val="efede3"/>
                </a:solidFill>
                <a:latin typeface="Times New Roman"/>
              </a:defRPr>
            </a:lvl1pPr>
          </a:lstStyle>
          <a:p>
            <a:pPr indent="0"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ru-RU" sz="1000" spc="-1" strike="noStrike">
                <a:solidFill>
                  <a:srgbClr val="efede3"/>
                </a:solidFill>
                <a:latin typeface="Times New Roman"/>
              </a:rPr>
              <a:t>&lt;date/time&gt;</a:t>
            </a:r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8"/>
          </p:nvPr>
        </p:nvSpPr>
        <p:spPr>
          <a:xfrm>
            <a:off x="1938240" y="6453360"/>
            <a:ext cx="5267520" cy="404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9"/>
          </p:nvPr>
        </p:nvSpPr>
        <p:spPr>
          <a:xfrm>
            <a:off x="7372080" y="6453360"/>
            <a:ext cx="1198440" cy="404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 algn="r"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  <a:defRPr b="0" lang="ru-RU" sz="1000" spc="-1" strike="noStrike">
                <a:solidFill>
                  <a:srgbClr val="efede3"/>
                </a:solidFill>
                <a:latin typeface="Times New Roman"/>
              </a:defRPr>
            </a:lvl1pPr>
          </a:lstStyle>
          <a:p>
            <a:pPr indent="0" algn="r"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fld id="{37EA38E8-04AF-4009-A044-87CD35EF21E1}" type="slidenum">
              <a:rPr b="0" lang="ru-RU" sz="1000" spc="-1" strike="noStrike">
                <a:solidFill>
                  <a:srgbClr val="efede3"/>
                </a:solidFill>
                <a:latin typeface="Times New Roman"/>
              </a:rPr>
              <a:t>&lt;number&gt;</a:t>
            </a:fld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f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7"/>
          <p:cNvSpPr/>
          <p:nvPr/>
        </p:nvSpPr>
        <p:spPr>
          <a:xfrm>
            <a:off x="0" y="0"/>
            <a:ext cx="3978360" cy="6858000"/>
          </a:xfrm>
          <a:prstGeom prst="rect">
            <a:avLst/>
          </a:prstGeom>
          <a:solidFill>
            <a:srgbClr val="8c8d8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23" name="Rectangle 8"/>
          <p:cNvSpPr/>
          <p:nvPr/>
        </p:nvSpPr>
        <p:spPr>
          <a:xfrm>
            <a:off x="3978360" y="0"/>
            <a:ext cx="171360" cy="6858000"/>
          </a:xfrm>
          <a:prstGeom prst="rect">
            <a:avLst/>
          </a:prstGeom>
          <a:solidFill>
            <a:srgbClr val="191b0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24" name="Rectangle 10"/>
          <p:cNvSpPr/>
          <p:nvPr/>
        </p:nvSpPr>
        <p:spPr>
          <a:xfrm>
            <a:off x="3978360" y="0"/>
            <a:ext cx="171360" cy="6858000"/>
          </a:xfrm>
          <a:prstGeom prst="rect">
            <a:avLst/>
          </a:prstGeom>
          <a:solidFill>
            <a:srgbClr val="191b0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1028880" y="685800"/>
            <a:ext cx="7200720" cy="1486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lnSpc>
                <a:spcPct val="89000"/>
              </a:lnSpc>
              <a:buNone/>
              <a:tabLst>
                <a:tab algn="l" pos="0"/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0" lang="en-US" sz="4400" spc="-1" strike="noStrike">
                <a:solidFill>
                  <a:srgbClr val="191b0e"/>
                </a:solidFill>
                <a:latin typeface="Franklin Gothic Book"/>
              </a:rPr>
              <a:t>Click to edit the title text format</a:t>
            </a:r>
            <a:endParaRPr b="0" lang="en-US" sz="4400" spc="-1" strike="noStrike">
              <a:solidFill>
                <a:srgbClr val="191b0e"/>
              </a:solidFill>
              <a:latin typeface="Franklin Gothic Book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1028880" y="2286000"/>
            <a:ext cx="7200720" cy="3581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82680" indent="-38268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  <a:tabLst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0" lang="en-US" sz="2000" spc="-1" strike="noStrike">
                <a:solidFill>
                  <a:srgbClr val="191b0e"/>
                </a:solidFill>
                <a:latin typeface="Franklin Gothic Book"/>
              </a:rPr>
              <a:t>Click to edit the outline text format</a:t>
            </a:r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  <a:p>
            <a:pPr lvl="1" marL="914400" indent="-38268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–"/>
              <a:tabLst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0" lang="en-US" sz="2000" spc="-1" strike="noStrike">
                <a:solidFill>
                  <a:srgbClr val="191b0e"/>
                </a:solidFill>
                <a:latin typeface="Franklin Gothic Book"/>
              </a:rPr>
              <a:t>Second Outline Level</a:t>
            </a:r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  <a:p>
            <a:pPr lvl="2" marL="1371600" indent="-38268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  <a:tabLst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0" lang="en-US" sz="2000" spc="-1" strike="noStrike">
                <a:solidFill>
                  <a:srgbClr val="191b0e"/>
                </a:solidFill>
                <a:latin typeface="Franklin Gothic Book"/>
              </a:rPr>
              <a:t>Third Outline Level</a:t>
            </a:r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  <a:p>
            <a:pPr lvl="3" marL="1828800" indent="-38268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–"/>
              <a:tabLst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0" lang="en-US" sz="2000" spc="-1" strike="noStrike">
                <a:solidFill>
                  <a:srgbClr val="191b0e"/>
                </a:solidFill>
                <a:latin typeface="Franklin Gothic Book"/>
              </a:rPr>
              <a:t>Fourth Outline Level</a:t>
            </a:r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  <a:p>
            <a:pPr lvl="4" marL="2286000" indent="-38268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  <a:tabLst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0" lang="en-US" sz="2000" spc="-1" strike="noStrike">
                <a:solidFill>
                  <a:srgbClr val="191b0e"/>
                </a:solidFill>
                <a:latin typeface="Franklin Gothic Book"/>
              </a:rPr>
              <a:t>Fifth Outline Level</a:t>
            </a:r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  <a:p>
            <a:pPr lvl="5" marL="2286000" indent="-38268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000000"/>
              </a:buClr>
              <a:buFont typeface="Franklin Gothic Book"/>
              <a:buChar char="■"/>
              <a:tabLst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0" lang="en-US" sz="2000" spc="-1" strike="noStrike">
                <a:solidFill>
                  <a:srgbClr val="191b0e"/>
                </a:solidFill>
                <a:latin typeface="Franklin Gothic Book"/>
              </a:rPr>
              <a:t>Sixth Outline Level</a:t>
            </a:r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  <a:p>
            <a:pPr lvl="6" marL="2286000" indent="-38268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000000"/>
              </a:buClr>
              <a:buFont typeface="Franklin Gothic Book"/>
              <a:buChar char="■"/>
              <a:tabLst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0" lang="en-US" sz="2000" spc="-1" strike="noStrike">
                <a:solidFill>
                  <a:srgbClr val="191b0e"/>
                </a:solidFill>
                <a:latin typeface="Franklin Gothic Book"/>
              </a:rPr>
              <a:t>Seventh Outline Level</a:t>
            </a:r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dt" idx="10"/>
          </p:nvPr>
        </p:nvSpPr>
        <p:spPr>
          <a:xfrm>
            <a:off x="542520" y="6453360"/>
            <a:ext cx="903240" cy="404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  <a:defRPr b="0" lang="ru-RU" sz="1000" spc="-1" strike="noStrike">
                <a:solidFill>
                  <a:srgbClr val="191b0e"/>
                </a:solidFill>
                <a:latin typeface="Times New Roman"/>
              </a:defRPr>
            </a:lvl1pPr>
          </a:lstStyle>
          <a:p>
            <a:pPr indent="0"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ru-RU" sz="1000" spc="-1" strike="noStrike">
                <a:solidFill>
                  <a:srgbClr val="191b0e"/>
                </a:solidFill>
                <a:latin typeface="Times New Roman"/>
              </a:rPr>
              <a:t>&lt;date/time&gt;</a:t>
            </a:r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ftr" idx="11"/>
          </p:nvPr>
        </p:nvSpPr>
        <p:spPr>
          <a:xfrm>
            <a:off x="1654200" y="6453360"/>
            <a:ext cx="1781280" cy="404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sldNum" idx="12"/>
          </p:nvPr>
        </p:nvSpPr>
        <p:spPr>
          <a:xfrm>
            <a:off x="7411680" y="6453360"/>
            <a:ext cx="1197000" cy="404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 algn="r"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  <a:defRPr b="0" lang="ru-RU" sz="1000" spc="-1" strike="noStrike">
                <a:solidFill>
                  <a:srgbClr val="191b0e"/>
                </a:solidFill>
                <a:latin typeface="Times New Roman"/>
              </a:defRPr>
            </a:lvl1pPr>
          </a:lstStyle>
          <a:p>
            <a:pPr indent="0" algn="r"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fld id="{C5053488-2159-430E-9611-2D227DA3AA54}" type="slidenum">
              <a:rPr b="0" lang="ru-RU" sz="1000" spc="-1" strike="noStrike">
                <a:solidFill>
                  <a:srgbClr val="191b0e"/>
                </a:solidFill>
                <a:latin typeface="Times New Roman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f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7"/>
          <p:cNvSpPr/>
          <p:nvPr/>
        </p:nvSpPr>
        <p:spPr>
          <a:xfrm>
            <a:off x="0" y="0"/>
            <a:ext cx="3978360" cy="6858000"/>
          </a:xfrm>
          <a:prstGeom prst="rect">
            <a:avLst/>
          </a:prstGeom>
          <a:solidFill>
            <a:srgbClr val="8c8d8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31" name="Rectangle 8"/>
          <p:cNvSpPr/>
          <p:nvPr/>
        </p:nvSpPr>
        <p:spPr>
          <a:xfrm>
            <a:off x="3978360" y="0"/>
            <a:ext cx="171360" cy="6858000"/>
          </a:xfrm>
          <a:prstGeom prst="rect">
            <a:avLst/>
          </a:prstGeom>
          <a:solidFill>
            <a:srgbClr val="191b0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32" name="Rectangle 10"/>
          <p:cNvSpPr/>
          <p:nvPr/>
        </p:nvSpPr>
        <p:spPr>
          <a:xfrm>
            <a:off x="3978360" y="0"/>
            <a:ext cx="171360" cy="6858000"/>
          </a:xfrm>
          <a:prstGeom prst="rect">
            <a:avLst/>
          </a:prstGeom>
          <a:solidFill>
            <a:srgbClr val="191b0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1028880" y="685800"/>
            <a:ext cx="7200720" cy="1486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lnSpc>
                <a:spcPct val="89000"/>
              </a:lnSpc>
              <a:buNone/>
              <a:tabLst>
                <a:tab algn="l" pos="0"/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0" lang="en-US" sz="4400" spc="-1" strike="noStrike">
                <a:solidFill>
                  <a:srgbClr val="191b0e"/>
                </a:solidFill>
                <a:latin typeface="Franklin Gothic Book"/>
              </a:rPr>
              <a:t>Click to edit the title text format</a:t>
            </a:r>
            <a:endParaRPr b="0" lang="en-US" sz="4400" spc="-1" strike="noStrike">
              <a:solidFill>
                <a:srgbClr val="191b0e"/>
              </a:solidFill>
              <a:latin typeface="Franklin Gothic Book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1028880" y="2286000"/>
            <a:ext cx="7200720" cy="3581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82680" indent="-38268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  <a:tabLst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0" lang="en-US" sz="2000" spc="-1" strike="noStrike">
                <a:solidFill>
                  <a:srgbClr val="191b0e"/>
                </a:solidFill>
                <a:latin typeface="Franklin Gothic Book"/>
              </a:rPr>
              <a:t>Click to edit the outline text format</a:t>
            </a:r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  <a:p>
            <a:pPr lvl="1" marL="914400" indent="-38268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–"/>
              <a:tabLst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0" lang="en-US" sz="2000" spc="-1" strike="noStrike">
                <a:solidFill>
                  <a:srgbClr val="191b0e"/>
                </a:solidFill>
                <a:latin typeface="Franklin Gothic Book"/>
              </a:rPr>
              <a:t>Second Outline Level</a:t>
            </a:r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  <a:p>
            <a:pPr lvl="2" marL="1371600" indent="-38268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  <a:tabLst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0" lang="en-US" sz="2000" spc="-1" strike="noStrike">
                <a:solidFill>
                  <a:srgbClr val="191b0e"/>
                </a:solidFill>
                <a:latin typeface="Franklin Gothic Book"/>
              </a:rPr>
              <a:t>Third Outline Level</a:t>
            </a:r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  <a:p>
            <a:pPr lvl="3" marL="1828800" indent="-38268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–"/>
              <a:tabLst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0" lang="en-US" sz="2000" spc="-1" strike="noStrike">
                <a:solidFill>
                  <a:srgbClr val="191b0e"/>
                </a:solidFill>
                <a:latin typeface="Franklin Gothic Book"/>
              </a:rPr>
              <a:t>Fourth Outline Level</a:t>
            </a:r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  <a:p>
            <a:pPr lvl="4" marL="2286000" indent="-38268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  <a:tabLst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0" lang="en-US" sz="2000" spc="-1" strike="noStrike">
                <a:solidFill>
                  <a:srgbClr val="191b0e"/>
                </a:solidFill>
                <a:latin typeface="Franklin Gothic Book"/>
              </a:rPr>
              <a:t>Fifth Outline Level</a:t>
            </a:r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  <a:p>
            <a:pPr lvl="5" marL="2286000" indent="-38268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000000"/>
              </a:buClr>
              <a:buFont typeface="Franklin Gothic Book"/>
              <a:buChar char="■"/>
              <a:tabLst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0" lang="en-US" sz="2000" spc="-1" strike="noStrike">
                <a:solidFill>
                  <a:srgbClr val="191b0e"/>
                </a:solidFill>
                <a:latin typeface="Franklin Gothic Book"/>
              </a:rPr>
              <a:t>Sixth Outline Level</a:t>
            </a:r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  <a:p>
            <a:pPr lvl="6" marL="2286000" indent="-38268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000000"/>
              </a:buClr>
              <a:buFont typeface="Franklin Gothic Book"/>
              <a:buChar char="■"/>
              <a:tabLst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0" lang="en-US" sz="2000" spc="-1" strike="noStrike">
                <a:solidFill>
                  <a:srgbClr val="191b0e"/>
                </a:solidFill>
                <a:latin typeface="Franklin Gothic Book"/>
              </a:rPr>
              <a:t>Seventh Outline Level</a:t>
            </a:r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dt" idx="13"/>
          </p:nvPr>
        </p:nvSpPr>
        <p:spPr>
          <a:xfrm>
            <a:off x="542520" y="6453360"/>
            <a:ext cx="903240" cy="404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  <a:defRPr b="0" lang="ru-RU" sz="1000" spc="-1" strike="noStrike">
                <a:solidFill>
                  <a:srgbClr val="191b0e"/>
                </a:solidFill>
                <a:latin typeface="Times New Roman"/>
              </a:defRPr>
            </a:lvl1pPr>
          </a:lstStyle>
          <a:p>
            <a:pPr indent="0"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ru-RU" sz="1000" spc="-1" strike="noStrike">
                <a:solidFill>
                  <a:srgbClr val="191b0e"/>
                </a:solidFill>
                <a:latin typeface="Times New Roman"/>
              </a:rPr>
              <a:t>&lt;date/time&gt;</a:t>
            </a:r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ftr" idx="14"/>
          </p:nvPr>
        </p:nvSpPr>
        <p:spPr>
          <a:xfrm>
            <a:off x="1654200" y="6453360"/>
            <a:ext cx="1781280" cy="404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sldNum" idx="15"/>
          </p:nvPr>
        </p:nvSpPr>
        <p:spPr>
          <a:xfrm>
            <a:off x="7411680" y="6453360"/>
            <a:ext cx="1197000" cy="404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 algn="r"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  <a:defRPr b="0" lang="ru-RU" sz="1000" spc="-1" strike="noStrike">
                <a:solidFill>
                  <a:srgbClr val="191b0e"/>
                </a:solidFill>
                <a:latin typeface="Times New Roman"/>
              </a:defRPr>
            </a:lvl1pPr>
          </a:lstStyle>
          <a:p>
            <a:pPr indent="0" algn="r"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fld id="{B4539EB2-CDD5-47EB-A6A1-3996ACF5A3BA}" type="slidenum">
              <a:rPr b="0" lang="ru-RU" sz="1000" spc="-1" strike="noStrike">
                <a:solidFill>
                  <a:srgbClr val="191b0e"/>
                </a:solidFill>
                <a:latin typeface="Times New Roman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755640" y="1413000"/>
            <a:ext cx="7755120" cy="3921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>
              <a:lnSpc>
                <a:spcPct val="89000"/>
              </a:lnSpc>
              <a:buNone/>
              <a:tabLst>
                <a:tab algn="l" pos="0"/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0" lang="ru-RU" sz="6000" spc="-1" strike="noStrike">
                <a:solidFill>
                  <a:srgbClr val="191b0e"/>
                </a:solidFill>
                <a:latin typeface="Franklin Gothic Book"/>
              </a:rPr>
              <a:t>ОБОРОТНЫЕ СРЕДСТВА ПРЕДПРИЯТИЙ</a:t>
            </a:r>
            <a:br>
              <a:rPr sz="6000"/>
            </a:br>
            <a:endParaRPr b="0" lang="en-US" sz="6000" spc="-1" strike="noStrike">
              <a:solidFill>
                <a:srgbClr val="191b0e"/>
              </a:solidFill>
              <a:latin typeface="Franklin Gothic Book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539280" y="-360"/>
            <a:ext cx="8604360" cy="69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89000"/>
              </a:lnSpc>
              <a:buNone/>
              <a:tabLst>
                <a:tab algn="l" pos="0"/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0" lang="ru-RU" sz="4400" spc="-1" strike="noStrike">
                <a:solidFill>
                  <a:srgbClr val="191b0e"/>
                </a:solidFill>
                <a:latin typeface="Franklin Gothic Book"/>
              </a:rPr>
              <a:t>Проверочная работа</a:t>
            </a:r>
            <a:endParaRPr b="0" lang="en-US" sz="4400" spc="-1" strike="noStrike">
              <a:solidFill>
                <a:srgbClr val="191b0e"/>
              </a:solidFill>
              <a:latin typeface="Franklin Gothic Book"/>
            </a:endParaRPr>
          </a:p>
        </p:txBody>
      </p:sp>
      <p:sp>
        <p:nvSpPr>
          <p:cNvPr id="40" name="Прямоугольник 2"/>
          <p:cNvSpPr/>
          <p:nvPr/>
        </p:nvSpPr>
        <p:spPr>
          <a:xfrm>
            <a:off x="539640" y="981000"/>
            <a:ext cx="8604360" cy="642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marL="343080" indent="-343080">
              <a:buClr>
                <a:srgbClr val="000000"/>
              </a:buClr>
              <a:buFont typeface="Franklin Gothic Book"/>
              <a:buAutoNum type="arabicPeriod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Franklin Gothic Book"/>
              </a:rPr>
              <a:t>Нина, Зина и Полина пекут пироги и ватрушки. За 5 часов работы Нина может испечь 10 пирогов или 30 ватрушек, Зина – 15 пирогов или 24 ватрушки, Полина – 12 пирогов или 48 ватрушек. Рассчитайте минимальное время, которое им необходимо для приготовления 20 ватрушек и 10 пирогов. </a:t>
            </a:r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  <a:p>
            <a:pPr marL="343080" indent="-343080">
              <a:buClr>
                <a:srgbClr val="000000"/>
              </a:buClr>
              <a:buFont typeface="Franklin Gothic Book"/>
              <a:buAutoNum type="arabicPeriod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  <a:p>
            <a:pPr marL="343080" indent="-343080">
              <a:buClr>
                <a:srgbClr val="000000"/>
              </a:buClr>
              <a:buFont typeface="Franklin Gothic Book"/>
              <a:buAutoNum type="arabicPeriod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  <a:p>
            <a:pPr marL="343080" indent="-343080">
              <a:buClr>
                <a:srgbClr val="000000"/>
              </a:buClr>
              <a:buFont typeface="Franklin Gothic Book"/>
              <a:buAutoNum type="arabicPeriod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  <a:p>
            <a:pPr marL="343080" indent="-343080">
              <a:buClr>
                <a:srgbClr val="000000"/>
              </a:buClr>
              <a:buFont typeface="Franklin Gothic Book"/>
              <a:buAutoNum type="arabicPeriod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  <a:p>
            <a:pPr marL="343080" indent="-343080">
              <a:buClr>
                <a:srgbClr val="000000"/>
              </a:buClr>
              <a:buFont typeface="Franklin Gothic Book"/>
              <a:buAutoNum type="arabicPeriod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  <a:p>
            <a:pPr marL="343080" indent="-343080">
              <a:buClr>
                <a:srgbClr val="000000"/>
              </a:buClr>
              <a:buFont typeface="Franklin Gothic Book"/>
              <a:buAutoNum type="arabicPeriod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  <a:p>
            <a:pPr marL="343080" indent="-343080">
              <a:buClr>
                <a:srgbClr val="000000"/>
              </a:buClr>
              <a:buFont typeface="Franklin Gothic Book"/>
              <a:buAutoNum type="arabicPeriod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  <a:p>
            <a:pPr marL="343080" indent="-343080">
              <a:buClr>
                <a:srgbClr val="000000"/>
              </a:buClr>
              <a:buFont typeface="Franklin Gothic Book"/>
              <a:buAutoNum type="arabicPeriod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  <a:p>
            <a:pPr marL="343080" indent="-343080">
              <a:buClr>
                <a:srgbClr val="000000"/>
              </a:buClr>
              <a:buFont typeface="Franklin Gothic Book"/>
              <a:buAutoNum type="arabicPeriod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Franklin Gothic Book"/>
              </a:rPr>
              <a:t>Бабушка, мать и дочь организовали совместное предприятие по раскраске матрешек и шкатулок. За год мать может раскрасить 200 матрешек или 100 шкатулок, бабушка раскрашивает матрешки на 20% медленнее своей дочери, но шкатулки у нее получаются на 20% быстрее. Дочь любит раскрашивать матрешки и делает это в 1,5 раза быстрее бабушки, шкатулки же у нее получаются в два раза медленнее, чем у бабушки. Подскажите, как им лучше организовать производство, если учесть, что в продаваемом наборе 3 матрешки и 2 шкатулки. </a:t>
            </a:r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539280" y="-360"/>
            <a:ext cx="8604360" cy="69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>
              <a:lnSpc>
                <a:spcPct val="89000"/>
              </a:lnSpc>
              <a:buNone/>
              <a:tabLst>
                <a:tab algn="l" pos="0"/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0" lang="ru-RU" sz="4400" spc="-1" strike="noStrike">
                <a:solidFill>
                  <a:srgbClr val="000000"/>
                </a:solidFill>
                <a:latin typeface="Franklin Gothic Book"/>
              </a:rPr>
              <a:t>План лекции</a:t>
            </a:r>
            <a:endParaRPr b="0" lang="en-US" sz="4400" spc="-1" strike="noStrike">
              <a:solidFill>
                <a:srgbClr val="191b0e"/>
              </a:solidFill>
              <a:latin typeface="Franklin Gothic Book"/>
            </a:endParaRPr>
          </a:p>
        </p:txBody>
      </p:sp>
      <p:pic>
        <p:nvPicPr>
          <p:cNvPr id="42" name="Объект 2" descr=""/>
          <p:cNvPicPr/>
          <p:nvPr/>
        </p:nvPicPr>
        <p:blipFill>
          <a:blip r:embed="rId1"/>
          <a:stretch/>
        </p:blipFill>
        <p:spPr>
          <a:xfrm>
            <a:off x="1189080" y="1341360"/>
            <a:ext cx="7826400" cy="4022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"/>
          <p:cNvSpPr txBox="1"/>
          <p:nvPr/>
        </p:nvSpPr>
        <p:spPr>
          <a:xfrm>
            <a:off x="684000" y="1773000"/>
            <a:ext cx="8243640" cy="28796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382680" indent="-38268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000000"/>
              </a:buClr>
              <a:buFont typeface="Franklin Gothic Book"/>
              <a:buChar char="■"/>
              <a:tabLst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1" lang="ru-RU" sz="2000" spc="-1" strike="noStrike">
                <a:solidFill>
                  <a:srgbClr val="000000"/>
                </a:solidFill>
                <a:latin typeface="Arial"/>
              </a:rPr>
              <a:t>Оборотные средства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 – это активы предприятия, которые в результате его хозяйственной деятельности полностью переносят свою стоимость на готовый продукт, принимают однократное участие в процессе производства изменяя при это натурально-вещественную форму.</a:t>
            </a:r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  <a:p>
            <a:pPr marL="382680" indent="-38268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tabLst>
                <a:tab algn="l" pos="0"/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Оборотные средства обеспечивают непрерывность производства и реализации продукции.</a:t>
            </a:r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  <a:p>
            <a:pPr marL="382680" indent="-382680" algn="ctr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tabLst>
                <a:tab algn="l" pos="0"/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1" lang="ru-RU" sz="2000" spc="-1" strike="noStrike" u="sng">
                <a:solidFill>
                  <a:srgbClr val="000000"/>
                </a:solidFill>
                <a:uFillTx/>
                <a:latin typeface="Franklin Gothic Book"/>
              </a:rPr>
              <a:t>Оборотные средства = текущие активы</a:t>
            </a:r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2" descr="https://studfile.net/html/2706/298/html_dGcIXOvKd1.HEUw/htmlconvd-gCNMi1_html_441dc43c40d1e531.jpg"/>
          <p:cNvPicPr/>
          <p:nvPr/>
        </p:nvPicPr>
        <p:blipFill>
          <a:blip r:embed="rId1"/>
          <a:stretch/>
        </p:blipFill>
        <p:spPr>
          <a:xfrm>
            <a:off x="506520" y="0"/>
            <a:ext cx="8637480" cy="4813200"/>
          </a:xfrm>
          <a:prstGeom prst="rect">
            <a:avLst/>
          </a:prstGeom>
          <a:ln w="0">
            <a:noFill/>
          </a:ln>
        </p:spPr>
      </p:pic>
      <p:sp>
        <p:nvSpPr>
          <p:cNvPr id="45" name="Прямоугольник 1"/>
          <p:cNvSpPr/>
          <p:nvPr/>
        </p:nvSpPr>
        <p:spPr>
          <a:xfrm>
            <a:off x="506520" y="4844880"/>
            <a:ext cx="8664480" cy="20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lang="ru-RU" sz="1600" spc="-1" strike="noStrike">
                <a:solidFill>
                  <a:srgbClr val="000000"/>
                </a:solidFill>
                <a:latin typeface="Franklin Gothic Book"/>
              </a:rPr>
              <a:t>Оборотные производственные фонды </a:t>
            </a:r>
            <a:r>
              <a:rPr b="0" lang="ru-RU" sz="1600" spc="-1" strike="noStrike">
                <a:solidFill>
                  <a:srgbClr val="000000"/>
                </a:solidFill>
                <a:latin typeface="Franklin Gothic Book"/>
              </a:rPr>
              <a:t>– это часть производственных фондов, которая однократно учувствует в производстве в виде предметов труда, целиком потребляется в каждом производственном цикле, полностью переносит свою стоимость на готовые изделия, возмещается в натуральной форме и стоимости после каждого производственного цикла.</a:t>
            </a:r>
            <a:endParaRPr b="0" lang="en-US" sz="1600" spc="-1" strike="noStrike">
              <a:solidFill>
                <a:srgbClr val="000000"/>
              </a:solidFill>
              <a:latin typeface="Franklin Gothic Book"/>
            </a:endParaRPr>
          </a:p>
          <a:p>
            <a:pPr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lang="ru-RU" sz="1600" spc="-1" strike="noStrike">
                <a:solidFill>
                  <a:srgbClr val="000000"/>
                </a:solidFill>
                <a:latin typeface="Franklin Gothic Book"/>
              </a:rPr>
              <a:t>Фонды обращения </a:t>
            </a:r>
            <a:r>
              <a:rPr b="0" lang="ru-RU" sz="1600" spc="-1" strike="noStrike">
                <a:solidFill>
                  <a:srgbClr val="000000"/>
                </a:solidFill>
                <a:latin typeface="Franklin Gothic Book"/>
              </a:rPr>
              <a:t>необходимы для того чтобы предприятие могло реализовать свою продукцию, вести расчеты с покупателями, приобретать на полученные деньги сырье, топливо, выплачивать з.п.</a:t>
            </a:r>
            <a:endParaRPr b="0" lang="en-US" sz="1600" spc="-1" strike="noStrike">
              <a:solidFill>
                <a:srgbClr val="000000"/>
              </a:solidFill>
              <a:latin typeface="Franklin Gothic Book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Прямоугольник 1"/>
          <p:cNvSpPr/>
          <p:nvPr/>
        </p:nvSpPr>
        <p:spPr>
          <a:xfrm>
            <a:off x="539640" y="1844640"/>
            <a:ext cx="8533080" cy="311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Franklin Gothic Book"/>
              </a:rPr>
              <a:t>Соотношение между отдельными элементами оборотных средств или их составными частями называется </a:t>
            </a:r>
            <a:r>
              <a:rPr b="1" lang="ru-RU" sz="1800" spc="-1" strike="noStrike">
                <a:solidFill>
                  <a:srgbClr val="000000"/>
                </a:solidFill>
                <a:latin typeface="Franklin Gothic Book"/>
              </a:rPr>
              <a:t>структурой оборотных средств. </a:t>
            </a:r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  <a:p>
            <a:pPr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Franklin Gothic Book"/>
              </a:rPr>
              <a:t>Структура оборотных средств на разных предприятиях различна. Она зависит от отраслевой принадлежности предприятия, характера и особенностей организации производственной деятельности, условий снабжения и сбыта, расчетов с потребителями и поставщиками. Например, доля производственных запасов весьма высока в энергетике (80%), в легкой и пищевой промышленности (75%). Незавершенного производства вообще нет в добывающих отраслях и в электроэнергетике, а в судостроении оно составляет до 90%.</a:t>
            </a:r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Рисунок 2" descr=""/>
          <p:cNvPicPr/>
          <p:nvPr/>
        </p:nvPicPr>
        <p:blipFill>
          <a:blip r:embed="rId1"/>
          <a:stretch/>
        </p:blipFill>
        <p:spPr>
          <a:xfrm>
            <a:off x="2627280" y="-12600"/>
            <a:ext cx="4316400" cy="6870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539640" y="115920"/>
            <a:ext cx="8229600" cy="433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>
              <a:lnSpc>
                <a:spcPct val="89000"/>
              </a:lnSpc>
              <a:buNone/>
              <a:tabLst>
                <a:tab algn="l" pos="0"/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0" lang="ru-RU" sz="2400" spc="-1" strike="noStrike">
                <a:solidFill>
                  <a:srgbClr val="000000"/>
                </a:solidFill>
                <a:latin typeface="Franklin Gothic Book"/>
              </a:rPr>
              <a:t>Классификация оборотных средств</a:t>
            </a:r>
            <a:endParaRPr b="0" lang="en-US" sz="2400" spc="-1" strike="noStrike">
              <a:solidFill>
                <a:srgbClr val="191b0e"/>
              </a:solidFill>
              <a:latin typeface="Franklin Gothic Book"/>
            </a:endParaRPr>
          </a:p>
        </p:txBody>
      </p:sp>
      <p:graphicFrame>
        <p:nvGraphicFramePr>
          <p:cNvPr id="49" name=""/>
          <p:cNvGraphicFramePr/>
          <p:nvPr/>
        </p:nvGraphicFramePr>
        <p:xfrm>
          <a:off x="511200" y="549360"/>
          <a:ext cx="8677080" cy="6337080"/>
        </p:xfrm>
        <a:graphic>
          <a:graphicData uri="http://schemas.openxmlformats.org/drawingml/2006/table">
            <a:tbl>
              <a:tblPr/>
              <a:tblGrid>
                <a:gridCol w="4338720"/>
                <a:gridCol w="4338360"/>
              </a:tblGrid>
              <a:tr h="422280">
                <a:tc>
                  <a:txBody>
                    <a:bodyPr anchor="t">
                      <a:noAutofit/>
                    </a:bodyPr>
                    <a:p>
                      <a:pPr algn="ctr">
                        <a:tabLst>
                          <a:tab algn="l" pos="0"/>
                          <a:tab algn="l" pos="685800"/>
                          <a:tab algn="l" pos="1371600"/>
                          <a:tab algn="l" pos="2057400"/>
                          <a:tab algn="l" pos="2743200"/>
                          <a:tab algn="l" pos="3429000"/>
                          <a:tab algn="l" pos="4114800"/>
                          <a:tab algn="l" pos="4800600"/>
                          <a:tab algn="l" pos="5486400"/>
                          <a:tab algn="l" pos="6172200"/>
                          <a:tab algn="l" pos="6858000"/>
                          <a:tab algn="l" pos="7543800"/>
                          <a:tab algn="l" pos="8229600"/>
                          <a:tab algn="l" pos="8915400"/>
                          <a:tab algn="l" pos="9601200"/>
                          <a:tab algn="l" pos="10287000"/>
                        </a:tabLst>
                      </a:pPr>
                      <a:r>
                        <a:rPr b="1" lang="ru-RU" sz="1800" spc="-1" strike="noStrike">
                          <a:solidFill>
                            <a:srgbClr val="ffffff"/>
                          </a:solidFill>
                          <a:latin typeface="Franklin Gothic Book"/>
                        </a:rPr>
                        <a:t>Признак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Franklin Gothic Book"/>
                      </a:endParaRPr>
                    </a:p>
                  </a:txBody>
                  <a:tcPr anchor="t" marL="91440" marR="91440">
                    <a:lnL w="5760">
                      <a:solidFill>
                        <a:srgbClr val="8dab8e"/>
                      </a:solidFill>
                      <a:prstDash val="solid"/>
                    </a:lnL>
                    <a:lnR>
                      <a:noFill/>
                    </a:lnR>
                    <a:lnT w="5760">
                      <a:solidFill>
                        <a:srgbClr val="8dab8e"/>
                      </a:solidFill>
                      <a:prstDash val="solid"/>
                    </a:lnT>
                    <a:lnB w="5760">
                      <a:solidFill>
                        <a:srgbClr val="8dab8e"/>
                      </a:solidFill>
                      <a:prstDash val="solid"/>
                    </a:lnB>
                    <a:solidFill>
                      <a:srgbClr val="8dab8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tabLst>
                          <a:tab algn="l" pos="0"/>
                          <a:tab algn="l" pos="685800"/>
                          <a:tab algn="l" pos="1371600"/>
                          <a:tab algn="l" pos="2057400"/>
                          <a:tab algn="l" pos="2743200"/>
                          <a:tab algn="l" pos="3429000"/>
                          <a:tab algn="l" pos="4114800"/>
                          <a:tab algn="l" pos="4800600"/>
                          <a:tab algn="l" pos="5486400"/>
                          <a:tab algn="l" pos="6172200"/>
                          <a:tab algn="l" pos="6858000"/>
                          <a:tab algn="l" pos="7543800"/>
                          <a:tab algn="l" pos="8229600"/>
                          <a:tab algn="l" pos="8915400"/>
                          <a:tab algn="l" pos="9601200"/>
                          <a:tab algn="l" pos="10287000"/>
                        </a:tabLst>
                      </a:pPr>
                      <a:r>
                        <a:rPr b="1" lang="ru-RU" sz="1800" spc="-1" strike="noStrike">
                          <a:solidFill>
                            <a:srgbClr val="ffffff"/>
                          </a:solidFill>
                          <a:latin typeface="Franklin Gothic Book"/>
                        </a:rPr>
                        <a:t>Классификационные группы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Franklin Gothic Book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 w="5760">
                      <a:solidFill>
                        <a:srgbClr val="8dab8e"/>
                      </a:solidFill>
                      <a:prstDash val="solid"/>
                    </a:lnR>
                    <a:lnT w="5760">
                      <a:solidFill>
                        <a:srgbClr val="8dab8e"/>
                      </a:solidFill>
                      <a:prstDash val="solid"/>
                    </a:lnT>
                    <a:lnB w="5760">
                      <a:solidFill>
                        <a:srgbClr val="8dab8e"/>
                      </a:solidFill>
                      <a:prstDash val="solid"/>
                    </a:lnB>
                    <a:solidFill>
                      <a:srgbClr val="8dab8e"/>
                    </a:solidFill>
                  </a:tcPr>
                </a:tc>
              </a:tr>
              <a:tr h="658800">
                <a:tc>
                  <a:txBody>
                    <a:bodyPr anchor="t">
                      <a:noAutofit/>
                    </a:bodyPr>
                    <a:p>
                      <a:pPr>
                        <a:tabLst>
                          <a:tab algn="l" pos="0"/>
                          <a:tab algn="l" pos="685800"/>
                          <a:tab algn="l" pos="1371600"/>
                          <a:tab algn="l" pos="2057400"/>
                          <a:tab algn="l" pos="2743200"/>
                          <a:tab algn="l" pos="3429000"/>
                          <a:tab algn="l" pos="4114800"/>
                          <a:tab algn="l" pos="4800600"/>
                          <a:tab algn="l" pos="5486400"/>
                          <a:tab algn="l" pos="6172200"/>
                          <a:tab algn="l" pos="6858000"/>
                          <a:tab algn="l" pos="7543800"/>
                          <a:tab algn="l" pos="8229600"/>
                          <a:tab algn="l" pos="8915400"/>
                          <a:tab algn="l" pos="9601200"/>
                          <a:tab algn="l" pos="10287000"/>
                        </a:tabLst>
                      </a:pPr>
                      <a:r>
                        <a:rPr b="0" lang="ru-RU" sz="1600" spc="-1" strike="noStrike">
                          <a:solidFill>
                            <a:srgbClr val="000000"/>
                          </a:solidFill>
                          <a:latin typeface="Franklin Gothic Book"/>
                        </a:rPr>
                        <a:t>Функциональная роль в процессе производства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Franklin Gothic Book"/>
                      </a:endParaRPr>
                    </a:p>
                  </a:txBody>
                  <a:tcPr anchor="t" marL="91440" marR="91440">
                    <a:lnL w="5760">
                      <a:solidFill>
                        <a:srgbClr val="8dab8e"/>
                      </a:solidFill>
                      <a:prstDash val="solid"/>
                    </a:lnL>
                    <a:lnR>
                      <a:noFill/>
                    </a:lnR>
                    <a:lnT w="5760">
                      <a:solidFill>
                        <a:srgbClr val="8dab8e"/>
                      </a:solidFill>
                      <a:prstDash val="solid"/>
                    </a:lnT>
                    <a:lnB w="5760">
                      <a:solidFill>
                        <a:srgbClr val="8dab8e"/>
                      </a:solidFill>
                      <a:prstDash val="solid"/>
                    </a:lnB>
                    <a:solidFill>
                      <a:srgbClr val="eef1e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tabLst>
                          <a:tab algn="l" pos="0"/>
                          <a:tab algn="l" pos="685800"/>
                          <a:tab algn="l" pos="1371600"/>
                          <a:tab algn="l" pos="2057400"/>
                          <a:tab algn="l" pos="2743200"/>
                          <a:tab algn="l" pos="3429000"/>
                          <a:tab algn="l" pos="4114800"/>
                          <a:tab algn="l" pos="4800600"/>
                          <a:tab algn="l" pos="5486400"/>
                          <a:tab algn="l" pos="6172200"/>
                          <a:tab algn="l" pos="6858000"/>
                          <a:tab algn="l" pos="7543800"/>
                          <a:tab algn="l" pos="8229600"/>
                          <a:tab algn="l" pos="8915400"/>
                          <a:tab algn="l" pos="9601200"/>
                          <a:tab algn="l" pos="10287000"/>
                        </a:tabLst>
                      </a:pPr>
                      <a:r>
                        <a:rPr b="0" lang="ru-RU" sz="1600" spc="-1" strike="noStrike">
                          <a:solidFill>
                            <a:srgbClr val="000000"/>
                          </a:solidFill>
                          <a:latin typeface="Franklin Gothic Book"/>
                        </a:rPr>
                        <a:t>Оборотные производственные фонды и фонды обращения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Franklin Gothic Book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 w="5760">
                      <a:solidFill>
                        <a:srgbClr val="8dab8e"/>
                      </a:solidFill>
                      <a:prstDash val="solid"/>
                    </a:lnR>
                    <a:lnT w="5760">
                      <a:solidFill>
                        <a:srgbClr val="8dab8e"/>
                      </a:solidFill>
                      <a:prstDash val="solid"/>
                    </a:lnT>
                    <a:lnB w="5760">
                      <a:solidFill>
                        <a:srgbClr val="8dab8e"/>
                      </a:solidFill>
                      <a:prstDash val="solid"/>
                    </a:lnB>
                    <a:solidFill>
                      <a:srgbClr val="eef1ee"/>
                    </a:solidFill>
                  </a:tcPr>
                </a:tc>
              </a:tr>
              <a:tr h="1214280">
                <a:tc>
                  <a:txBody>
                    <a:bodyPr anchor="t">
                      <a:noAutofit/>
                    </a:bodyPr>
                    <a:p>
                      <a:pPr>
                        <a:tabLst>
                          <a:tab algn="l" pos="0"/>
                          <a:tab algn="l" pos="685800"/>
                          <a:tab algn="l" pos="1371600"/>
                          <a:tab algn="l" pos="2057400"/>
                          <a:tab algn="l" pos="2743200"/>
                          <a:tab algn="l" pos="3429000"/>
                          <a:tab algn="l" pos="4114800"/>
                          <a:tab algn="l" pos="4800600"/>
                          <a:tab algn="l" pos="5486400"/>
                          <a:tab algn="l" pos="6172200"/>
                          <a:tab algn="l" pos="6858000"/>
                          <a:tab algn="l" pos="7543800"/>
                          <a:tab algn="l" pos="8229600"/>
                          <a:tab algn="l" pos="8915400"/>
                          <a:tab algn="l" pos="9601200"/>
                          <a:tab algn="l" pos="10287000"/>
                        </a:tabLst>
                      </a:pPr>
                      <a:r>
                        <a:rPr b="0" lang="ru-RU" sz="1600" spc="-1" strike="noStrike">
                          <a:solidFill>
                            <a:srgbClr val="000000"/>
                          </a:solidFill>
                          <a:latin typeface="Franklin Gothic Book"/>
                        </a:rPr>
                        <a:t>Материально-вещественное содержание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Franklin Gothic Book"/>
                      </a:endParaRPr>
                    </a:p>
                  </a:txBody>
                  <a:tcPr anchor="t" marL="91440" marR="91440">
                    <a:lnL w="5760">
                      <a:solidFill>
                        <a:srgbClr val="8dab8e"/>
                      </a:solidFill>
                      <a:prstDash val="solid"/>
                    </a:lnL>
                    <a:lnR>
                      <a:noFill/>
                    </a:lnR>
                    <a:lnT w="5760">
                      <a:solidFill>
                        <a:srgbClr val="8dab8e"/>
                      </a:solidFill>
                      <a:prstDash val="solid"/>
                    </a:lnT>
                    <a:lnB w="5760">
                      <a:solidFill>
                        <a:srgbClr val="8dab8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tabLst>
                          <a:tab algn="l" pos="0"/>
                          <a:tab algn="l" pos="685800"/>
                          <a:tab algn="l" pos="1371600"/>
                          <a:tab algn="l" pos="2057400"/>
                          <a:tab algn="l" pos="2743200"/>
                          <a:tab algn="l" pos="3429000"/>
                          <a:tab algn="l" pos="4114800"/>
                          <a:tab algn="l" pos="4800600"/>
                          <a:tab algn="l" pos="5486400"/>
                          <a:tab algn="l" pos="6172200"/>
                          <a:tab algn="l" pos="6858000"/>
                          <a:tab algn="l" pos="7543800"/>
                          <a:tab algn="l" pos="8229600"/>
                          <a:tab algn="l" pos="8915400"/>
                          <a:tab algn="l" pos="9601200"/>
                          <a:tab algn="l" pos="10287000"/>
                        </a:tabLst>
                      </a:pPr>
                      <a:r>
                        <a:rPr b="0" lang="ru-RU" sz="1600" spc="-1" strike="noStrike">
                          <a:solidFill>
                            <a:srgbClr val="000000"/>
                          </a:solidFill>
                          <a:latin typeface="Franklin Gothic Book"/>
                        </a:rPr>
                        <a:t>Производственные запасы, незаконченное производство, готовая продукция и товары, денежные средства, расчеты и прочие активы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Franklin Gothic Book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 w="5760">
                      <a:solidFill>
                        <a:srgbClr val="8dab8e"/>
                      </a:solidFill>
                      <a:prstDash val="solid"/>
                    </a:lnR>
                    <a:lnT w="5760">
                      <a:solidFill>
                        <a:srgbClr val="8dab8e"/>
                      </a:solidFill>
                      <a:prstDash val="solid"/>
                    </a:lnT>
                    <a:lnB w="5760">
                      <a:solidFill>
                        <a:srgbClr val="8dab8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800">
                <a:tc>
                  <a:txBody>
                    <a:bodyPr anchor="t">
                      <a:noAutofit/>
                    </a:bodyPr>
                    <a:p>
                      <a:pPr>
                        <a:tabLst>
                          <a:tab algn="l" pos="0"/>
                          <a:tab algn="l" pos="685800"/>
                          <a:tab algn="l" pos="1371600"/>
                          <a:tab algn="l" pos="2057400"/>
                          <a:tab algn="l" pos="2743200"/>
                          <a:tab algn="l" pos="3429000"/>
                          <a:tab algn="l" pos="4114800"/>
                          <a:tab algn="l" pos="4800600"/>
                          <a:tab algn="l" pos="5486400"/>
                          <a:tab algn="l" pos="6172200"/>
                          <a:tab algn="l" pos="6858000"/>
                          <a:tab algn="l" pos="7543800"/>
                          <a:tab algn="l" pos="8229600"/>
                          <a:tab algn="l" pos="8915400"/>
                          <a:tab algn="l" pos="9601200"/>
                          <a:tab algn="l" pos="10287000"/>
                        </a:tabLst>
                      </a:pPr>
                      <a:r>
                        <a:rPr b="0" lang="ru-RU" sz="1600" spc="-1" strike="noStrike">
                          <a:solidFill>
                            <a:srgbClr val="000000"/>
                          </a:solidFill>
                          <a:latin typeface="Franklin Gothic Book"/>
                        </a:rPr>
                        <a:t>Практика контроля, планирования и управления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Franklin Gothic Book"/>
                      </a:endParaRPr>
                    </a:p>
                  </a:txBody>
                  <a:tcPr anchor="t" marL="91440" marR="91440">
                    <a:lnL w="5760">
                      <a:solidFill>
                        <a:srgbClr val="8dab8e"/>
                      </a:solidFill>
                      <a:prstDash val="solid"/>
                    </a:lnL>
                    <a:lnR>
                      <a:noFill/>
                    </a:lnR>
                    <a:lnT w="5760">
                      <a:solidFill>
                        <a:srgbClr val="8dab8e"/>
                      </a:solidFill>
                      <a:prstDash val="solid"/>
                    </a:lnT>
                    <a:lnB w="5760">
                      <a:solidFill>
                        <a:srgbClr val="8dab8e"/>
                      </a:solidFill>
                      <a:prstDash val="solid"/>
                    </a:lnB>
                    <a:solidFill>
                      <a:srgbClr val="eef1e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tabLst>
                          <a:tab algn="l" pos="0"/>
                          <a:tab algn="l" pos="685800"/>
                          <a:tab algn="l" pos="1371600"/>
                          <a:tab algn="l" pos="2057400"/>
                          <a:tab algn="l" pos="2743200"/>
                          <a:tab algn="l" pos="3429000"/>
                          <a:tab algn="l" pos="4114800"/>
                          <a:tab algn="l" pos="4800600"/>
                          <a:tab algn="l" pos="5486400"/>
                          <a:tab algn="l" pos="6172200"/>
                          <a:tab algn="l" pos="6858000"/>
                          <a:tab algn="l" pos="7543800"/>
                          <a:tab algn="l" pos="8229600"/>
                          <a:tab algn="l" pos="8915400"/>
                          <a:tab algn="l" pos="9601200"/>
                          <a:tab algn="l" pos="10287000"/>
                        </a:tabLst>
                      </a:pPr>
                      <a:r>
                        <a:rPr b="0" lang="ru-RU" sz="1600" spc="-1" strike="noStrike">
                          <a:solidFill>
                            <a:srgbClr val="000000"/>
                          </a:solidFill>
                          <a:latin typeface="Franklin Gothic Book"/>
                        </a:rPr>
                        <a:t>Нормируемые и ненормируемые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Franklin Gothic Book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 w="5760">
                      <a:solidFill>
                        <a:srgbClr val="8dab8e"/>
                      </a:solidFill>
                      <a:prstDash val="solid"/>
                    </a:lnR>
                    <a:lnT w="5760">
                      <a:solidFill>
                        <a:srgbClr val="8dab8e"/>
                      </a:solidFill>
                      <a:prstDash val="solid"/>
                    </a:lnT>
                    <a:lnB w="5760">
                      <a:solidFill>
                        <a:srgbClr val="8dab8e"/>
                      </a:solidFill>
                      <a:prstDash val="solid"/>
                    </a:lnB>
                    <a:solidFill>
                      <a:srgbClr val="eef1ee"/>
                    </a:solidFill>
                  </a:tcPr>
                </a:tc>
              </a:tr>
              <a:tr h="1212840">
                <a:tc>
                  <a:txBody>
                    <a:bodyPr anchor="t">
                      <a:noAutofit/>
                    </a:bodyPr>
                    <a:p>
                      <a:pPr>
                        <a:tabLst>
                          <a:tab algn="l" pos="0"/>
                          <a:tab algn="l" pos="685800"/>
                          <a:tab algn="l" pos="1371600"/>
                          <a:tab algn="l" pos="2057400"/>
                          <a:tab algn="l" pos="2743200"/>
                          <a:tab algn="l" pos="3429000"/>
                          <a:tab algn="l" pos="4114800"/>
                          <a:tab algn="l" pos="4800600"/>
                          <a:tab algn="l" pos="5486400"/>
                          <a:tab algn="l" pos="6172200"/>
                          <a:tab algn="l" pos="6858000"/>
                          <a:tab algn="l" pos="7543800"/>
                          <a:tab algn="l" pos="8229600"/>
                          <a:tab algn="l" pos="8915400"/>
                          <a:tab algn="l" pos="9601200"/>
                          <a:tab algn="l" pos="10287000"/>
                        </a:tabLst>
                      </a:pPr>
                      <a:r>
                        <a:rPr b="0" lang="ru-RU" sz="1600" spc="-1" strike="noStrike">
                          <a:solidFill>
                            <a:srgbClr val="000000"/>
                          </a:solidFill>
                          <a:latin typeface="Franklin Gothic Book"/>
                        </a:rPr>
                        <a:t>Источники формирования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Franklin Gothic Book"/>
                      </a:endParaRPr>
                    </a:p>
                  </a:txBody>
                  <a:tcPr anchor="t" marL="91440" marR="91440">
                    <a:lnL w="5760">
                      <a:solidFill>
                        <a:srgbClr val="8dab8e"/>
                      </a:solidFill>
                      <a:prstDash val="solid"/>
                    </a:lnL>
                    <a:lnR>
                      <a:noFill/>
                    </a:lnR>
                    <a:lnT w="5760">
                      <a:solidFill>
                        <a:srgbClr val="8dab8e"/>
                      </a:solidFill>
                      <a:prstDash val="solid"/>
                    </a:lnT>
                    <a:lnB w="5760">
                      <a:solidFill>
                        <a:srgbClr val="8dab8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tabLst>
                          <a:tab algn="l" pos="0"/>
                          <a:tab algn="l" pos="685800"/>
                          <a:tab algn="l" pos="1371600"/>
                          <a:tab algn="l" pos="2057400"/>
                          <a:tab algn="l" pos="2743200"/>
                          <a:tab algn="l" pos="3429000"/>
                          <a:tab algn="l" pos="4114800"/>
                          <a:tab algn="l" pos="4800600"/>
                          <a:tab algn="l" pos="5486400"/>
                          <a:tab algn="l" pos="6172200"/>
                          <a:tab algn="l" pos="6858000"/>
                          <a:tab algn="l" pos="7543800"/>
                          <a:tab algn="l" pos="8229600"/>
                          <a:tab algn="l" pos="8915400"/>
                          <a:tab algn="l" pos="9601200"/>
                          <a:tab algn="l" pos="10287000"/>
                        </a:tabLst>
                      </a:pPr>
                      <a:r>
                        <a:rPr b="0" lang="ru-RU" sz="1600" spc="-1" strike="noStrike">
                          <a:solidFill>
                            <a:srgbClr val="000000"/>
                          </a:solidFill>
                          <a:latin typeface="Franklin Gothic Book"/>
                        </a:rPr>
                        <a:t>Собственные средства и приравненные к ним, привлеченные средства, заемные средства, прочие источники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Franklin Gothic Book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 w="5760">
                      <a:solidFill>
                        <a:srgbClr val="8dab8e"/>
                      </a:solidFill>
                      <a:prstDash val="solid"/>
                    </a:lnR>
                    <a:lnT w="5760">
                      <a:solidFill>
                        <a:srgbClr val="8dab8e"/>
                      </a:solidFill>
                      <a:prstDash val="solid"/>
                    </a:lnT>
                    <a:lnB w="5760">
                      <a:solidFill>
                        <a:srgbClr val="8dab8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36720">
                <a:tc>
                  <a:txBody>
                    <a:bodyPr anchor="t">
                      <a:noAutofit/>
                    </a:bodyPr>
                    <a:p>
                      <a:pPr>
                        <a:tabLst>
                          <a:tab algn="l" pos="0"/>
                          <a:tab algn="l" pos="685800"/>
                          <a:tab algn="l" pos="1371600"/>
                          <a:tab algn="l" pos="2057400"/>
                          <a:tab algn="l" pos="2743200"/>
                          <a:tab algn="l" pos="3429000"/>
                          <a:tab algn="l" pos="4114800"/>
                          <a:tab algn="l" pos="4800600"/>
                          <a:tab algn="l" pos="5486400"/>
                          <a:tab algn="l" pos="6172200"/>
                          <a:tab algn="l" pos="6858000"/>
                          <a:tab algn="l" pos="7543800"/>
                          <a:tab algn="l" pos="8229600"/>
                          <a:tab algn="l" pos="8915400"/>
                          <a:tab algn="l" pos="9601200"/>
                          <a:tab algn="l" pos="10287000"/>
                        </a:tabLst>
                      </a:pPr>
                      <a:r>
                        <a:rPr b="0" lang="ru-RU" sz="1600" spc="-1" strike="noStrike">
                          <a:solidFill>
                            <a:srgbClr val="000000"/>
                          </a:solidFill>
                          <a:latin typeface="Franklin Gothic Book"/>
                        </a:rPr>
                        <a:t>Степень ликвидности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Franklin Gothic Book"/>
                      </a:endParaRPr>
                    </a:p>
                  </a:txBody>
                  <a:tcPr anchor="t" marL="91440" marR="91440">
                    <a:lnL w="5760">
                      <a:solidFill>
                        <a:srgbClr val="8dab8e"/>
                      </a:solidFill>
                      <a:prstDash val="solid"/>
                    </a:lnL>
                    <a:lnR>
                      <a:noFill/>
                    </a:lnR>
                    <a:lnT w="5760">
                      <a:solidFill>
                        <a:srgbClr val="8dab8e"/>
                      </a:solidFill>
                      <a:prstDash val="solid"/>
                    </a:lnT>
                    <a:lnB w="5760">
                      <a:solidFill>
                        <a:srgbClr val="8dab8e"/>
                      </a:solidFill>
                      <a:prstDash val="solid"/>
                    </a:lnB>
                    <a:solidFill>
                      <a:srgbClr val="eef1e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tabLst>
                          <a:tab algn="l" pos="0"/>
                          <a:tab algn="l" pos="685800"/>
                          <a:tab algn="l" pos="1371600"/>
                          <a:tab algn="l" pos="2057400"/>
                          <a:tab algn="l" pos="2743200"/>
                          <a:tab algn="l" pos="3429000"/>
                          <a:tab algn="l" pos="4114800"/>
                          <a:tab algn="l" pos="4800600"/>
                          <a:tab algn="l" pos="5486400"/>
                          <a:tab algn="l" pos="6172200"/>
                          <a:tab algn="l" pos="6858000"/>
                          <a:tab algn="l" pos="7543800"/>
                          <a:tab algn="l" pos="8229600"/>
                          <a:tab algn="l" pos="8915400"/>
                          <a:tab algn="l" pos="9601200"/>
                          <a:tab algn="l" pos="10287000"/>
                        </a:tabLst>
                      </a:pPr>
                      <a:r>
                        <a:rPr b="0" lang="ru-RU" sz="1600" spc="-1" strike="noStrike">
                          <a:solidFill>
                            <a:srgbClr val="000000"/>
                          </a:solidFill>
                          <a:latin typeface="Franklin Gothic Book"/>
                        </a:rPr>
                        <a:t>Абсолютно ликвидные, быстрореализуемые, медленно-реализуемые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Franklin Gothic Book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 w="5760">
                      <a:solidFill>
                        <a:srgbClr val="8dab8e"/>
                      </a:solidFill>
                      <a:prstDash val="solid"/>
                    </a:lnR>
                    <a:lnT w="5760">
                      <a:solidFill>
                        <a:srgbClr val="8dab8e"/>
                      </a:solidFill>
                      <a:prstDash val="solid"/>
                    </a:lnT>
                    <a:lnB w="5760">
                      <a:solidFill>
                        <a:srgbClr val="8dab8e"/>
                      </a:solidFill>
                      <a:prstDash val="solid"/>
                    </a:lnB>
                    <a:solidFill>
                      <a:srgbClr val="eef1ee"/>
                    </a:solidFill>
                  </a:tcPr>
                </a:tc>
              </a:tr>
              <a:tr h="617400">
                <a:tc>
                  <a:txBody>
                    <a:bodyPr anchor="t">
                      <a:noAutofit/>
                    </a:bodyPr>
                    <a:p>
                      <a:pPr>
                        <a:tabLst>
                          <a:tab algn="l" pos="0"/>
                          <a:tab algn="l" pos="685800"/>
                          <a:tab algn="l" pos="1371600"/>
                          <a:tab algn="l" pos="2057400"/>
                          <a:tab algn="l" pos="2743200"/>
                          <a:tab algn="l" pos="3429000"/>
                          <a:tab algn="l" pos="4114800"/>
                          <a:tab algn="l" pos="4800600"/>
                          <a:tab algn="l" pos="5486400"/>
                          <a:tab algn="l" pos="6172200"/>
                          <a:tab algn="l" pos="6858000"/>
                          <a:tab algn="l" pos="7543800"/>
                          <a:tab algn="l" pos="8229600"/>
                          <a:tab algn="l" pos="8915400"/>
                          <a:tab algn="l" pos="9601200"/>
                          <a:tab algn="l" pos="10287000"/>
                        </a:tabLst>
                      </a:pPr>
                      <a:r>
                        <a:rPr b="0" lang="ru-RU" sz="1600" spc="-1" strike="noStrike">
                          <a:solidFill>
                            <a:srgbClr val="000000"/>
                          </a:solidFill>
                          <a:latin typeface="Franklin Gothic Book"/>
                        </a:rPr>
                        <a:t>Степень риска вложения капитала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Franklin Gothic Book"/>
                      </a:endParaRPr>
                    </a:p>
                  </a:txBody>
                  <a:tcPr anchor="t" marL="91440" marR="91440">
                    <a:lnL w="5760">
                      <a:solidFill>
                        <a:srgbClr val="8dab8e"/>
                      </a:solidFill>
                      <a:prstDash val="solid"/>
                    </a:lnL>
                    <a:lnR>
                      <a:noFill/>
                    </a:lnR>
                    <a:lnT w="5760">
                      <a:solidFill>
                        <a:srgbClr val="8dab8e"/>
                      </a:solidFill>
                      <a:prstDash val="solid"/>
                    </a:lnT>
                    <a:lnB w="5760">
                      <a:solidFill>
                        <a:srgbClr val="8dab8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tabLst>
                          <a:tab algn="l" pos="0"/>
                          <a:tab algn="l" pos="685800"/>
                          <a:tab algn="l" pos="1371600"/>
                          <a:tab algn="l" pos="2057400"/>
                          <a:tab algn="l" pos="2743200"/>
                          <a:tab algn="l" pos="3429000"/>
                          <a:tab algn="l" pos="4114800"/>
                          <a:tab algn="l" pos="4800600"/>
                          <a:tab algn="l" pos="5486400"/>
                          <a:tab algn="l" pos="6172200"/>
                          <a:tab algn="l" pos="6858000"/>
                          <a:tab algn="l" pos="7543800"/>
                          <a:tab algn="l" pos="8229600"/>
                          <a:tab algn="l" pos="8915400"/>
                          <a:tab algn="l" pos="9601200"/>
                          <a:tab algn="l" pos="10287000"/>
                        </a:tabLst>
                      </a:pPr>
                      <a:r>
                        <a:rPr b="0" lang="ru-RU" sz="1600" spc="-1" strike="noStrike">
                          <a:solidFill>
                            <a:srgbClr val="000000"/>
                          </a:solidFill>
                          <a:latin typeface="Franklin Gothic Book"/>
                        </a:rPr>
                        <a:t>Минимальный, малый, средний и высокий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Franklin Gothic Book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 w="5760">
                      <a:solidFill>
                        <a:srgbClr val="8dab8e"/>
                      </a:solidFill>
                      <a:prstDash val="solid"/>
                    </a:lnR>
                    <a:lnT w="5760">
                      <a:solidFill>
                        <a:srgbClr val="8dab8e"/>
                      </a:solidFill>
                      <a:prstDash val="solid"/>
                    </a:lnT>
                    <a:lnB w="5760">
                      <a:solidFill>
                        <a:srgbClr val="8dab8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5960">
                <a:tc>
                  <a:txBody>
                    <a:bodyPr anchor="t">
                      <a:noAutofit/>
                    </a:bodyPr>
                    <a:p>
                      <a:pPr>
                        <a:tabLst>
                          <a:tab algn="l" pos="0"/>
                          <a:tab algn="l" pos="685800"/>
                          <a:tab algn="l" pos="1371600"/>
                          <a:tab algn="l" pos="2057400"/>
                          <a:tab algn="l" pos="2743200"/>
                          <a:tab algn="l" pos="3429000"/>
                          <a:tab algn="l" pos="4114800"/>
                          <a:tab algn="l" pos="4800600"/>
                          <a:tab algn="l" pos="5486400"/>
                          <a:tab algn="l" pos="6172200"/>
                          <a:tab algn="l" pos="6858000"/>
                          <a:tab algn="l" pos="7543800"/>
                          <a:tab algn="l" pos="8229600"/>
                          <a:tab algn="l" pos="8915400"/>
                          <a:tab algn="l" pos="9601200"/>
                          <a:tab algn="l" pos="10287000"/>
                        </a:tabLst>
                      </a:pPr>
                      <a:r>
                        <a:rPr b="0" lang="ru-RU" sz="1600" spc="-1" strike="noStrike">
                          <a:solidFill>
                            <a:srgbClr val="000000"/>
                          </a:solidFill>
                          <a:latin typeface="Franklin Gothic Book"/>
                        </a:rPr>
                        <a:t>Стандарты учета и отражения в балансе предприятия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Franklin Gothic Book"/>
                      </a:endParaRPr>
                    </a:p>
                  </a:txBody>
                  <a:tcPr anchor="t" marL="91440" marR="91440">
                    <a:lnL w="5760">
                      <a:solidFill>
                        <a:srgbClr val="8dab8e"/>
                      </a:solidFill>
                      <a:prstDash val="solid"/>
                    </a:lnL>
                    <a:lnR>
                      <a:noFill/>
                    </a:lnR>
                    <a:lnT w="5760">
                      <a:solidFill>
                        <a:srgbClr val="8dab8e"/>
                      </a:solidFill>
                      <a:prstDash val="solid"/>
                    </a:lnT>
                    <a:lnB w="5760">
                      <a:solidFill>
                        <a:srgbClr val="8dab8e"/>
                      </a:solidFill>
                      <a:prstDash val="solid"/>
                    </a:lnB>
                    <a:solidFill>
                      <a:srgbClr val="eef1e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tabLst>
                          <a:tab algn="l" pos="0"/>
                          <a:tab algn="l" pos="685800"/>
                          <a:tab algn="l" pos="1371600"/>
                          <a:tab algn="l" pos="2057400"/>
                          <a:tab algn="l" pos="2743200"/>
                          <a:tab algn="l" pos="3429000"/>
                          <a:tab algn="l" pos="4114800"/>
                          <a:tab algn="l" pos="4800600"/>
                          <a:tab algn="l" pos="5486400"/>
                          <a:tab algn="l" pos="6172200"/>
                          <a:tab algn="l" pos="6858000"/>
                          <a:tab algn="l" pos="7543800"/>
                          <a:tab algn="l" pos="8229600"/>
                          <a:tab algn="l" pos="8915400"/>
                          <a:tab algn="l" pos="9601200"/>
                          <a:tab algn="l" pos="10287000"/>
                        </a:tabLst>
                      </a:pPr>
                      <a:r>
                        <a:rPr b="0" lang="ru-RU" sz="1600" spc="-1" strike="noStrike">
                          <a:solidFill>
                            <a:srgbClr val="000000"/>
                          </a:solidFill>
                          <a:latin typeface="Franklin Gothic Book"/>
                        </a:rPr>
                        <a:t>В запасах и затратах, расчеты, денежные средства, прочие активы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Franklin Gothic Book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 w="5760">
                      <a:solidFill>
                        <a:srgbClr val="8dab8e"/>
                      </a:solidFill>
                      <a:prstDash val="solid"/>
                    </a:lnR>
                    <a:lnT w="5760">
                      <a:solidFill>
                        <a:srgbClr val="8dab8e"/>
                      </a:solidFill>
                      <a:prstDash val="solid"/>
                    </a:lnT>
                    <a:lnB w="5760">
                      <a:solidFill>
                        <a:srgbClr val="8dab8e"/>
                      </a:solidFill>
                      <a:prstDash val="solid"/>
                    </a:lnB>
                    <a:solidFill>
                      <a:srgbClr val="eef1ee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539280" y="18720"/>
            <a:ext cx="8604360" cy="60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>
              <a:lnSpc>
                <a:spcPct val="89000"/>
              </a:lnSpc>
              <a:buNone/>
              <a:tabLst>
                <a:tab algn="l" pos="0"/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1" lang="ru-RU" sz="2400" spc="-1" strike="noStrike">
                <a:solidFill>
                  <a:srgbClr val="000000"/>
                </a:solidFill>
                <a:latin typeface="Franklin Gothic Book"/>
              </a:rPr>
              <a:t>Материально-вещественное содержание</a:t>
            </a:r>
            <a:endParaRPr b="0" lang="en-US" sz="2400" spc="-1" strike="noStrike">
              <a:solidFill>
                <a:srgbClr val="191b0e"/>
              </a:solidFill>
              <a:latin typeface="Franklin Gothic Book"/>
            </a:endParaRPr>
          </a:p>
        </p:txBody>
      </p:sp>
      <p:sp>
        <p:nvSpPr>
          <p:cNvPr id="51" name="Прямоугольник 2"/>
          <p:cNvSpPr/>
          <p:nvPr/>
        </p:nvSpPr>
        <p:spPr>
          <a:xfrm>
            <a:off x="539640" y="836640"/>
            <a:ext cx="8604360" cy="44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lang="ru-RU" sz="1800" spc="-1" strike="noStrike">
                <a:solidFill>
                  <a:srgbClr val="000000"/>
                </a:solidFill>
                <a:latin typeface="Franklin Gothic Book"/>
              </a:rPr>
              <a:t>Производственные запасы </a:t>
            </a:r>
            <a:r>
              <a:rPr b="0" lang="ru-RU" sz="1800" spc="-1" strike="noStrike">
                <a:solidFill>
                  <a:srgbClr val="000000"/>
                </a:solidFill>
                <a:latin typeface="Franklin Gothic Book"/>
              </a:rPr>
              <a:t>включают сырьё и материалы, предназначенные для дальнейшей переработки, покупные полуфабрикаты, комплектующие изделия, топливо, запасные части и т. д.. </a:t>
            </a:r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  <a:p>
            <a:pPr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lang="ru-RU" sz="1800" spc="-1" strike="noStrike">
                <a:solidFill>
                  <a:srgbClr val="000000"/>
                </a:solidFill>
                <a:latin typeface="Franklin Gothic Book"/>
              </a:rPr>
              <a:t>Незавершённое производство — </a:t>
            </a:r>
            <a:r>
              <a:rPr b="0" lang="ru-RU" sz="1800" spc="-1" strike="noStrike">
                <a:solidFill>
                  <a:srgbClr val="000000"/>
                </a:solidFill>
                <a:latin typeface="Franklin Gothic Book"/>
              </a:rPr>
              <a:t>это незаконченная производством продукция: заготовки, детали, полуфабрикаты, находящиеся на рабочих местах, контроле, транспортировке, в цеховых кладовых в виде запасов, а также продукция, не принятая ОТК и не сданная на склад готовых изделий. </a:t>
            </a:r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  <a:p>
            <a:pPr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lang="ru-RU" sz="1800" spc="-1" strike="noStrike">
                <a:solidFill>
                  <a:srgbClr val="000000"/>
                </a:solidFill>
                <a:latin typeface="Franklin Gothic Book"/>
              </a:rPr>
              <a:t>Готовая продукция </a:t>
            </a:r>
            <a:r>
              <a:rPr b="0" lang="ru-RU" sz="1800" spc="-1" strike="noStrike">
                <a:solidFill>
                  <a:srgbClr val="000000"/>
                </a:solidFill>
                <a:latin typeface="Franklin Gothic Book"/>
              </a:rPr>
              <a:t>— это законченный производством продукт, соответствующий установленным стандартам.</a:t>
            </a:r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  <a:p>
            <a:pPr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lang="ru-RU" sz="1800" spc="-1" strike="noStrike">
                <a:solidFill>
                  <a:srgbClr val="000000"/>
                </a:solidFill>
                <a:latin typeface="Franklin Gothic Book"/>
              </a:rPr>
              <a:t>Товары — </a:t>
            </a:r>
            <a:r>
              <a:rPr b="0" lang="ru-RU" sz="1800" spc="-1" strike="noStrike">
                <a:solidFill>
                  <a:srgbClr val="000000"/>
                </a:solidFill>
                <a:latin typeface="Franklin Gothic Book"/>
              </a:rPr>
              <a:t>это продукт, приобретённый или полученный для последующей продажи или перепродажи без дополнительной обработки. </a:t>
            </a:r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  <a:p>
            <a:pPr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lang="ru-RU" sz="1800" spc="-1" strike="noStrike">
                <a:solidFill>
                  <a:srgbClr val="000000"/>
                </a:solidFill>
                <a:latin typeface="Franklin Gothic Book"/>
              </a:rPr>
              <a:t>Денежные средства </a:t>
            </a:r>
            <a:r>
              <a:rPr b="0" lang="ru-RU" sz="1800" spc="-1" strike="noStrike">
                <a:solidFill>
                  <a:srgbClr val="000000"/>
                </a:solidFill>
                <a:latin typeface="Franklin Gothic Book"/>
              </a:rPr>
              <a:t>— это средства на расчётных счетах и в кассе предприятия</a:t>
            </a:r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Прямоугольник 1"/>
          <p:cNvSpPr/>
          <p:nvPr/>
        </p:nvSpPr>
        <p:spPr>
          <a:xfrm>
            <a:off x="539640" y="260280"/>
            <a:ext cx="860436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lang="ru-RU" sz="1800" spc="-1" strike="noStrike">
                <a:solidFill>
                  <a:srgbClr val="912236"/>
                </a:solidFill>
                <a:latin typeface="Franklin Gothic Book"/>
              </a:rPr>
              <a:t>В процессе нормирования оборотных средств разрабатываются нормы и нормативы </a:t>
            </a:r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53" name="Прямоугольник 2"/>
          <p:cNvSpPr/>
          <p:nvPr/>
        </p:nvSpPr>
        <p:spPr>
          <a:xfrm>
            <a:off x="533520" y="906480"/>
            <a:ext cx="8604000" cy="612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lang="ru-RU" sz="1800" spc="-1" strike="noStrike">
                <a:solidFill>
                  <a:srgbClr val="000000"/>
                </a:solidFill>
                <a:latin typeface="Franklin Gothic Book"/>
              </a:rPr>
              <a:t>Норма оборотных средств </a:t>
            </a:r>
            <a:r>
              <a:rPr b="0" lang="ru-RU" sz="1800" spc="-1" strike="noStrike">
                <a:solidFill>
                  <a:srgbClr val="000000"/>
                </a:solidFill>
                <a:latin typeface="Franklin Gothic Book"/>
              </a:rPr>
              <a:t>- величина, соответствующая минимальному, экономически обоснованному объему запасов товарно-материальных ценностей. Она устанавливается, как правило, в днях. Нормы оборотных средств зависят от норм расхода материалов в производстве; норм износостойкости запасных частей и инструментов; длительности производственного цикла; условий снабжения и сбыта; времени придания некоторым материалам определенных свойств, необходимых для производственного потребления; других факторов.</a:t>
            </a:r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  <a:p>
            <a:pPr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lang="ru-RU" sz="1800" spc="-1" strike="noStrike">
                <a:solidFill>
                  <a:srgbClr val="000000"/>
                </a:solidFill>
                <a:latin typeface="Franklin Gothic Book"/>
              </a:rPr>
              <a:t>Норматив оборотных средств </a:t>
            </a:r>
            <a:r>
              <a:rPr b="0" lang="ru-RU" sz="1800" spc="-1" strike="noStrike">
                <a:solidFill>
                  <a:srgbClr val="000000"/>
                </a:solidFill>
                <a:latin typeface="Franklin Gothic Book"/>
              </a:rPr>
              <a:t>- минимально необходимая сумма оборотных средств, обеспечивающих предпринимательскую деятельность предприятия. Если нормы оборотных средств могут быть установлены на относительно длительный период, то нормативы рассчитываются на конкретный период (год, квартал, месяц). </a:t>
            </a:r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  <a:p>
            <a:pPr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lang="ru-RU" sz="1800" spc="-1" strike="noStrike">
                <a:solidFill>
                  <a:srgbClr val="000000"/>
                </a:solidFill>
                <a:latin typeface="Franklin Gothic Book"/>
              </a:rPr>
              <a:t>Выделяют следующие основные показатели, определяющие норматив оборотных средств каждого предприятия</a:t>
            </a:r>
            <a:r>
              <a:rPr b="0" lang="ru-RU" sz="1800" spc="-1" strike="noStrike">
                <a:solidFill>
                  <a:srgbClr val="000000"/>
                </a:solidFill>
                <a:latin typeface="Franklin Gothic Book"/>
              </a:rPr>
              <a:t>: - объем производства и реализации продукции; - затраты на производство, хранение и реализацию продукции; - нормы оборотных средств по отдельным видам товарно-материальных ценностей, выраженные в днях.</a:t>
            </a:r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  <a:p>
            <a:pPr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ru-RU" sz="1800" spc="-1" strike="noStrike">
                <a:solidFill>
                  <a:srgbClr val="d13b56"/>
                </a:solidFill>
                <a:latin typeface="Franklin Gothic Book"/>
              </a:rPr>
              <a:t>Различают </a:t>
            </a:r>
            <a:r>
              <a:rPr b="1" lang="ru-RU" sz="1800" spc="-1" strike="noStrike">
                <a:solidFill>
                  <a:srgbClr val="d13b56"/>
                </a:solidFill>
                <a:latin typeface="Franklin Gothic Book"/>
              </a:rPr>
              <a:t>совокупный норматив </a:t>
            </a:r>
            <a:r>
              <a:rPr b="0" lang="ru-RU" sz="1800" spc="-1" strike="noStrike">
                <a:solidFill>
                  <a:srgbClr val="d13b56"/>
                </a:solidFill>
                <a:latin typeface="Franklin Gothic Book"/>
              </a:rPr>
              <a:t>(общую сумму оборотных средств) и </a:t>
            </a:r>
            <a:r>
              <a:rPr b="1" lang="ru-RU" sz="1800" spc="-1" strike="noStrike">
                <a:solidFill>
                  <a:srgbClr val="d13b56"/>
                </a:solidFill>
                <a:latin typeface="Franklin Gothic Book"/>
              </a:rPr>
              <a:t>частные нормативы </a:t>
            </a:r>
            <a:r>
              <a:rPr b="0" lang="ru-RU" sz="1800" spc="-1" strike="noStrike">
                <a:solidFill>
                  <a:srgbClr val="d13b56"/>
                </a:solidFill>
                <a:latin typeface="Franklin Gothic Book"/>
              </a:rPr>
              <a:t>(размеры средств по соответствующим видам оборотных средств). </a:t>
            </a:r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539280" y="26640"/>
            <a:ext cx="8604360" cy="52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>
              <a:lnSpc>
                <a:spcPct val="89000"/>
              </a:lnSpc>
              <a:buNone/>
              <a:tabLst>
                <a:tab algn="l" pos="0"/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0" lang="ru-RU" sz="2400" spc="-1" strike="noStrike">
                <a:solidFill>
                  <a:srgbClr val="000000"/>
                </a:solidFill>
                <a:latin typeface="Franklin Gothic Book"/>
              </a:rPr>
              <a:t>Источники формирования оборотных средств</a:t>
            </a:r>
            <a:endParaRPr b="0" lang="en-US" sz="2400" spc="-1" strike="noStrike">
              <a:solidFill>
                <a:srgbClr val="191b0e"/>
              </a:solidFill>
              <a:latin typeface="Franklin Gothic Book"/>
            </a:endParaRPr>
          </a:p>
        </p:txBody>
      </p:sp>
      <p:pic>
        <p:nvPicPr>
          <p:cNvPr id="55" name="Содержимое 3" descr=""/>
          <p:cNvPicPr/>
          <p:nvPr/>
        </p:nvPicPr>
        <p:blipFill>
          <a:blip r:embed="rId1"/>
          <a:stretch/>
        </p:blipFill>
        <p:spPr>
          <a:xfrm>
            <a:off x="512640" y="549360"/>
            <a:ext cx="8643960" cy="3814560"/>
          </a:xfrm>
          <a:prstGeom prst="rect">
            <a:avLst/>
          </a:prstGeom>
          <a:ln w="0">
            <a:noFill/>
          </a:ln>
        </p:spPr>
      </p:pic>
      <p:sp>
        <p:nvSpPr>
          <p:cNvPr id="56" name="Прямоугольник 4"/>
          <p:cNvSpPr/>
          <p:nvPr/>
        </p:nvSpPr>
        <p:spPr>
          <a:xfrm>
            <a:off x="539640" y="4365720"/>
            <a:ext cx="8604360" cy="28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lang="ru-RU" sz="1800" spc="-1" strike="noStrike">
                <a:solidFill>
                  <a:srgbClr val="000000"/>
                </a:solidFill>
                <a:latin typeface="Franklin Gothic Book"/>
              </a:rPr>
              <a:t>Добавочный капитал </a:t>
            </a:r>
            <a:r>
              <a:rPr b="0" lang="ru-RU" sz="1800" spc="-1" strike="noStrike">
                <a:solidFill>
                  <a:srgbClr val="000000"/>
                </a:solidFill>
                <a:latin typeface="Franklin Gothic Book"/>
              </a:rPr>
              <a:t>– это один из источников собственных средств</a:t>
            </a:r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  <a:p>
            <a:pPr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Franklin Gothic Book"/>
              </a:rPr>
              <a:t>предприятия, который создается в результате переоценки основных фондов в</a:t>
            </a:r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  <a:p>
            <a:pPr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Franklin Gothic Book"/>
              </a:rPr>
              <a:t>сторону повышения стоимости имущества либо за счет безвозмездного</a:t>
            </a:r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  <a:p>
            <a:pPr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Franklin Gothic Book"/>
              </a:rPr>
              <a:t>поступления денежных и материальных ценностей как от юридических, так и</a:t>
            </a:r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  <a:p>
            <a:pPr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Franklin Gothic Book"/>
              </a:rPr>
              <a:t>от физических лиц, а также за счет эмиссионного дохода, т.е. превышения</a:t>
            </a:r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  <a:p>
            <a:pPr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Franklin Gothic Book"/>
              </a:rPr>
              <a:t>продажной цены акции над ее номинальной стоимостью за вычетом издержек, связанных с продажей.</a:t>
            </a:r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68000" y="189000"/>
            <a:ext cx="8675640" cy="576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>
              <a:lnSpc>
                <a:spcPct val="89000"/>
              </a:lnSpc>
              <a:buNone/>
              <a:tabLst>
                <a:tab algn="l" pos="0"/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1" lang="ru-RU" sz="2200" spc="-1" strike="noStrike">
                <a:solidFill>
                  <a:srgbClr val="404040"/>
                </a:solidFill>
                <a:latin typeface="Franklin Gothic Book"/>
              </a:rPr>
              <a:t>Состав оборотных средств по различным классификационным признакам</a:t>
            </a:r>
            <a:endParaRPr b="0" lang="en-US" sz="2200" spc="-1" strike="noStrike">
              <a:solidFill>
                <a:srgbClr val="191b0e"/>
              </a:solidFill>
              <a:latin typeface="Franklin Gothic Book"/>
            </a:endParaRPr>
          </a:p>
        </p:txBody>
      </p:sp>
      <p:pic>
        <p:nvPicPr>
          <p:cNvPr id="58" name="Содержимое 3" descr=""/>
          <p:cNvPicPr/>
          <p:nvPr/>
        </p:nvPicPr>
        <p:blipFill>
          <a:blip r:embed="rId1"/>
          <a:stretch/>
        </p:blipFill>
        <p:spPr>
          <a:xfrm>
            <a:off x="530280" y="828720"/>
            <a:ext cx="8632800" cy="6048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539280" y="115920"/>
            <a:ext cx="8604360" cy="60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>
              <a:lnSpc>
                <a:spcPct val="89000"/>
              </a:lnSpc>
              <a:buNone/>
              <a:tabLst>
                <a:tab algn="l" pos="0"/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0" lang="ru-RU" sz="2400" spc="-1" strike="noStrike">
                <a:solidFill>
                  <a:srgbClr val="000000"/>
                </a:solidFill>
                <a:latin typeface="Franklin Gothic Book"/>
              </a:rPr>
              <a:t>Кругооборот оборотных средств</a:t>
            </a:r>
            <a:endParaRPr b="0" lang="en-US" sz="2400" spc="-1" strike="noStrike">
              <a:solidFill>
                <a:srgbClr val="191b0e"/>
              </a:solidFill>
              <a:latin typeface="Franklin Gothic Book"/>
            </a:endParaRPr>
          </a:p>
        </p:txBody>
      </p:sp>
      <p:sp>
        <p:nvSpPr>
          <p:cNvPr id="60" name="Прямоугольник 2"/>
          <p:cNvSpPr/>
          <p:nvPr/>
        </p:nvSpPr>
        <p:spPr>
          <a:xfrm>
            <a:off x="527040" y="549360"/>
            <a:ext cx="8604360" cy="91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lang="ru-RU" sz="1800" spc="-1" strike="noStrike">
                <a:solidFill>
                  <a:srgbClr val="000000"/>
                </a:solidFill>
                <a:latin typeface="Franklin Gothic Book"/>
              </a:rPr>
              <a:t>Кругооборот оборотных средств предприятия </a:t>
            </a:r>
            <a:r>
              <a:rPr b="0" lang="ru-RU" sz="1800" spc="-1" strike="noStrike">
                <a:solidFill>
                  <a:srgbClr val="000000"/>
                </a:solidFill>
                <a:latin typeface="Franklin Gothic Book"/>
              </a:rPr>
              <a:t>— это непрерывный оборот капитала, который представлен постоянным повторением производственного процесса</a:t>
            </a:r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61" name="Прямоугольник 3"/>
          <p:cNvSpPr/>
          <p:nvPr/>
        </p:nvSpPr>
        <p:spPr>
          <a:xfrm>
            <a:off x="527040" y="1461960"/>
            <a:ext cx="8604360" cy="496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ru-RU" sz="1600" spc="-1" strike="noStrike">
                <a:solidFill>
                  <a:srgbClr val="000000"/>
                </a:solidFill>
                <a:latin typeface="Circe"/>
              </a:rPr>
              <a:t>После окончания одного кругооборота, оборотные средства начинают новый, что говорит о постоянном характере воспроизводственного процесса. В рамках данного процесса оборотный капитал работает одновременно на всех стадиях. Также осуществляется смена форм вложенных оборотных активов: денежной, производственной и товарной.</a:t>
            </a:r>
            <a:endParaRPr b="0" lang="en-US" sz="1600" spc="-1" strike="noStrike">
              <a:solidFill>
                <a:srgbClr val="000000"/>
              </a:solidFill>
              <a:latin typeface="Franklin Gothic Book"/>
            </a:endParaRPr>
          </a:p>
          <a:p>
            <a:pPr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lang="ru-RU" sz="1600" spc="-1" strike="noStrike">
                <a:solidFill>
                  <a:srgbClr val="000000"/>
                </a:solidFill>
                <a:latin typeface="Circe"/>
              </a:rPr>
              <a:t>На первой стадии </a:t>
            </a:r>
            <a:r>
              <a:rPr b="0" lang="ru-RU" sz="1600" spc="-1" strike="noStrike">
                <a:solidFill>
                  <a:srgbClr val="000000"/>
                </a:solidFill>
                <a:latin typeface="Circe"/>
              </a:rPr>
              <a:t>оборотные средства превращаются из денежной формы в форму запасов для организации производства. Предприятия приобретают сырье, материалы и другие ресурсы и используют их в процессе изготовления продукции. Стоимость оборотных активов при этом не расходуется совсем, а инвестируется. После завершения кругооборота, сумма вложенных средств возвращается.</a:t>
            </a:r>
            <a:endParaRPr b="0" lang="en-US" sz="1600" spc="-1" strike="noStrike">
              <a:solidFill>
                <a:srgbClr val="000000"/>
              </a:solidFill>
              <a:latin typeface="Franklin Gothic Book"/>
            </a:endParaRPr>
          </a:p>
          <a:p>
            <a:pPr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lang="ru-RU" sz="1600" spc="-1" strike="noStrike">
                <a:solidFill>
                  <a:srgbClr val="000000"/>
                </a:solidFill>
                <a:latin typeface="Circe"/>
              </a:rPr>
              <a:t>Вторая стадия </a:t>
            </a:r>
            <a:r>
              <a:rPr b="0" lang="ru-RU" sz="1600" spc="-1" strike="noStrike">
                <a:solidFill>
                  <a:srgbClr val="000000"/>
                </a:solidFill>
                <a:latin typeface="Circe"/>
              </a:rPr>
              <a:t>предусматривает превращение производственных запасов в незаконченное производство, а затем в готовое изделие. На этом этапе происходит соединение средств, предметов труда с рабочей силой и формируется новая стоимость.</a:t>
            </a:r>
            <a:endParaRPr b="0" lang="en-US" sz="1600" spc="-1" strike="noStrike">
              <a:solidFill>
                <a:srgbClr val="000000"/>
              </a:solidFill>
              <a:latin typeface="Franklin Gothic Book"/>
            </a:endParaRPr>
          </a:p>
          <a:p>
            <a:pPr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lang="ru-RU" sz="1600" spc="-1" strike="noStrike">
                <a:solidFill>
                  <a:srgbClr val="000000"/>
                </a:solidFill>
                <a:latin typeface="Circe"/>
              </a:rPr>
              <a:t>На третьей стадии </a:t>
            </a:r>
            <a:r>
              <a:rPr b="0" lang="ru-RU" sz="1600" spc="-1" strike="noStrike">
                <a:solidFill>
                  <a:srgbClr val="000000"/>
                </a:solidFill>
                <a:latin typeface="Circe"/>
              </a:rPr>
              <a:t>осуществляется сбыт произведенной продукции и получение за это денежных средств. На данном этапе оборотные активы переходят из производственного процесса в сферу обращения, и принимает денежную форму. Полученная выручка вкладывается снова в производство. Денежная форма, принимаемая оборотными средствами на последнем этапе кругооборота, одновременно становится и первой фазой следующего оборота активов.</a:t>
            </a:r>
            <a:endParaRPr b="0" lang="en-US" sz="1600" spc="-1" strike="noStrike">
              <a:solidFill>
                <a:srgbClr val="000000"/>
              </a:solidFill>
              <a:latin typeface="Franklin Gothic Book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Рисунок 1" descr=""/>
          <p:cNvPicPr/>
          <p:nvPr/>
        </p:nvPicPr>
        <p:blipFill>
          <a:blip r:embed="rId1"/>
          <a:stretch/>
        </p:blipFill>
        <p:spPr>
          <a:xfrm>
            <a:off x="555480" y="0"/>
            <a:ext cx="8588520" cy="2924280"/>
          </a:xfrm>
          <a:prstGeom prst="rect">
            <a:avLst/>
          </a:prstGeom>
          <a:ln w="0">
            <a:noFill/>
          </a:ln>
        </p:spPr>
      </p:pic>
      <p:pic>
        <p:nvPicPr>
          <p:cNvPr id="63" name="Рисунок 2" descr=""/>
          <p:cNvPicPr/>
          <p:nvPr/>
        </p:nvPicPr>
        <p:blipFill>
          <a:blip r:embed="rId2"/>
          <a:srcRect l="0" t="21978" r="-705" b="6225"/>
          <a:stretch/>
        </p:blipFill>
        <p:spPr>
          <a:xfrm>
            <a:off x="1258920" y="2930400"/>
            <a:ext cx="7345440" cy="3927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539280" y="12240"/>
            <a:ext cx="8604360" cy="53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>
              <a:lnSpc>
                <a:spcPct val="89000"/>
              </a:lnSpc>
              <a:buNone/>
              <a:tabLst>
                <a:tab algn="l" pos="0"/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1" lang="ru-RU" sz="3200" spc="-1" strike="noStrike">
                <a:solidFill>
                  <a:srgbClr val="191b0e"/>
                </a:solidFill>
                <a:latin typeface="Franklin Gothic Book"/>
              </a:rPr>
              <a:t>Методы нормирования оборотных средств</a:t>
            </a:r>
            <a:endParaRPr b="0" lang="en-US" sz="3200" spc="-1" strike="noStrike">
              <a:solidFill>
                <a:srgbClr val="191b0e"/>
              </a:solidFill>
              <a:latin typeface="Franklin Gothic Book"/>
            </a:endParaRPr>
          </a:p>
        </p:txBody>
      </p:sp>
      <p:pic>
        <p:nvPicPr>
          <p:cNvPr id="65" name="Объект 3" descr=""/>
          <p:cNvPicPr/>
          <p:nvPr/>
        </p:nvPicPr>
        <p:blipFill>
          <a:blip r:embed="rId1"/>
          <a:stretch/>
        </p:blipFill>
        <p:spPr>
          <a:xfrm>
            <a:off x="596880" y="536400"/>
            <a:ext cx="8566200" cy="6345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"/>
          <p:cNvSpPr txBox="1"/>
          <p:nvPr/>
        </p:nvSpPr>
        <p:spPr>
          <a:xfrm>
            <a:off x="539280" y="115920"/>
            <a:ext cx="8604360" cy="5689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382680" indent="-38268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  <a:tabLst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1" lang="ru-RU" sz="2000" spc="-1" strike="noStrike">
                <a:solidFill>
                  <a:srgbClr val="191b0e"/>
                </a:solidFill>
                <a:latin typeface="Franklin Gothic Book"/>
              </a:rPr>
              <a:t>Норматив оборотных средств </a:t>
            </a:r>
            <a:r>
              <a:rPr b="0" lang="ru-RU" sz="2000" spc="-1" strike="noStrike">
                <a:solidFill>
                  <a:srgbClr val="191b0e"/>
                </a:solidFill>
                <a:latin typeface="Franklin Gothic Book"/>
              </a:rPr>
              <a:t>на предприятии складывается из нормативов, рассчитанных по отдельным элементам: </a:t>
            </a:r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</p:txBody>
      </p:sp>
      <p:pic>
        <p:nvPicPr>
          <p:cNvPr id="67" name="Рисунок 3" descr=""/>
          <p:cNvPicPr/>
          <p:nvPr/>
        </p:nvPicPr>
        <p:blipFill>
          <a:blip r:embed="rId1"/>
          <a:stretch/>
        </p:blipFill>
        <p:spPr>
          <a:xfrm>
            <a:off x="1403280" y="765000"/>
            <a:ext cx="6877080" cy="1857600"/>
          </a:xfrm>
          <a:prstGeom prst="rect">
            <a:avLst/>
          </a:prstGeom>
          <a:ln w="0">
            <a:noFill/>
          </a:ln>
        </p:spPr>
      </p:pic>
      <p:sp>
        <p:nvSpPr>
          <p:cNvPr id="68" name="Прямоугольник 4"/>
          <p:cNvSpPr/>
          <p:nvPr/>
        </p:nvSpPr>
        <p:spPr>
          <a:xfrm>
            <a:off x="539640" y="2781360"/>
            <a:ext cx="8604360" cy="11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marL="382680" indent="-38268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  <a:tabLst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1" lang="ru-RU" sz="2000" spc="-1" strike="noStrike">
                <a:solidFill>
                  <a:srgbClr val="191b0e"/>
                </a:solidFill>
                <a:latin typeface="Franklin Gothic Book"/>
              </a:rPr>
              <a:t>Норматив производственных запасов </a:t>
            </a:r>
            <a:r>
              <a:rPr b="0" lang="ru-RU" sz="2000" spc="-1" strike="noStrike">
                <a:solidFill>
                  <a:srgbClr val="191b0e"/>
                </a:solidFill>
                <a:latin typeface="Franklin Gothic Book"/>
              </a:rPr>
              <a:t>определяется исходя из</a:t>
            </a:r>
            <a:endParaRPr b="0" lang="en-US" sz="2000" spc="-1" strike="noStrike">
              <a:solidFill>
                <a:srgbClr val="000000"/>
              </a:solidFill>
              <a:latin typeface="Franklin Gothic Book"/>
            </a:endParaRPr>
          </a:p>
          <a:p>
            <a:pPr marL="382680" indent="-38268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tabLst>
                <a:tab algn="l" pos="0"/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0" lang="ru-RU" sz="2000" spc="-1" strike="noStrike">
                <a:solidFill>
                  <a:srgbClr val="191b0e"/>
                </a:solidFill>
                <a:latin typeface="Franklin Gothic Book"/>
              </a:rPr>
              <a:t>среднесуточного потребления материалов и времени запасов:</a:t>
            </a:r>
            <a:endParaRPr b="0" lang="en-US" sz="2000" spc="-1" strike="noStrike">
              <a:solidFill>
                <a:srgbClr val="000000"/>
              </a:solidFill>
              <a:latin typeface="Franklin Gothic Book"/>
            </a:endParaRPr>
          </a:p>
        </p:txBody>
      </p:sp>
      <p:pic>
        <p:nvPicPr>
          <p:cNvPr id="69" name="Рисунок 5" descr=""/>
          <p:cNvPicPr/>
          <p:nvPr/>
        </p:nvPicPr>
        <p:blipFill>
          <a:blip r:embed="rId2"/>
          <a:stretch/>
        </p:blipFill>
        <p:spPr>
          <a:xfrm>
            <a:off x="1650960" y="3711600"/>
            <a:ext cx="6381720" cy="2173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Прямоугольник 1"/>
          <p:cNvSpPr/>
          <p:nvPr/>
        </p:nvSpPr>
        <p:spPr>
          <a:xfrm>
            <a:off x="611280" y="115920"/>
            <a:ext cx="8532720" cy="612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lang="ru-RU" sz="1800" spc="-1" strike="noStrike">
                <a:solidFill>
                  <a:srgbClr val="000000"/>
                </a:solidFill>
                <a:latin typeface="Calibri"/>
              </a:rPr>
              <a:t>Подготовительный запас </a:t>
            </a:r>
            <a:r>
              <a:rPr b="0" lang="ru-RU" sz="1800" spc="-1" strike="noStrike">
                <a:solidFill>
                  <a:srgbClr val="000000"/>
                </a:solidFill>
                <a:latin typeface="Calibri"/>
              </a:rPr>
              <a:t>связан с необходимостью приемки, разгрузки, сортировки и складирования производственных запасов. Нормы времени, необходимого для выполнения этих операций, устанавливаются по каждой операции на средний размер поставки на основании технологических расчетов или посредством хронометража. </a:t>
            </a:r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  <a:p>
            <a:pPr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lang="ru-RU" sz="1800" spc="-1" strike="noStrike">
                <a:solidFill>
                  <a:srgbClr val="000000"/>
                </a:solidFill>
                <a:latin typeface="Calibri"/>
              </a:rPr>
              <a:t>Текущий запас </a:t>
            </a:r>
            <a:r>
              <a:rPr b="0" lang="ru-RU" sz="1800" spc="-1" strike="noStrike">
                <a:solidFill>
                  <a:srgbClr val="000000"/>
                </a:solidFill>
                <a:latin typeface="Calibri"/>
              </a:rPr>
              <a:t>– основной вид запаса, необходимый для бесперебойной работы предприятия между двумя очередными поставками. На размер текущего запаса влияют периодичность поставок материалов по договорам и объем их потребления в производстве.</a:t>
            </a:r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  <a:p>
            <a:pPr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lang="ru-RU" sz="1800" spc="-1" strike="noStrike">
                <a:solidFill>
                  <a:srgbClr val="000000"/>
                </a:solidFill>
                <a:latin typeface="Calibri"/>
              </a:rPr>
              <a:t>Страховой запас </a:t>
            </a:r>
            <a:r>
              <a:rPr b="0" lang="ru-RU" sz="1800" spc="-1" strike="noStrike">
                <a:solidFill>
                  <a:srgbClr val="000000"/>
                </a:solidFill>
                <a:latin typeface="Calibri"/>
              </a:rPr>
              <a:t>– второй по величине вид запаса, который создается на случай</a:t>
            </a:r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  <a:p>
            <a:pPr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Calibri"/>
              </a:rPr>
              <a:t>непредвиденных отклонений в снабжении и обеспечивает непрерывную работу предприятия.</a:t>
            </a:r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  <a:p>
            <a:pPr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lang="ru-RU" sz="1800" spc="-1" strike="noStrike">
                <a:solidFill>
                  <a:srgbClr val="000000"/>
                </a:solidFill>
                <a:latin typeface="Calibri"/>
              </a:rPr>
              <a:t>Технологический запас </a:t>
            </a:r>
            <a:r>
              <a:rPr b="0" lang="ru-RU" sz="1800" spc="-1" strike="noStrike">
                <a:solidFill>
                  <a:srgbClr val="000000"/>
                </a:solidFill>
                <a:latin typeface="Calibri"/>
              </a:rPr>
              <a:t>создается в случаях, когда данный вид сырья нуждается в</a:t>
            </a:r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  <a:p>
            <a:pPr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Calibri"/>
              </a:rPr>
              <a:t>предварительной обработке или выдержке для придания ему определенных потребительских</a:t>
            </a:r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  <a:p>
            <a:pPr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Calibri"/>
              </a:rPr>
              <a:t>свойств. Этот запас учитывается в том случае, если он не является частью процесса производства.</a:t>
            </a:r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  <a:p>
            <a:pPr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lang="ru-RU" sz="1800" spc="-1" strike="noStrike">
                <a:solidFill>
                  <a:srgbClr val="000000"/>
                </a:solidFill>
                <a:latin typeface="Calibri"/>
              </a:rPr>
              <a:t>Транспортный запас </a:t>
            </a:r>
            <a:r>
              <a:rPr b="0" lang="ru-RU" sz="1800" spc="-1" strike="noStrike">
                <a:solidFill>
                  <a:srgbClr val="000000"/>
                </a:solidFill>
                <a:latin typeface="Calibri"/>
              </a:rPr>
              <a:t>создается в случае превышения сроков грузооборота по сравнению со сроками документооборота на предприятиях, удаленных от поставщиков на значительные расстояния.</a:t>
            </a:r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  <a:p>
            <a:pPr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lang="ru-RU" sz="1800" spc="-1" strike="noStrike">
                <a:solidFill>
                  <a:srgbClr val="000000"/>
                </a:solidFill>
                <a:latin typeface="Calibri"/>
              </a:rPr>
              <a:t>Сезонный запас </a:t>
            </a:r>
            <a:r>
              <a:rPr b="0" lang="ru-RU" sz="1800" spc="-1" strike="noStrike">
                <a:solidFill>
                  <a:srgbClr val="000000"/>
                </a:solidFill>
                <a:latin typeface="Calibri"/>
              </a:rPr>
              <a:t>– обеспечивает непрерывность производства при сезонном поступлении и потреблении материалов. </a:t>
            </a:r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544320" y="-360"/>
            <a:ext cx="8599320" cy="98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>
              <a:lnSpc>
                <a:spcPct val="89000"/>
              </a:lnSpc>
              <a:buNone/>
              <a:tabLst>
                <a:tab algn="l" pos="0"/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1" lang="ru-RU" sz="3200" spc="-1" strike="noStrike">
                <a:solidFill>
                  <a:srgbClr val="191b0e"/>
                </a:solidFill>
                <a:latin typeface="Franklin Gothic Book"/>
              </a:rPr>
              <a:t>Показатели эффективности использования оборотных средств</a:t>
            </a:r>
            <a:endParaRPr b="0" lang="en-US" sz="3200" spc="-1" strike="noStrike">
              <a:solidFill>
                <a:srgbClr val="191b0e"/>
              </a:solidFill>
              <a:latin typeface="Franklin Gothic Book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468000" y="907560"/>
            <a:ext cx="8675640" cy="49690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382680" indent="-38268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  <a:tabLst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1" lang="ru-RU" sz="2000" spc="-1" strike="noStrike">
                <a:solidFill>
                  <a:srgbClr val="191b0e"/>
                </a:solidFill>
                <a:latin typeface="Franklin Gothic Book"/>
              </a:rPr>
              <a:t>Коэффициент оборачиваемости оборотных средств (Коб) </a:t>
            </a:r>
            <a:r>
              <a:rPr b="0" lang="ru-RU" sz="2000" spc="-1" strike="noStrike">
                <a:solidFill>
                  <a:srgbClr val="191b0e"/>
                </a:solidFill>
                <a:latin typeface="Franklin Gothic Book"/>
              </a:rPr>
              <a:t>. характеризует число кругооборотов, которые эти средства совершают за плановый период, и определяется делением объема реализованной продукции в оптовых ценах на средний остаток оборотных средств на предприятии (в том числе нормируемых):</a:t>
            </a:r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</p:txBody>
      </p:sp>
      <p:pic>
        <p:nvPicPr>
          <p:cNvPr id="73" name="Рисунок 4" descr=""/>
          <p:cNvPicPr/>
          <p:nvPr/>
        </p:nvPicPr>
        <p:blipFill>
          <a:blip r:embed="rId1"/>
          <a:stretch/>
        </p:blipFill>
        <p:spPr>
          <a:xfrm>
            <a:off x="1619280" y="2421000"/>
            <a:ext cx="6481800" cy="1103400"/>
          </a:xfrm>
          <a:prstGeom prst="rect">
            <a:avLst/>
          </a:prstGeom>
          <a:ln w="0">
            <a:noFill/>
          </a:ln>
        </p:spPr>
      </p:pic>
      <p:sp>
        <p:nvSpPr>
          <p:cNvPr id="74" name="Прямоугольник 5"/>
          <p:cNvSpPr/>
          <p:nvPr/>
        </p:nvSpPr>
        <p:spPr>
          <a:xfrm>
            <a:off x="544680" y="3789360"/>
            <a:ext cx="8881920" cy="95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marL="382680" indent="-38268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  <a:tabLst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1" lang="ru-RU" sz="2000" spc="-1" strike="noStrike">
                <a:solidFill>
                  <a:srgbClr val="191b0e"/>
                </a:solidFill>
                <a:latin typeface="Franklin Gothic Book"/>
              </a:rPr>
              <a:t>Длительность одного оборота оборотных средств (Доб) </a:t>
            </a:r>
            <a:r>
              <a:rPr b="0" lang="ru-RU" sz="2000" spc="-1" strike="noStrike">
                <a:solidFill>
                  <a:srgbClr val="191b0e"/>
                </a:solidFill>
                <a:latin typeface="Franklin Gothic Book"/>
              </a:rPr>
              <a:t>в днях находится делением количества дней в периоде на коэффициент оборачиваемости оборотных средств (число оборотов): </a:t>
            </a:r>
            <a:endParaRPr b="0" lang="en-US" sz="2000" spc="-1" strike="noStrike">
              <a:solidFill>
                <a:srgbClr val="000000"/>
              </a:solidFill>
              <a:latin typeface="Franklin Gothic Book"/>
            </a:endParaRPr>
          </a:p>
        </p:txBody>
      </p:sp>
      <p:pic>
        <p:nvPicPr>
          <p:cNvPr id="75" name="Рисунок 6" descr=""/>
          <p:cNvPicPr/>
          <p:nvPr/>
        </p:nvPicPr>
        <p:blipFill>
          <a:blip r:embed="rId2"/>
          <a:stretch/>
        </p:blipFill>
        <p:spPr>
          <a:xfrm>
            <a:off x="1619280" y="4784760"/>
            <a:ext cx="6265800" cy="816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"/>
          <p:cNvSpPr txBox="1"/>
          <p:nvPr/>
        </p:nvSpPr>
        <p:spPr>
          <a:xfrm>
            <a:off x="539280" y="115920"/>
            <a:ext cx="8604360" cy="5400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382680" indent="-38268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  <a:tabLst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1" lang="ru-RU" sz="2000" spc="-1" strike="noStrike">
                <a:solidFill>
                  <a:srgbClr val="191b0e"/>
                </a:solidFill>
                <a:latin typeface="Franklin Gothic Book"/>
              </a:rPr>
              <a:t>Коэффициент загрузки (закрепления) оборотного капитала </a:t>
            </a:r>
            <a:r>
              <a:rPr b="0" lang="ru-RU" sz="2000" spc="-1" strike="noStrike">
                <a:solidFill>
                  <a:srgbClr val="191b0e"/>
                </a:solidFill>
                <a:latin typeface="Franklin Gothic Book"/>
              </a:rPr>
              <a:t>(kз) характеризует сумму оборотного капитала, приходящуюся на один рубль выручки от реализации: </a:t>
            </a:r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</p:txBody>
      </p:sp>
      <p:pic>
        <p:nvPicPr>
          <p:cNvPr id="77" name="Рисунок 3" descr=""/>
          <p:cNvPicPr/>
          <p:nvPr/>
        </p:nvPicPr>
        <p:blipFill>
          <a:blip r:embed="rId1"/>
          <a:stretch/>
        </p:blipFill>
        <p:spPr>
          <a:xfrm>
            <a:off x="3419640" y="1052640"/>
            <a:ext cx="3600360" cy="674640"/>
          </a:xfrm>
          <a:prstGeom prst="rect">
            <a:avLst/>
          </a:prstGeom>
          <a:ln w="0">
            <a:noFill/>
          </a:ln>
        </p:spPr>
      </p:pic>
      <p:sp>
        <p:nvSpPr>
          <p:cNvPr id="78" name="Прямоугольник 4"/>
          <p:cNvSpPr/>
          <p:nvPr/>
        </p:nvSpPr>
        <p:spPr>
          <a:xfrm>
            <a:off x="539640" y="2035080"/>
            <a:ext cx="8675640" cy="146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ru-RU" sz="1800" spc="-1" strike="noStrike">
                <a:solidFill>
                  <a:srgbClr val="d13b56"/>
                </a:solidFill>
                <a:latin typeface="Franklin Gothic Book"/>
              </a:rPr>
              <a:t>Ускорение оборачиваемости оборотного капитала способствует его</a:t>
            </a:r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  <a:p>
            <a:pPr algn="just"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ru-RU" sz="1800" spc="-1" strike="noStrike">
                <a:solidFill>
                  <a:srgbClr val="d13b56"/>
                </a:solidFill>
                <a:latin typeface="Franklin Gothic Book"/>
              </a:rPr>
              <a:t>абсолютному и относительному высвобождению из оборота. </a:t>
            </a:r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  <a:p>
            <a:pPr algn="just"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lang="ru-RU" sz="1800" spc="-1" strike="noStrike">
                <a:solidFill>
                  <a:srgbClr val="000000"/>
                </a:solidFill>
                <a:latin typeface="Franklin Gothic Book"/>
              </a:rPr>
              <a:t>Абсолютное высвобождение </a:t>
            </a:r>
            <a:r>
              <a:rPr b="0" lang="ru-RU" sz="1800" spc="-1" strike="noStrike">
                <a:solidFill>
                  <a:srgbClr val="000000"/>
                </a:solidFill>
                <a:latin typeface="Franklin Gothic Book"/>
              </a:rPr>
              <a:t>(ΔОСабс) отражает прямое уменьшение потребности в оборотном капитале и зависит от изменения оборачиваемости оборотных средств: </a:t>
            </a:r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</p:txBody>
      </p:sp>
      <p:pic>
        <p:nvPicPr>
          <p:cNvPr id="79" name="Рисунок 5" descr=""/>
          <p:cNvPicPr/>
          <p:nvPr/>
        </p:nvPicPr>
        <p:blipFill>
          <a:blip r:embed="rId2"/>
          <a:stretch/>
        </p:blipFill>
        <p:spPr>
          <a:xfrm>
            <a:off x="1838160" y="3502080"/>
            <a:ext cx="6078600" cy="1209600"/>
          </a:xfrm>
          <a:prstGeom prst="rect">
            <a:avLst/>
          </a:prstGeom>
          <a:ln w="0">
            <a:noFill/>
          </a:ln>
        </p:spPr>
      </p:pic>
      <p:sp>
        <p:nvSpPr>
          <p:cNvPr id="80" name="Овал 6"/>
          <p:cNvSpPr/>
          <p:nvPr/>
        </p:nvSpPr>
        <p:spPr>
          <a:xfrm>
            <a:off x="7164360" y="3573360"/>
            <a:ext cx="576360" cy="336600"/>
          </a:xfrm>
          <a:prstGeom prst="ellipse">
            <a:avLst/>
          </a:prstGeom>
          <a:solidFill>
            <a:srgbClr val="ffffff"/>
          </a:solidFill>
          <a:ln w="3492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"/>
          <p:cNvSpPr txBox="1"/>
          <p:nvPr/>
        </p:nvSpPr>
        <p:spPr>
          <a:xfrm>
            <a:off x="539280" y="0"/>
            <a:ext cx="8604360" cy="50846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382680" indent="-382680">
              <a:lnSpc>
                <a:spcPct val="100000"/>
              </a:lnSpc>
              <a:buClr>
                <a:srgbClr val="000000"/>
              </a:buClr>
              <a:buFont typeface="Franklin Gothic Book"/>
              <a:buChar char="■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lang="ru-RU" sz="1800" spc="-1" strike="noStrike">
                <a:solidFill>
                  <a:srgbClr val="000000"/>
                </a:solidFill>
                <a:latin typeface="Franklin Gothic Book"/>
              </a:rPr>
              <a:t>Относительное высвобождение (ΔОСотн) </a:t>
            </a:r>
            <a:r>
              <a:rPr b="0" lang="ru-RU" sz="1800" spc="-1" strike="noStrike">
                <a:solidFill>
                  <a:srgbClr val="000000"/>
                </a:solidFill>
                <a:latin typeface="Franklin Gothic Book"/>
              </a:rPr>
              <a:t>отражает изменение величины оборотных средств как в результате изменения оборачиваемости, так и в результате изменения объема реализации продукции. Чтобы его исчислить, нужно исчислить потребность в оборотных средствах за отчетный период, исходя из фактического оборота по реализации продукции за этот период и оборачиваемости за предыдущий. Разность этих показателей даст величину высвобождаемых (привлекаемых) оборотных средств: </a:t>
            </a:r>
            <a:endParaRPr b="0" lang="en-US" sz="1800" spc="-1" strike="noStrike">
              <a:solidFill>
                <a:srgbClr val="191b0e"/>
              </a:solidFill>
              <a:latin typeface="Franklin Gothic Book"/>
            </a:endParaRPr>
          </a:p>
          <a:p>
            <a:pPr marL="382680" indent="-38268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000000"/>
              </a:buClr>
              <a:buFont typeface="Franklin Gothic Book"/>
              <a:buChar char="■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191b0e"/>
              </a:solidFill>
              <a:latin typeface="Franklin Gothic Book"/>
            </a:endParaRPr>
          </a:p>
        </p:txBody>
      </p:sp>
      <p:pic>
        <p:nvPicPr>
          <p:cNvPr id="82" name="Рисунок 3" descr=""/>
          <p:cNvPicPr/>
          <p:nvPr/>
        </p:nvPicPr>
        <p:blipFill>
          <a:blip r:embed="rId1"/>
          <a:stretch/>
        </p:blipFill>
        <p:spPr>
          <a:xfrm>
            <a:off x="1057320" y="2635200"/>
            <a:ext cx="8086680" cy="2951280"/>
          </a:xfrm>
          <a:prstGeom prst="rect">
            <a:avLst/>
          </a:prstGeom>
          <a:ln w="0">
            <a:noFill/>
          </a:ln>
        </p:spPr>
      </p:pic>
      <p:sp>
        <p:nvSpPr>
          <p:cNvPr id="83" name="Прямоугольник 4"/>
          <p:cNvSpPr/>
          <p:nvPr/>
        </p:nvSpPr>
        <p:spPr>
          <a:xfrm>
            <a:off x="8101080" y="2637000"/>
            <a:ext cx="863640" cy="504720"/>
          </a:xfrm>
          <a:prstGeom prst="rect">
            <a:avLst/>
          </a:prstGeom>
          <a:solidFill>
            <a:srgbClr val="ffffff"/>
          </a:solidFill>
          <a:ln w="3492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</p:txBody>
      </p:sp>
      <p:pic>
        <p:nvPicPr>
          <p:cNvPr id="84" name="Рисунок 5" descr=""/>
          <p:cNvPicPr/>
          <p:nvPr/>
        </p:nvPicPr>
        <p:blipFill>
          <a:blip r:embed="rId2"/>
          <a:stretch/>
        </p:blipFill>
        <p:spPr>
          <a:xfrm>
            <a:off x="8199360" y="3844800"/>
            <a:ext cx="901800" cy="536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539280" y="11160"/>
            <a:ext cx="8604360" cy="753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>
              <a:lnSpc>
                <a:spcPct val="89000"/>
              </a:lnSpc>
              <a:buNone/>
              <a:tabLst>
                <a:tab algn="l" pos="0"/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1" lang="ru-RU" sz="4400" spc="-1" strike="noStrike">
                <a:solidFill>
                  <a:srgbClr val="191b0e"/>
                </a:solidFill>
                <a:latin typeface="Franklin Gothic Book"/>
              </a:rPr>
              <a:t>Примеры решения задач</a:t>
            </a:r>
            <a:endParaRPr b="0" lang="en-US" sz="4400" spc="-1" strike="noStrike">
              <a:solidFill>
                <a:srgbClr val="191b0e"/>
              </a:solidFill>
              <a:latin typeface="Franklin Gothic Book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539280" y="1052280"/>
            <a:ext cx="8604360" cy="36716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tabLst>
                <a:tab algn="l" pos="0"/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0" lang="ru-RU" sz="2000" spc="-1" strike="noStrike">
                <a:solidFill>
                  <a:srgbClr val="191b0e"/>
                </a:solidFill>
                <a:latin typeface="Franklin Gothic Book"/>
              </a:rPr>
              <a:t>Определите коэффициент оборачиваемости оборотных средств (kоб) в отчетном и плановом годах, оцените изменение оборачиваемости оборотных средств. </a:t>
            </a:r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  <a:p>
            <a:pPr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tabLst>
                <a:tab algn="l" pos="0"/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0" lang="ru-RU" sz="2000" spc="-1" strike="noStrike">
                <a:solidFill>
                  <a:srgbClr val="191b0e"/>
                </a:solidFill>
                <a:latin typeface="Franklin Gothic Book"/>
              </a:rPr>
              <a:t>Исходные данные: </a:t>
            </a:r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  <a:p>
            <a:pPr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  <a:tabLst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0" lang="ru-RU" sz="2000" spc="-1" strike="noStrike">
                <a:solidFill>
                  <a:srgbClr val="191b0e"/>
                </a:solidFill>
                <a:latin typeface="Franklin Gothic Book"/>
              </a:rPr>
              <a:t>объем реализованной продукции в отчетном году (РП) составил 2 000 тыс. р., </a:t>
            </a:r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  <a:p>
            <a:pPr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  <a:tabLst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0" lang="ru-RU" sz="2000" spc="-1" strike="noStrike">
                <a:solidFill>
                  <a:srgbClr val="191b0e"/>
                </a:solidFill>
                <a:latin typeface="Franklin Gothic Book"/>
              </a:rPr>
              <a:t>средний остаток оборотных средств (ОС) – 160 тыс. р.;</a:t>
            </a:r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  <a:p>
            <a:pPr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  <a:tabLst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0" lang="ru-RU" sz="2000" spc="-1" strike="noStrike">
                <a:solidFill>
                  <a:srgbClr val="191b0e"/>
                </a:solidFill>
                <a:latin typeface="Franklin Gothic Book"/>
              </a:rPr>
              <a:t> </a:t>
            </a:r>
            <a:r>
              <a:rPr b="0" lang="ru-RU" sz="2000" spc="-1" strike="noStrike">
                <a:solidFill>
                  <a:srgbClr val="191b0e"/>
                </a:solidFill>
                <a:latin typeface="Franklin Gothic Book"/>
              </a:rPr>
              <a:t>в следующем году планируется увеличить объем реализации продукции на 25 %, а потребность в оборотных средствах увеличится на 15 %. </a:t>
            </a:r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539280" y="1440"/>
            <a:ext cx="8604360" cy="90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>
              <a:lnSpc>
                <a:spcPct val="89000"/>
              </a:lnSpc>
              <a:buNone/>
              <a:tabLst>
                <a:tab algn="l" pos="0"/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0" lang="ru-RU" sz="4400" spc="-1" strike="noStrike">
                <a:solidFill>
                  <a:srgbClr val="191b0e"/>
                </a:solidFill>
                <a:latin typeface="Franklin Gothic Book"/>
              </a:rPr>
              <a:t>Решение</a:t>
            </a:r>
            <a:endParaRPr b="0" lang="en-US" sz="4400" spc="-1" strike="noStrike">
              <a:solidFill>
                <a:srgbClr val="191b0e"/>
              </a:solidFill>
              <a:latin typeface="Franklin Gothic Book"/>
            </a:endParaRPr>
          </a:p>
        </p:txBody>
      </p:sp>
      <p:pic>
        <p:nvPicPr>
          <p:cNvPr id="88" name="Объект 3" descr=""/>
          <p:cNvPicPr/>
          <p:nvPr/>
        </p:nvPicPr>
        <p:blipFill>
          <a:blip r:embed="rId1"/>
          <a:stretch/>
        </p:blipFill>
        <p:spPr>
          <a:xfrm>
            <a:off x="539640" y="1700280"/>
            <a:ext cx="8604360" cy="3411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828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2020-09-28T07:27:18Z</dcterms:created>
  <dc:creator>Ксения</dc:creator>
  <dc:description/>
  <dc:language>en-US</dc:language>
  <cp:lastModifiedBy>Марина Леденцова</cp:lastModifiedBy>
  <dcterms:modified xsi:type="dcterms:W3CDTF">2025-10-01T02:41:43Z</dcterms:modified>
  <cp:revision>67</cp:revision>
  <dc:subject/>
  <dc:title>Лекция 3</dc:title>
</cp:coreProperties>
</file>